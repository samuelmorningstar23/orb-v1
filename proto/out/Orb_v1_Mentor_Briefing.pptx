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Orb v1 turns public timing data into three things a strategist uses: a clean tyre-degradation curve from Friday, a live pit call on Sunday that only sees laps already run, and an audit afterwards that replays the race with a different tyre plan. Friday lies twice: about what the tyre did, and about what it will do on Sunday. We correct the first lie and learn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practice lap time is not a tyre measurement. Hungary 2026, medium: a straight line through Friday laps says 0.285 s per lap of tyre age; the race showed 0.042. A plan built on that line costs +74 s against the best plan in the replay. Five things pollute the lap and only one of them is the tyre. Sources: out/lock.json validation_rows (Hungary MEDIUM), strategy.Hungary.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race Orb v1 cleans every practice lap and publishes a hashed race curve with a band and a pit plan. During the race the Live Predictor updates the tyre state lap by lap from laps already run. After the race Ghost Strategy replays the driver's own laps with a different tyre plan and every forecast is scored. Scale: 64 weekends and 148 compound-weekends scored across 2023 to 2026 (out/validation/ghost_scorecard.json), 483 prepared strategy simulations over 10 races (out/counterfactual), 58,569 learned-model forecast origins (out/tyreformer/evaluation.json), and 6 sealed weekends (evaluation/holdout).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laps that cannot inform the tyre; compare each run only to itself so driver, car and fuel load cancel; subtract the stated fuel effect and the measured evolution; what is left is the tyre. Hungary medium goes from 0.285 to 0.122 cleaned, and to 0.058 after its held-out Sunday ratio 0.47, against 0.042 in the race. Source: out/lock.json validation_rows.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Fridays show a tyre getting faster with age, which wear cannot do. The energy the driver puts through the tyre, computed from public speed and position traces, shows why: where the cleaned Friday slope pointed the wrong way (9 cases) the driver was ramping up in each of them; the 4 falling-trend cases were withheld. The push profile explains about two-thirds of the pooled Friday-to-Sunday gap on the 16 issued cases (per-case shares vary widely). It is a diagnostic and second opinion: easing off can itself be a response to degradation. Source: out/lock.json validation_rows, validation.push_diagnostic.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estimator runs on race laps, so for every past weekend we know how much Sunday shrank Friday, per compound. For a new weekend the median of the other weekends is applied only when they agree. When Friday has no signal we withhold and forecast low degradation from the other withheld cases: withheld compounds degraded at a median 0.028 s/lap in the race; 11 of 13 below 0.06 s/lap; the fallback band covered 9 of 13. Source: out/lock.json, out/lock_v2.json validation.by_compound.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out/lock_v2.json validation. Each weekend is left out of its own training pool. Naive MAE 0.137 against Orb v1 0.023 s/lap; Orb v1 beats the naive line on 28 of 29; calibration r 0.78 and slope 0.77.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out/validation/ghost_scorecard.json (by_season 2026, rolling_origin_2026.pooled, development_pool, sealed_holdout.aggregate, labelled "sealed holdout, aggregate only"); out/tyreformer/prerace/PRERACE.md for the learned transfer model. The sealed holdout was scored once after the model freeze: 5 weekends forecast, 1 abstained (too few clean practice laps), 9 compound-weekends. Across 2023 to 2026 the calibration correlation is 0.27 (0.78 in 2026) and band coverage 86%. A per-compound constant, no practice input, scores 0.033 over those 148 cases; the learned transfer model scores 0.030. Trained on 2023 to 2025 and tested on 2026 it scores 0.028 against Orb v1 0.023, so it stays a second opinion. One candidate cause of the weaker 2023 to 2025 figures, not yet tested: the fuel assumptions are 2026 values applied to every season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barely moves across every stated choice (out/sensitivity.json). The misses: in the strategy replay Barcelona (+55 s against 0 s for naive) and Australia (+25 s against +14 s for naive); and the liquid neural network, which did not beat simple baselines given the same inputs (out/liquid.json). The inputs were the discovery, not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curve only matters as a decision. Replayed on the 10 scored 2026 weekends with the race-derived curves as the reference, Orb v1 beats the naive plan on 8 of the 10; the two misses are Barcelona (+55 s against 0 s for naive) and Australia (+25 s against +14 s for naive) (out/lock.json strategy). Over 40 weekends of 2023 to 2026, in a held-out strategy replay under a post-race reference model (out/validation/ghost_scorecard.json regret), the Orb v1 plan finished within 5 s of the hindsight-best plan on 25% of weekends, against 12% for the naive plan and 14% for the strategy actually run; median regret 20.7 s against 22.9 s naive and 27.6 s for the strategy run. Mean regret equals the default plan's (33.7 against 33.8 s), so the edge is in the typical race, not the worst.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change here came from the FIA or Pirelli and moved how tyres wear, heat or get used. Web research on 13 Sep 2026: Pirelli press releases, FIA regulations (rulebook PDFs searched directly), formula1.com and technical press quoting Pirelli or the FIA. Only items the research marked verified are on the slides; see 'not_verified'. Checked 2026-09-13T11:20+05:30. Caveats: 2022 downforce-loss figures are F1's own design numbers; 2026: 768 kg is the headline figure; the rulebook states 724 kg plus tyre mass; 2026 downforce and drag cuts are FIA targets, not measured values; 70 kg is F1's 2026 fuel target, not a rule. Not verified, so not on the slide: a 110 kg fuel cap in the 2022 or 2025 rulebooks (quoted by the press, not found in the rule text); actual 2026 race-start fuel loads or per-lap burn; the 2026 blanket temperature limit; real 2026 downforce and drag against the FIA targets; stop counts per 2026 race from sources (ours come from the timing data). Sources by season: 2022: https://press.pirelli.com/a-look-into-the-future-of-formula-1-with-new-18-inch-tyres-for-2022-cars/ https://www.formula1.com/en/latest/article/10-things-you-need-to-know-about-the-all-new-2022-f1-car.4OLg8DrXyzHzdoGrbqp6ye https://press.pirelli.com/2022-pirelli-motorsport-season-presentation/ https://www.formula1.com/en/latest/article.we-achieved-most-of-the-targets-pirellis-mario-isola-talks-2022-successes.OUAGhTWFo9aoGneaeouRr.html https://www.fia.com/sites/default/files/formula_1_-_technical_regulations_-_2022_-_iss_11_-_2022-04-29.pdf | 2023: https://www.the-race.com/formula-1/pirellis-new-for-2023-sixth-f1-tyre-compound-explained/ https://www.formula1.com/en/latest/article/pirelli-happy-with-their-tyre-development-in-2023-as-they-talk-plans-for.6r9n0P2HkFCXtuVoJrRr2Q https://www.autosport.com/f1/news/f1-2023-floor-roll-hoop-rules-changes-ratified-ratified-by-fia/10353610/ https://www.autosport.com/f1/news/fia-mandate-maximum-18-lap-stints-in-qatar-gp-due-to-tyre-trouble/10530447/ | 2024: https://racingnews365.com/pirelli-axe-f1-tyre-as-no-new-compounds-to-be-introduced-in-2024 https://www.skysports.com/f1/news/12433/12929352/formula-1-to-keep-tyre-blankets-for-dry-tyres-in-2024-as-proposed-ban-postponed-until-at-least-2025 https://www.motorsport.com/f1/news/f1-sprint-race-weekend-format-reshuffle-2024/10572695/ | 2025: https://www.motorsport.com/f1/news/pirellis-new-softest-c6-good-for-only-part-of-a-lap-in-abu-dhabi-test/10681431/ https://press.pirelli.com/the-c6-is-back-for-baku/ https://www.formula1.com/en/latest/article/fia-world-motor-sport-council-confirms-mandatory-two-stop-strategies-for.UUe16nwpOcqBe9f6PYgkq https://press.pirelli.com/a-maximum-of-25-laps-per-tyre-set-in-qatar/ https://www.the-race.com/formula-1/six-new-f1-rules-you-need-to-know-about-2025/ | 2026: https://press.pirelli.com/pirelli-reveals-2026-f1-tyres-a-fresh-logo-design-and-new-compounds/ https://press.pirelli.com/the-range-of-compounds-for-the-2026-season-has-been-set/ https://www.fia.com/news/new-era-competition-fia-showcases-future-focused-formula-1-regulations-2026-and-beyond https://www.formula1.com/en/latest/article/the-beginners-guide-to-the-2026-regulations.6j0tS0hrHG2T01tpmK6XYz https://www.motorsport.com/f1/news/pirellis-plan-to-combat-continuous-one-stop-races-in-f1-2026/10807616/ https://www.the-race.com/formula-1/f1-drivers-2026-barcelona-gp-nightmare-huge-balloon-tyres/ https://press.pirelli.com/italian-triumph-for-kimi-in-the-pirelli-grand-prix-at-monza/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deck_src/season_effects.py over the race lap files (feat2023/, feat2024/, feat2025/, feat/) and the race-derived reference slopes in out/tyreformer/prerace/predictions_A.csv; sealed weekends and wet races excluded. Degradation is the median race-derived slope per compound. The reference subtracts 70 kg of fuel in every season, so seasons before 2026 are corrected to a 100 kg start (+0.03 s/kg x 30 kg / race laps). Raw medians S/M/H: 2023 0.039/0.036/0.035; 2024 0.075/0.053/0.022; 2025 0.052/0.042/0.033; 2026 0.064/0.042/0.050. Corrected: 2023 0.054/0.050/0.050; 2024 0.092/0.070/0.040; 2025 0.064/0.058/0.045; 2026 0.064/0.042/0.050. Cases per compound: 2023 soft 7, medium 13, hard 13; 2024 soft 5, medium 14, hard 12; 2025 soft 7, medium 13, hard 11; 2026 soft 6, medium 7, hard 8. Stint length is the median completed stint ending in a pit stop; stops are pit-lane entries per driver finishing 90% of the distance. Each season races a different mix of circuits, so the fair comparison is the same circuit year on year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2019: race fuel capped at 110 kg (2020 Sporting Regulations, Art. 30.5); 2022 to 2025: fuel mass flow limited to 100 kg/h; E10 fuel from 2022; 2026: 100% advanced sustainable fuel, limited by energy flow (3,000 MJ/h) instead of mass flow; combustion engine about 400 kW, MGU-K 350 kW, MGU-H removed; 2026: F1 aims for 70 kg of fuel per race against about 100 kg in 2020; no race fuel cap found in the 2026 rulebooks; Rule of thumb: about 0.3 s per 10 kg of fuel (0.03 s/kg), varying by track. Sources: https://api.fia.com/sites/default/files/2020_formula_1_sporting_regulations_-_iss_13_-_2020-11-04.pdf https://api.fia.com/sites/default/files/documents/fia_2025_formula_1_technical_regulations_-_issue_03_-_2025-04-07.pdf https://www.fia.com/system/files/documents/fia_2026_f1_regulations_-_section_c_technical_-_iss_15_-_2025-12-10_0.pdf https://www.formula1.com/en/latest/article/more-efficient-less-fuel-and-carbon-net-zero-7-things-you-need-to-know-about.ZhtzvU3cPCv8QO7jtFxQR https://www.the-race.com/formula-1/whos-really-fastest-heading-to-melbourne-gary-andersons-analysis/ https://www.motorsport.com/f1/news/pirellis-plan-to-combat-continuous-one-stop-races-in-f1-2026/10807616/. Our arithmetic, for a 57-lap race at 0.03 s/kg (the lock's fuel cost): 100 kg burns off 0.053 s a lap, 70 kg 0.037 s. Same circuits 2025 to 2026 (deck_src/assets/season_effects.json): raw change in the race-derived slope +0.019 to +0.026; with 2025 at 100 kg +0.007 to +0.013; at 110 kg +0.002 to +0.009. Circuits: soft Austria, Barcelona, Hungary; medium Austria, Barcelona, Hungary, Japan; hard Austria, Hungary, Japan. Three or four circuits per compound: indicative, not a season-wide estimate. Implication for Orb: the scorecard race reference subtracts 70 kg in every season, so slopes before 2026 read about 0.016 s/lap low at a 100 kg start; the season charts in this deck are corrected, the scorecards are not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Madrid 2026 races on Sunday evening, after the event closes. The forecast was built from FP1, FP2, FP3, Q and frozen with a hash; nothing in it can change once the race is run. Sources: out/lock_v2.json pre_race_forecast.events.Madrid and the published out/forecast_Madrid_2026.json with its .sha256 sidecar; the build refuses to run if they disagree. Full digests: JSON 8e5489d5824ae066945225457d0198531db8a8fc246cd6f65d82787f550626ce; PDF ead466275dddd7c23538e8920405e3042dc47ceade621e47b7a7b3c5e19f40a1; sidecar 30a5f06786fc332faf7934d0ed70cadd3bcba697f538939dfa5c8e905afe2c3c; lock v2 forecast_hash 66e3201e860b19efc410cac30073d6c12bd7d4f9cb894cd70a445747d3d0451a.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opens on an overview with the two modes and the Madrid forecast. Live Predictor makes the call during a race and may only see laps already run; Ghost Strategy audits afterwards. A guided demo walks a newcomer through five steps on prepared races. Consistency probe (evaluation/red_team/consistency_probe_report.json, 2026-09-13T06:15:49): 30 routes, 3,933 numbers compared with the lock, 0 mismatches. C6 rehearsal: 303 s, 12/12 steps (checkpoints/C6/checkpoint.md).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Kalman estimator of tyre intercept and slope per stint, started from the frozen pre-race prior; it may only read laps up to the replay cursor (asserted in code and in the leakage audit). Scorecard: out/validation/live_scorecard.json, prefix evaluation over Monza, Austria, Barcelona: next-lap error 0.380 s against 0.426 s for the prior alone (1,890 windows); 89% of next laps inside the 90% band; median alert lead 8.5 laps; 0.08 false alert episodes per stint; the recommendation changes on 9% of laps. Weakness: cliff Brier 0.195 against 0.126 for the base rate, worse than a constant; the learned model on slide 18 addresses it. The driver-feedback ablation has not run: no feedback event has been recorded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Ghost Strategy replays the driver's own laps with a different tyre plan: a single-car tyre and pit-stop simulation on reference curves that exclude this driver; rivals do not react, and it is never a position forecast. The 3D Race Twin is a local software renderer on the recorded XY positions; road width, car size and elevation are schematic. Prepared simulations on disk: 232 on the historical race reference and 251 on the pre-race curve, 483 in all, across 10 races (australia, austria, barcelona, belgium, canada, hungary, japan, miami, monza, zandvoort); each passed its identity check before it was written (evaluation/red_team/identity_checks_report.json, 2026-09-13T04:07:52: 518 passed, 0 failed). Races whose reconstruction cannot be reproduced are refused on screen rather than borrowed from another race. Hidden-stop response test (out/validation/ghost_scorecard.json): hide the laps after a real stop and predict them; next-lap error 1.12 s against 1.44 s naive over 984 stops in 56 weekends.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Orb TyreFormer is an ensemble of a transformer over each stint's lap sequence (distribution, cumulative and cliff heads) and gradient-boosted median experts, with conformal 90% bands (out/tyreformer/EVALUATION.md, MODEL_CARD.md). Data: 58,569 forecast origins over 74 weekends of 2023 to 2026 race and sprint stints (47,186 from 2023 to 2025 for training and selection, 11,383 from 2026 for testing); sealed weekends are refused by the data loader. Frozen 06:17 IST before any sealed weekend was loaded (tyreformer/FREEZE.json). Every 2026 race, deployment protocol (2023 to 2025 plus earlier 2026 races), identical origins: next lap 0.421 to 0.351 s, better on 12 of 12 races; five laps ahead 0.593 to 0.453 s; five-lap cumulative 1.958 to 1.478 s. For reference, current pace alone scores 0.420 s at the next lap, so the estimator adds little there. Sealed holdout, aggregate only (out/tyreformer/sealed_holdout_aggregate.json): next lap 0.289 to 0.243 s on 5 of 5 weekends; five laps ahead 0.437 to 0.347 s; next-lap band coverage 90%. Limit: the cliff probability is calibrated but barely beats a constant base rate (Brier 0.114 against 0.120 on 2026). Not the estimator of record and not yet wired into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Sealed holdout: 6 weekends chosen by rule (holdout_count = clamp(round(0.18 * eligible_weekends), 4, 6)), hashed at 2026-09-12T14:29:44, prohibited for tuning, opened once after the freeze and quoted only as "sealed holdout, aggregate only". Checkpoints (checkpoints/C*/checkpoint.json): C0 GO 09-12 14:31; C1 GO 09-12 15:46; C2 GO 09-12 16:37; C3 GO 09-12 21:06; C4 GO 09-12 23:20; C5 GO 09-13 00:44; C6 GO 09-13 02:22. At C6 the suite ran 582 passed, 1 skipped, 1 xfailed, and the release gate 326/326. Leakage audit (2026-09-13T01:40:48): PASS, 5 checks. Identity checks (2026-09-13T04:07:52): 518 passed, 0 failed. Consistency probe (2026-09-13T06:15:49): 3,933 numbers, 0 mismatches. These records describe the commits they ran on; later uncommitted work is certified only when its own gate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stint fixed-effects OLS with physics priors. Transfer: leave-one-weekend-out median ratio with an agreement rule. Gate: selective prediction with a nonparametric fallback. Live: Kalman filter on intercept and slope with fixed regime rules. Counterfactual: iso-context paired replay. Learned: Orb TyreFormer (transformer plus gradient-boosted experts, conformal bands) and a robust-regression transfer model, both second opinions. Ablation: CfC continuous-time cell, reported not deployed. Stack: Python 3.12, NumPy, pandas, statsmodels, scikit-learn, PyTorch, FastF1, Streamlit, Plotly, a local canvas 3D renderer.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private feeds a team already has would replace our stated assumptions with measurements and tighten the same model. The method needs only lap times, tyre age, compound and flags, so it runs in a degraded mode on any series with public timing; with telemetry it also measures the push. Every scaling claim here still requires validation in that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from a public sweep on the morning of 12 September. PITWALL is the only rival we reviewed with comparable rigour and it concluded the practice curve cannot be delivered; the rest are one weekend, synthetic data, or simulators without a scorecard. We deliver the literal brief at season scale, with abstention, a live forecast and a scored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questions we expect, each with the answer we will give. Longer written answers are in The Case and the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first. The estimator and the six-weekend validation were pre-work disclosed in the idea round. Everything else was built at Plaksha between 12 and 13 September. Next: wire Orb TyreFormer into the Live Predictor as a labelled second opinion, score Madrid after the race, give each season its own fuel load in the reference, learn the abstention gate, and build the team-data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C11"/>
        </a:solidFill>
      </p:bgPr>
    </p:bg>
    <p:spTree>
      <p:nvGrpSpPr>
        <p:cNvPr id="1" name=""/>
        <p:cNvGrpSpPr/>
        <p:nvPr/>
      </p:nvGrpSpPr>
      <p:grpSpPr>
        <a:xfrm>
          <a:off x="0" y="0"/>
          <a:ext cx="0" cy="0"/>
          <a:chOff x="0" y="0"/>
          <a:chExt cx="0" cy="0"/>
        </a:xfrm>
      </p:grpSpPr>
      <p:sp>
        <p:nvSpPr>
          <p:cNvPr id="3" name="Text 0"/>
          <p:cNvSpPr txBox="1"/>
          <p:nvPr/>
        </p:nvSpPr>
        <p:spPr>
          <a:xfrm>
            <a:off x="548640" y="502920"/>
            <a:ext cx="11094415" cy="256032"/>
          </a:xfrm>
          <a:prstGeom prst="rect">
            <a:avLst/>
          </a:prstGeom>
          <a:noFill/>
          <a:ln/>
        </p:spPr>
        <p:txBody>
          <a:bodyPr wrap="square" lIns="0" tIns="0" rIns="0" bIns="0" rtlCol="0" anchor="t"/>
          <a:lstStyle/>
          <a:p>
            <a:pPr indent="0" marL="0">
              <a:buNone/>
            </a:pPr>
            <a:r>
              <a:rPr lang="en-US" sz="1200" b="1" spc="200" kern="0" dirty="0">
                <a:solidFill>
                  <a:srgbClr val="39D0C3"/>
                </a:solidFill>
                <a:latin typeface="Arial" pitchFamily="34" charset="0"/>
                <a:ea typeface="Arial" pitchFamily="34" charset="-122"/>
                <a:cs typeface="Arial" pitchFamily="34" charset="-120"/>
              </a:rPr>
              <a:t>TRACKSHIFT 2026  ·  TYRE DEGRADATION INTELLIGENCE</a:t>
            </a:r>
            <a:endParaRPr lang="en-US" sz="1200" dirty="0"/>
          </a:p>
        </p:txBody>
      </p:sp>
      <p:sp>
        <p:nvSpPr>
          <p:cNvPr id="4" name="Text 1"/>
          <p:cNvSpPr txBox="1"/>
          <p:nvPr/>
        </p:nvSpPr>
        <p:spPr>
          <a:xfrm>
            <a:off x="548640" y="822960"/>
            <a:ext cx="7315200" cy="1005840"/>
          </a:xfrm>
          <a:prstGeom prst="rect">
            <a:avLst/>
          </a:prstGeom>
          <a:noFill/>
          <a:ln/>
        </p:spPr>
        <p:txBody>
          <a:bodyPr wrap="square" lIns="0" tIns="0" rIns="0" bIns="0" rtlCol="0" anchor="t"/>
          <a:lstStyle/>
          <a:p>
            <a:pPr indent="0" marL="0">
              <a:buNone/>
            </a:pPr>
            <a:r>
              <a:rPr lang="en-US" sz="6400" b="1" dirty="0">
                <a:solidFill>
                  <a:srgbClr val="F3F6FA"/>
                </a:solidFill>
                <a:latin typeface="Arial" pitchFamily="34" charset="0"/>
                <a:ea typeface="Arial" pitchFamily="34" charset="-122"/>
                <a:cs typeface="Arial" pitchFamily="34" charset="-120"/>
              </a:rPr>
              <a:t>Orb v1</a:t>
            </a:r>
            <a:endParaRPr lang="en-US" sz="6400" dirty="0"/>
          </a:p>
        </p:txBody>
      </p:sp>
      <p:sp>
        <p:nvSpPr>
          <p:cNvPr id="5" name="Text 2"/>
          <p:cNvSpPr txBox="1"/>
          <p:nvPr/>
        </p:nvSpPr>
        <p:spPr>
          <a:xfrm>
            <a:off x="548640" y="1874520"/>
            <a:ext cx="11094415" cy="411480"/>
          </a:xfrm>
          <a:prstGeom prst="rect">
            <a:avLst/>
          </a:prstGeom>
          <a:noFill/>
          <a:ln/>
        </p:spPr>
        <p:txBody>
          <a:bodyPr wrap="square" lIns="0" tIns="0" rIns="0" bIns="0" rtlCol="0" anchor="t"/>
          <a:lstStyle/>
          <a:p>
            <a:pPr indent="0" marL="0">
              <a:buNone/>
            </a:pPr>
            <a:r>
              <a:rPr lang="en-US" sz="2200" dirty="0">
                <a:solidFill>
                  <a:srgbClr val="F3F6FA"/>
                </a:solidFill>
                <a:latin typeface="Arial" pitchFamily="34" charset="0"/>
                <a:ea typeface="Arial" pitchFamily="34" charset="-122"/>
                <a:cs typeface="Arial" pitchFamily="34" charset="-120"/>
              </a:rPr>
              <a:t>Clean tyre curves from Friday. A live pit call on Sunday. An honest audit after the flag.</a:t>
            </a:r>
            <a:endParaRPr lang="en-US" sz="2200" dirty="0"/>
          </a:p>
        </p:txBody>
      </p:sp>
      <p:sp>
        <p:nvSpPr>
          <p:cNvPr id="6" name="Text 3"/>
          <p:cNvSpPr txBox="1"/>
          <p:nvPr/>
        </p:nvSpPr>
        <p:spPr>
          <a:xfrm>
            <a:off x="548640" y="2377440"/>
            <a:ext cx="11094415" cy="365760"/>
          </a:xfrm>
          <a:prstGeom prst="rect">
            <a:avLst/>
          </a:prstGeom>
          <a:noFill/>
          <a:ln/>
        </p:spPr>
        <p:txBody>
          <a:bodyPr wrap="square" lIns="0" tIns="0" rIns="0" bIns="0" rtlCol="0" anchor="t"/>
          <a:lstStyle/>
          <a:p>
            <a:pPr indent="0" marL="0">
              <a:buNone/>
            </a:pPr>
            <a:r>
              <a:rPr lang="en-US" sz="1600" i="1" dirty="0">
                <a:solidFill>
                  <a:srgbClr val="8FE9DC"/>
                </a:solidFill>
                <a:latin typeface="Arial" pitchFamily="34" charset="0"/>
                <a:ea typeface="Arial" pitchFamily="34" charset="-122"/>
                <a:cs typeface="Arial" pitchFamily="34" charset="-120"/>
              </a:rPr>
              <a:t>Friday lies twice. We correct the lie you can measure and learn the one you cannot.</a:t>
            </a:r>
            <a:endParaRPr lang="en-US" sz="1600" dirty="0"/>
          </a:p>
        </p:txBody>
      </p:sp>
      <p:sp>
        <p:nvSpPr>
          <p:cNvPr id="7" name="Text 4"/>
          <p:cNvSpPr txBox="1"/>
          <p:nvPr/>
        </p:nvSpPr>
        <p:spPr>
          <a:xfrm>
            <a:off x="548640" y="2852928"/>
            <a:ext cx="11094415" cy="329184"/>
          </a:xfrm>
          <a:prstGeom prst="rect">
            <a:avLst/>
          </a:prstGeom>
          <a:noFill/>
          <a:ln/>
        </p:spPr>
        <p:txBody>
          <a:bodyPr wrap="square" lIns="0" tIns="0" rIns="0" bIns="0" rtlCol="0" anchor="t"/>
          <a:lstStyle/>
          <a:p>
            <a:pPr indent="0" marL="0">
              <a:buNone/>
            </a:pPr>
            <a:r>
              <a:rPr lang="en-US" sz="1800" b="1" dirty="0">
                <a:solidFill>
                  <a:srgbClr val="F3F6FA"/>
                </a:solidFill>
                <a:latin typeface="Arial" pitchFamily="34" charset="0"/>
                <a:ea typeface="Arial" pitchFamily="34" charset="-122"/>
                <a:cs typeface="Arial" pitchFamily="34" charset="-120"/>
              </a:rPr>
              <a:t>Samuel Christ  ·  A Vydehi  ·  IIT Madras</a:t>
            </a:r>
            <a:endParaRPr lang="en-US" sz="1800" dirty="0"/>
          </a:p>
        </p:txBody>
      </p:sp>
      <p:sp>
        <p:nvSpPr>
          <p:cNvPr id="8" name="Text 5"/>
          <p:cNvSpPr txBox="1"/>
          <p:nvPr/>
        </p:nvSpPr>
        <p:spPr>
          <a:xfrm>
            <a:off x="548640" y="3200400"/>
            <a:ext cx="11094415" cy="256032"/>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Team Orb v1  ·  TrackShift 2026, Plaksha University, 12 to 13 September 2026</a:t>
            </a:r>
            <a:endParaRPr lang="en-US" sz="1200" dirty="0"/>
          </a:p>
        </p:txBody>
      </p:sp>
      <p:sp>
        <p:nvSpPr>
          <p:cNvPr id="9" name="Text 6"/>
          <p:cNvSpPr txBox="1"/>
          <p:nvPr/>
        </p:nvSpPr>
        <p:spPr>
          <a:xfrm>
            <a:off x="548640" y="3474720"/>
            <a:ext cx="11094415" cy="237744"/>
          </a:xfrm>
          <a:prstGeom prst="rect">
            <a:avLst/>
          </a:prstGeom>
          <a:noFill/>
          <a:ln/>
        </p:spPr>
        <p:txBody>
          <a:bodyPr wrap="square" lIns="0" tIns="0" rIns="0" bIns="0" rtlCol="0" anchor="t"/>
          <a:lstStyle/>
          <a:p>
            <a:pPr indent="0" marL="0">
              <a:buNone/>
            </a:pPr>
            <a:r>
              <a:rPr lang="en-US" sz="1100" dirty="0">
                <a:solidFill>
                  <a:srgbClr val="6B7585"/>
                </a:solidFill>
                <a:latin typeface="Arial" pitchFamily="34" charset="0"/>
                <a:ea typeface="Arial" pitchFamily="34" charset="-122"/>
                <a:cs typeface="Arial" pitchFamily="34" charset="-120"/>
              </a:rPr>
              <a:t>Idea-round entry: ClearStint. Disclosed pre-work: the estimator and a six-weekend validation (5 September); the rest was built at Plaksha.</a:t>
            </a:r>
            <a:endParaRPr lang="en-US" sz="1100" dirty="0"/>
          </a:p>
        </p:txBody>
      </p:sp>
      <p:sp>
        <p:nvSpPr>
          <p:cNvPr id="10" name="Shape 7"/>
          <p:cNvSpPr/>
          <p:nvPr/>
        </p:nvSpPr>
        <p:spPr>
          <a:xfrm>
            <a:off x="530352" y="3913632"/>
            <a:ext cx="11130991" cy="2207222"/>
          </a:xfrm>
          <a:prstGeom prst="rect">
            <a:avLst/>
          </a:prstGeom>
          <a:solidFill>
            <a:srgbClr val="272F3B"/>
          </a:solidFill>
          <a:ln w="12700">
            <a:solidFill>
              <a:srgbClr val="272F3B"/>
            </a:solidFill>
            <a:prstDash val="solid"/>
          </a:ln>
        </p:spPr>
      </p:sp>
      <p:pic>
        <p:nvPicPr>
          <p:cNvPr id="11" name="Image 0" descr="/Users/samuelmorningstar/Trackshift/proto/deck_src/assets/shot_ghost_3d.png">    </p:cNvPr>
          <p:cNvPicPr>
            <a:picLocks noChangeAspect="1"/>
          </p:cNvPicPr>
          <p:nvPr/>
        </p:nvPicPr>
        <p:blipFill>
          <a:blip r:embed="rId1"/>
          <a:stretch>
            <a:fillRect/>
          </a:stretch>
        </p:blipFill>
        <p:spPr>
          <a:xfrm>
            <a:off x="548640" y="3931920"/>
            <a:ext cx="11094415" cy="2170646"/>
          </a:xfrm>
          <a:prstGeom prst="rect">
            <a:avLst/>
          </a:prstGeom>
        </p:spPr>
      </p:pic>
      <p:sp>
        <p:nvSpPr>
          <p:cNvPr id="12" name="Text 8"/>
          <p:cNvSpPr txBox="1"/>
          <p:nvPr/>
        </p:nvSpPr>
        <p:spPr>
          <a:xfrm>
            <a:off x="548640" y="6181344"/>
            <a:ext cx="11094415" cy="256032"/>
          </a:xfrm>
          <a:prstGeom prst="rect">
            <a:avLst/>
          </a:prstGeom>
          <a:noFill/>
          <a:ln/>
        </p:spPr>
        <p:txBody>
          <a:bodyPr wrap="square" lIns="0" tIns="0" rIns="0" bIns="0" rtlCol="0" anchor="t"/>
          <a:lstStyle/>
          <a:p>
            <a:pPr indent="0" marL="0">
              <a:buNone/>
            </a:pPr>
            <a:r>
              <a:rPr lang="en-US" sz="1000" dirty="0">
                <a:solidFill>
                  <a:srgbClr val="6B7585"/>
                </a:solidFill>
                <a:latin typeface="Arial" pitchFamily="34" charset="0"/>
                <a:ea typeface="Arial" pitchFamily="34" charset="-122"/>
                <a:cs typeface="Arial" pitchFamily="34" charset="-120"/>
              </a:rPr>
              <a:t>Ghost Strategy, Monza 2026: the recorded car and the changed tyre plan on the same circuit, rendered offline from recorded positions (current build).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THE PROBLEM</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Friday practice is a biased sample of the race</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A Friday lap time mixes five things, and only one of them is the tyre</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2</a:t>
            </a:r>
            <a:endParaRPr lang="en-US" sz="900" dirty="0"/>
          </a:p>
        </p:txBody>
      </p:sp>
      <p:sp>
        <p:nvSpPr>
          <p:cNvPr id="8" name="Text 5"/>
          <p:cNvSpPr txBox="1"/>
          <p:nvPr/>
        </p:nvSpPr>
        <p:spPr>
          <a:xfrm>
            <a:off x="548640" y="1783080"/>
            <a:ext cx="2651760" cy="681736"/>
          </a:xfrm>
          <a:prstGeom prst="rect">
            <a:avLst/>
          </a:prstGeom>
          <a:noFill/>
          <a:ln/>
        </p:spPr>
        <p:txBody>
          <a:bodyPr wrap="square" lIns="0" tIns="0" rIns="0" bIns="0" rtlCol="0" anchor="b"/>
          <a:lstStyle/>
          <a:p>
            <a:pPr indent="0" marL="0">
              <a:buNone/>
            </a:pPr>
            <a:r>
              <a:rPr lang="en-US" sz="4400" b="1" dirty="0">
                <a:solidFill>
                  <a:srgbClr val="98A3B3"/>
                </a:solidFill>
                <a:latin typeface="Arial" pitchFamily="34" charset="0"/>
                <a:ea typeface="Arial" pitchFamily="34" charset="-122"/>
                <a:cs typeface="Arial" pitchFamily="34" charset="-120"/>
              </a:rPr>
              <a:t>0.285</a:t>
            </a:r>
            <a:endParaRPr lang="en-US" sz="4400" dirty="0"/>
          </a:p>
        </p:txBody>
      </p:sp>
      <p:sp>
        <p:nvSpPr>
          <p:cNvPr id="9" name="Text 6"/>
          <p:cNvSpPr txBox="1"/>
          <p:nvPr/>
        </p:nvSpPr>
        <p:spPr>
          <a:xfrm>
            <a:off x="548640" y="2501392"/>
            <a:ext cx="2651760"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Hungary 2026 medium, s per lap of tyre age, from a straight line through Friday laps</a:t>
            </a:r>
            <a:endParaRPr lang="en-US" sz="1200" dirty="0"/>
          </a:p>
        </p:txBody>
      </p:sp>
      <p:sp>
        <p:nvSpPr>
          <p:cNvPr id="10" name="Text 7"/>
          <p:cNvSpPr txBox="1"/>
          <p:nvPr/>
        </p:nvSpPr>
        <p:spPr>
          <a:xfrm>
            <a:off x="3383280" y="1783080"/>
            <a:ext cx="2377440" cy="681736"/>
          </a:xfrm>
          <a:prstGeom prst="rect">
            <a:avLst/>
          </a:prstGeom>
          <a:noFill/>
          <a:ln/>
        </p:spPr>
        <p:txBody>
          <a:bodyPr wrap="square" lIns="0" tIns="0" rIns="0" bIns="0" rtlCol="0" anchor="b"/>
          <a:lstStyle/>
          <a:p>
            <a:pPr indent="0" marL="0">
              <a:buNone/>
            </a:pPr>
            <a:r>
              <a:rPr lang="en-US" sz="4400" b="1" dirty="0">
                <a:solidFill>
                  <a:srgbClr val="F2C230"/>
                </a:solidFill>
                <a:latin typeface="Arial" pitchFamily="34" charset="0"/>
                <a:ea typeface="Arial" pitchFamily="34" charset="-122"/>
                <a:cs typeface="Arial" pitchFamily="34" charset="-120"/>
              </a:rPr>
              <a:t>0.042</a:t>
            </a:r>
            <a:endParaRPr lang="en-US" sz="4400" dirty="0"/>
          </a:p>
        </p:txBody>
      </p:sp>
      <p:sp>
        <p:nvSpPr>
          <p:cNvPr id="11" name="Text 8"/>
          <p:cNvSpPr txBox="1"/>
          <p:nvPr/>
        </p:nvSpPr>
        <p:spPr>
          <a:xfrm>
            <a:off x="3383280" y="2501392"/>
            <a:ext cx="2377440"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what the race showed, same estimator on race laps</a:t>
            </a:r>
            <a:endParaRPr lang="en-US" sz="1200" dirty="0"/>
          </a:p>
        </p:txBody>
      </p:sp>
      <p:sp>
        <p:nvSpPr>
          <p:cNvPr id="12" name="Text 9"/>
          <p:cNvSpPr txBox="1"/>
          <p:nvPr/>
        </p:nvSpPr>
        <p:spPr>
          <a:xfrm>
            <a:off x="5943600" y="1783080"/>
            <a:ext cx="1554480" cy="681736"/>
          </a:xfrm>
          <a:prstGeom prst="rect">
            <a:avLst/>
          </a:prstGeom>
          <a:noFill/>
          <a:ln/>
        </p:spPr>
        <p:txBody>
          <a:bodyPr wrap="square" lIns="0" tIns="0" rIns="0" bIns="0" rtlCol="0" anchor="b"/>
          <a:lstStyle/>
          <a:p>
            <a:pPr indent="0" marL="0">
              <a:buNone/>
            </a:pPr>
            <a:r>
              <a:rPr lang="en-US" sz="4400" b="1" dirty="0">
                <a:solidFill>
                  <a:srgbClr val="F16464"/>
                </a:solidFill>
                <a:latin typeface="Arial" pitchFamily="34" charset="0"/>
                <a:ea typeface="Arial" pitchFamily="34" charset="-122"/>
                <a:cs typeface="Arial" pitchFamily="34" charset="-120"/>
              </a:rPr>
              <a:t>7×</a:t>
            </a:r>
            <a:endParaRPr lang="en-US" sz="4400" dirty="0"/>
          </a:p>
        </p:txBody>
      </p:sp>
      <p:sp>
        <p:nvSpPr>
          <p:cNvPr id="13" name="Text 10"/>
          <p:cNvSpPr txBox="1"/>
          <p:nvPr/>
        </p:nvSpPr>
        <p:spPr>
          <a:xfrm>
            <a:off x="5943600" y="2501392"/>
            <a:ext cx="1554480"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too high</a:t>
            </a:r>
            <a:endParaRPr lang="en-US" sz="1200" dirty="0"/>
          </a:p>
        </p:txBody>
      </p:sp>
      <p:sp>
        <p:nvSpPr>
          <p:cNvPr id="14" name="Text 11"/>
          <p:cNvSpPr txBox="1"/>
          <p:nvPr/>
        </p:nvSpPr>
        <p:spPr>
          <a:xfrm>
            <a:off x="7680960" y="1783080"/>
            <a:ext cx="3931920" cy="681736"/>
          </a:xfrm>
          <a:prstGeom prst="rect">
            <a:avLst/>
          </a:prstGeom>
          <a:noFill/>
          <a:ln/>
        </p:spPr>
        <p:txBody>
          <a:bodyPr wrap="square" lIns="0" tIns="0" rIns="0" bIns="0" rtlCol="0" anchor="b"/>
          <a:lstStyle/>
          <a:p>
            <a:pPr indent="0" marL="0">
              <a:buNone/>
            </a:pPr>
            <a:r>
              <a:rPr lang="en-US" sz="4400" b="1" dirty="0">
                <a:solidFill>
                  <a:srgbClr val="F16464"/>
                </a:solidFill>
                <a:latin typeface="Arial" pitchFamily="34" charset="0"/>
                <a:ea typeface="Arial" pitchFamily="34" charset="-122"/>
                <a:cs typeface="Arial" pitchFamily="34" charset="-120"/>
              </a:rPr>
              <a:t>+74 s</a:t>
            </a:r>
            <a:endParaRPr lang="en-US" sz="4400" dirty="0"/>
          </a:p>
        </p:txBody>
      </p:sp>
      <p:sp>
        <p:nvSpPr>
          <p:cNvPr id="15" name="Text 12"/>
          <p:cNvSpPr txBox="1"/>
          <p:nvPr/>
        </p:nvSpPr>
        <p:spPr>
          <a:xfrm>
            <a:off x="7680960" y="2501392"/>
            <a:ext cx="3931920"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cost of racing the Friday line against the best plan, Hungary replay</a:t>
            </a:r>
            <a:endParaRPr lang="en-US" sz="1200" dirty="0"/>
          </a:p>
        </p:txBody>
      </p:sp>
      <p:sp>
        <p:nvSpPr>
          <p:cNvPr id="16" name="Shape 13"/>
          <p:cNvSpPr/>
          <p:nvPr/>
        </p:nvSpPr>
        <p:spPr>
          <a:xfrm>
            <a:off x="548640" y="3557016"/>
            <a:ext cx="329184" cy="329184"/>
          </a:xfrm>
          <a:prstGeom prst="ellipse">
            <a:avLst/>
          </a:prstGeom>
          <a:solidFill>
            <a:srgbClr val="F2C230"/>
          </a:solidFill>
          <a:ln w="12700">
            <a:solidFill>
              <a:srgbClr val="F2C230"/>
            </a:solidFill>
            <a:prstDash val="solid"/>
          </a:ln>
        </p:spPr>
      </p:sp>
      <p:sp>
        <p:nvSpPr>
          <p:cNvPr id="17" name="Text 14"/>
          <p:cNvSpPr txBox="1"/>
          <p:nvPr/>
        </p:nvSpPr>
        <p:spPr>
          <a:xfrm>
            <a:off x="548640" y="3557016"/>
            <a:ext cx="329184" cy="329184"/>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1</a:t>
            </a:r>
            <a:endParaRPr lang="en-US" sz="1200" dirty="0"/>
          </a:p>
        </p:txBody>
      </p:sp>
      <p:sp>
        <p:nvSpPr>
          <p:cNvPr id="18" name="Text 15"/>
          <p:cNvSpPr txBox="1"/>
          <p:nvPr/>
        </p:nvSpPr>
        <p:spPr>
          <a:xfrm>
            <a:off x="1051560" y="3520440"/>
            <a:ext cx="10515600" cy="420624"/>
          </a:xfrm>
          <a:prstGeom prst="rect">
            <a:avLst/>
          </a:prstGeom>
          <a:noFill/>
          <a:ln/>
        </p:spPr>
        <p:txBody>
          <a:bodyPr wrap="square" lIns="0" tIns="0" rIns="0" bIns="0" rtlCol="0" anchor="ctr"/>
          <a:lstStyle/>
          <a:p>
            <a:pPr indent="0" marL="0">
              <a:buNone/>
            </a:pPr>
            <a:r>
              <a:rPr lang="en-US" sz="1500" b="1" dirty="0">
                <a:solidFill>
                  <a:srgbClr val="F3F6FA"/>
                </a:solidFill>
                <a:latin typeface="Arial" pitchFamily="34" charset="0"/>
                <a:ea typeface="Arial" pitchFamily="34" charset="-122"/>
                <a:cs typeface="Arial" pitchFamily="34" charset="-120"/>
              </a:rPr>
              <a:t>The tyre wearing   </a:t>
            </a:r>
            <a:pPr indent="0" marL="0">
              <a:buNone/>
            </a:pPr>
            <a:r>
              <a:rPr lang="en-US" sz="1500" dirty="0">
                <a:solidFill>
                  <a:srgbClr val="98A3B3"/>
                </a:solidFill>
                <a:latin typeface="Arial" pitchFamily="34" charset="0"/>
                <a:ea typeface="Arial" pitchFamily="34" charset="-122"/>
                <a:cs typeface="Arial" pitchFamily="34" charset="-120"/>
              </a:rPr>
              <a:t>what we want: a little slower every lap of age</a:t>
            </a:r>
            <a:endParaRPr lang="en-US" sz="1500" dirty="0"/>
          </a:p>
        </p:txBody>
      </p:sp>
      <p:sp>
        <p:nvSpPr>
          <p:cNvPr id="19" name="Shape 16"/>
          <p:cNvSpPr/>
          <p:nvPr/>
        </p:nvSpPr>
        <p:spPr>
          <a:xfrm>
            <a:off x="548640" y="4105656"/>
            <a:ext cx="329184" cy="329184"/>
          </a:xfrm>
          <a:prstGeom prst="ellipse">
            <a:avLst/>
          </a:prstGeom>
          <a:solidFill>
            <a:srgbClr val="39D0C3"/>
          </a:solidFill>
          <a:ln w="12700">
            <a:solidFill>
              <a:srgbClr val="39D0C3"/>
            </a:solidFill>
            <a:prstDash val="solid"/>
          </a:ln>
        </p:spPr>
      </p:sp>
      <p:sp>
        <p:nvSpPr>
          <p:cNvPr id="20" name="Text 17"/>
          <p:cNvSpPr txBox="1"/>
          <p:nvPr/>
        </p:nvSpPr>
        <p:spPr>
          <a:xfrm>
            <a:off x="548640" y="4105656"/>
            <a:ext cx="329184" cy="329184"/>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1051560" y="4069080"/>
            <a:ext cx="10515600" cy="420624"/>
          </a:xfrm>
          <a:prstGeom prst="rect">
            <a:avLst/>
          </a:prstGeom>
          <a:noFill/>
          <a:ln/>
        </p:spPr>
        <p:txBody>
          <a:bodyPr wrap="square" lIns="0" tIns="0" rIns="0" bIns="0" rtlCol="0" anchor="ctr"/>
          <a:lstStyle/>
          <a:p>
            <a:pPr indent="0" marL="0">
              <a:buNone/>
            </a:pPr>
            <a:r>
              <a:rPr lang="en-US" sz="1500" b="1" dirty="0">
                <a:solidFill>
                  <a:srgbClr val="F3F6FA"/>
                </a:solidFill>
                <a:latin typeface="Arial" pitchFamily="34" charset="0"/>
                <a:ea typeface="Arial" pitchFamily="34" charset="-122"/>
                <a:cs typeface="Arial" pitchFamily="34" charset="-120"/>
              </a:rPr>
              <a:t>Fuel burning off   </a:t>
            </a:r>
            <a:pPr indent="0" marL="0">
              <a:buNone/>
            </a:pPr>
            <a:r>
              <a:rPr lang="en-US" sz="1500" dirty="0">
                <a:solidFill>
                  <a:srgbClr val="98A3B3"/>
                </a:solidFill>
                <a:latin typeface="Arial" pitchFamily="34" charset="0"/>
                <a:ea typeface="Arial" pitchFamily="34" charset="-122"/>
                <a:cs typeface="Arial" pitchFamily="34" charset="-120"/>
              </a:rPr>
              <a:t>1.1 kg a lap in 2026, worth about 0.033 s a lap, pulling the other way (more before 2026: slide 13)</a:t>
            </a:r>
            <a:endParaRPr lang="en-US" sz="1500" dirty="0"/>
          </a:p>
        </p:txBody>
      </p:sp>
      <p:sp>
        <p:nvSpPr>
          <p:cNvPr id="22" name="Shape 19"/>
          <p:cNvSpPr/>
          <p:nvPr/>
        </p:nvSpPr>
        <p:spPr>
          <a:xfrm>
            <a:off x="548640" y="4654296"/>
            <a:ext cx="329184" cy="329184"/>
          </a:xfrm>
          <a:prstGeom prst="ellipse">
            <a:avLst/>
          </a:prstGeom>
          <a:solidFill>
            <a:srgbClr val="39D0C3"/>
          </a:solidFill>
          <a:ln w="12700">
            <a:solidFill>
              <a:srgbClr val="39D0C3"/>
            </a:solidFill>
            <a:prstDash val="solid"/>
          </a:ln>
        </p:spPr>
      </p:sp>
      <p:sp>
        <p:nvSpPr>
          <p:cNvPr id="23" name="Text 20"/>
          <p:cNvSpPr txBox="1"/>
          <p:nvPr/>
        </p:nvSpPr>
        <p:spPr>
          <a:xfrm>
            <a:off x="548640" y="4654296"/>
            <a:ext cx="329184" cy="329184"/>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3</a:t>
            </a:r>
            <a:endParaRPr lang="en-US" sz="1200" dirty="0"/>
          </a:p>
        </p:txBody>
      </p:sp>
      <p:sp>
        <p:nvSpPr>
          <p:cNvPr id="24" name="Text 21"/>
          <p:cNvSpPr txBox="1"/>
          <p:nvPr/>
        </p:nvSpPr>
        <p:spPr>
          <a:xfrm>
            <a:off x="1051560" y="4617720"/>
            <a:ext cx="10515600" cy="420624"/>
          </a:xfrm>
          <a:prstGeom prst="rect">
            <a:avLst/>
          </a:prstGeom>
          <a:noFill/>
          <a:ln/>
        </p:spPr>
        <p:txBody>
          <a:bodyPr wrap="square" lIns="0" tIns="0" rIns="0" bIns="0" rtlCol="0" anchor="ctr"/>
          <a:lstStyle/>
          <a:p>
            <a:pPr indent="0" marL="0">
              <a:buNone/>
            </a:pPr>
            <a:r>
              <a:rPr lang="en-US" sz="1500" b="1" dirty="0">
                <a:solidFill>
                  <a:srgbClr val="F3F6FA"/>
                </a:solidFill>
                <a:latin typeface="Arial" pitchFamily="34" charset="0"/>
                <a:ea typeface="Arial" pitchFamily="34" charset="-122"/>
                <a:cs typeface="Arial" pitchFamily="34" charset="-120"/>
              </a:rPr>
              <a:t>Track evolution   </a:t>
            </a:r>
            <a:pPr indent="0" marL="0">
              <a:buNone/>
            </a:pPr>
            <a:r>
              <a:rPr lang="en-US" sz="1500" dirty="0">
                <a:solidFill>
                  <a:srgbClr val="98A3B3"/>
                </a:solidFill>
                <a:latin typeface="Arial" pitchFamily="34" charset="0"/>
                <a:ea typeface="Arial" pitchFamily="34" charset="-122"/>
                <a:cs typeface="Arial" pitchFamily="34" charset="-120"/>
              </a:rPr>
              <a:t>rubber goes down and everyone gets faster: 0.6 to 0.8 s per hour at Madrid on Friday</a:t>
            </a:r>
            <a:endParaRPr lang="en-US" sz="1500" dirty="0"/>
          </a:p>
        </p:txBody>
      </p:sp>
      <p:sp>
        <p:nvSpPr>
          <p:cNvPr id="25" name="Shape 22"/>
          <p:cNvSpPr/>
          <p:nvPr/>
        </p:nvSpPr>
        <p:spPr>
          <a:xfrm>
            <a:off x="548640" y="5202936"/>
            <a:ext cx="329184" cy="329184"/>
          </a:xfrm>
          <a:prstGeom prst="ellipse">
            <a:avLst/>
          </a:prstGeom>
          <a:solidFill>
            <a:srgbClr val="39D0C3"/>
          </a:solidFill>
          <a:ln w="12700">
            <a:solidFill>
              <a:srgbClr val="39D0C3"/>
            </a:solidFill>
            <a:prstDash val="solid"/>
          </a:ln>
        </p:spPr>
      </p:sp>
      <p:sp>
        <p:nvSpPr>
          <p:cNvPr id="26" name="Text 23"/>
          <p:cNvSpPr txBox="1"/>
          <p:nvPr/>
        </p:nvSpPr>
        <p:spPr>
          <a:xfrm>
            <a:off x="548640" y="5202936"/>
            <a:ext cx="329184" cy="329184"/>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4</a:t>
            </a:r>
            <a:endParaRPr lang="en-US" sz="1200" dirty="0"/>
          </a:p>
        </p:txBody>
      </p:sp>
      <p:sp>
        <p:nvSpPr>
          <p:cNvPr id="27" name="Text 24"/>
          <p:cNvSpPr txBox="1"/>
          <p:nvPr/>
        </p:nvSpPr>
        <p:spPr>
          <a:xfrm>
            <a:off x="1051560" y="5166360"/>
            <a:ext cx="10515600" cy="420624"/>
          </a:xfrm>
          <a:prstGeom prst="rect">
            <a:avLst/>
          </a:prstGeom>
          <a:noFill/>
          <a:ln/>
        </p:spPr>
        <p:txBody>
          <a:bodyPr wrap="square" lIns="0" tIns="0" rIns="0" bIns="0" rtlCol="0" anchor="ctr"/>
          <a:lstStyle/>
          <a:p>
            <a:pPr indent="0" marL="0">
              <a:buNone/>
            </a:pPr>
            <a:r>
              <a:rPr lang="en-US" sz="1500" b="1" dirty="0">
                <a:solidFill>
                  <a:srgbClr val="F3F6FA"/>
                </a:solidFill>
                <a:latin typeface="Arial" pitchFamily="34" charset="0"/>
                <a:ea typeface="Arial" pitchFamily="34" charset="-122"/>
                <a:cs typeface="Arial" pitchFamily="34" charset="-120"/>
              </a:rPr>
              <a:t>Traffic   </a:t>
            </a:r>
            <a:pPr indent="0" marL="0">
              <a:buNone/>
            </a:pPr>
            <a:r>
              <a:rPr lang="en-US" sz="1500" dirty="0">
                <a:solidFill>
                  <a:srgbClr val="98A3B3"/>
                </a:solidFill>
                <a:latin typeface="Arial" pitchFamily="34" charset="0"/>
                <a:ea typeface="Arial" pitchFamily="34" charset="-122"/>
                <a:cs typeface="Arial" pitchFamily="34" charset="-120"/>
              </a:rPr>
              <a:t>within 60 m of another car the lap is slow for reasons that are not the tyre</a:t>
            </a:r>
            <a:endParaRPr lang="en-US" sz="1500" dirty="0"/>
          </a:p>
        </p:txBody>
      </p:sp>
      <p:sp>
        <p:nvSpPr>
          <p:cNvPr id="28" name="Shape 25"/>
          <p:cNvSpPr/>
          <p:nvPr/>
        </p:nvSpPr>
        <p:spPr>
          <a:xfrm>
            <a:off x="548640" y="5751576"/>
            <a:ext cx="329184" cy="329184"/>
          </a:xfrm>
          <a:prstGeom prst="ellipse">
            <a:avLst/>
          </a:prstGeom>
          <a:solidFill>
            <a:srgbClr val="39D0C3"/>
          </a:solidFill>
          <a:ln w="12700">
            <a:solidFill>
              <a:srgbClr val="39D0C3"/>
            </a:solidFill>
            <a:prstDash val="solid"/>
          </a:ln>
        </p:spPr>
      </p:sp>
      <p:sp>
        <p:nvSpPr>
          <p:cNvPr id="29" name="Text 26"/>
          <p:cNvSpPr txBox="1"/>
          <p:nvPr/>
        </p:nvSpPr>
        <p:spPr>
          <a:xfrm>
            <a:off x="548640" y="5751576"/>
            <a:ext cx="329184" cy="329184"/>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1051560" y="5715000"/>
            <a:ext cx="10515600" cy="420624"/>
          </a:xfrm>
          <a:prstGeom prst="rect">
            <a:avLst/>
          </a:prstGeom>
          <a:noFill/>
          <a:ln/>
        </p:spPr>
        <p:txBody>
          <a:bodyPr wrap="square" lIns="0" tIns="0" rIns="0" bIns="0" rtlCol="0" anchor="ctr"/>
          <a:lstStyle/>
          <a:p>
            <a:pPr indent="0" marL="0">
              <a:buNone/>
            </a:pPr>
            <a:r>
              <a:rPr lang="en-US" sz="1500" b="1" dirty="0">
                <a:solidFill>
                  <a:srgbClr val="F3F6FA"/>
                </a:solidFill>
                <a:latin typeface="Arial" pitchFamily="34" charset="0"/>
                <a:ea typeface="Arial" pitchFamily="34" charset="-122"/>
                <a:cs typeface="Arial" pitchFamily="34" charset="-120"/>
              </a:rPr>
              <a:t>The driver   </a:t>
            </a:r>
            <a:pPr indent="0" marL="0">
              <a:buNone/>
            </a:pPr>
            <a:r>
              <a:rPr lang="en-US" sz="1500" dirty="0">
                <a:solidFill>
                  <a:srgbClr val="98A3B3"/>
                </a:solidFill>
                <a:latin typeface="Arial" pitchFamily="34" charset="0"/>
                <a:ea typeface="Arial" pitchFamily="34" charset="-122"/>
                <a:cs typeface="Arial" pitchFamily="34" charset="-120"/>
              </a:rPr>
              <a:t>warming up, learning the circuit, pushing harder or easing off</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THE SOLUTION</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One engine, three jobs: forecast, call, audit</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The same cleaned estimator runs on practice and race laps; every screen reads one locked, hashed file</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3</a:t>
            </a:r>
            <a:endParaRPr lang="en-US" sz="900" dirty="0"/>
          </a:p>
        </p:txBody>
      </p:sp>
      <p:sp>
        <p:nvSpPr>
          <p:cNvPr id="8" name="Shape 5"/>
          <p:cNvSpPr/>
          <p:nvPr/>
        </p:nvSpPr>
        <p:spPr>
          <a:xfrm>
            <a:off x="548640" y="1783080"/>
            <a:ext cx="3429000" cy="2606040"/>
          </a:xfrm>
          <a:prstGeom prst="roundRect">
            <a:avLst>
              <a:gd name="adj" fmla="val 2807"/>
            </a:avLst>
          </a:prstGeom>
          <a:solidFill>
            <a:srgbClr val="11161E"/>
          </a:solidFill>
          <a:ln w="9525">
            <a:solidFill>
              <a:srgbClr val="272F3B"/>
            </a:solidFill>
            <a:prstDash val="solid"/>
          </a:ln>
        </p:spPr>
      </p:sp>
      <p:sp>
        <p:nvSpPr>
          <p:cNvPr id="9" name="Text 6"/>
          <p:cNvSpPr txBox="1"/>
          <p:nvPr/>
        </p:nvSpPr>
        <p:spPr>
          <a:xfrm>
            <a:off x="777240" y="1938528"/>
            <a:ext cx="3017520" cy="219456"/>
          </a:xfrm>
          <a:prstGeom prst="rect">
            <a:avLst/>
          </a:prstGeom>
          <a:noFill/>
          <a:ln/>
        </p:spPr>
        <p:txBody>
          <a:bodyPr wrap="square" lIns="0" tIns="0" rIns="0" bIns="0" rtlCol="0" anchor="t"/>
          <a:lstStyle/>
          <a:p>
            <a:pPr indent="0" marL="0">
              <a:buNone/>
            </a:pPr>
            <a:r>
              <a:rPr lang="en-US" sz="1000" b="1" spc="150" kern="0" dirty="0">
                <a:solidFill>
                  <a:srgbClr val="39D0C3"/>
                </a:solidFill>
                <a:latin typeface="Arial" pitchFamily="34" charset="0"/>
                <a:ea typeface="Arial" pitchFamily="34" charset="-122"/>
                <a:cs typeface="Arial" pitchFamily="34" charset="-120"/>
              </a:rPr>
              <a:t>BEFORE THE RACE</a:t>
            </a:r>
            <a:endParaRPr lang="en-US" sz="1000" dirty="0"/>
          </a:p>
        </p:txBody>
      </p:sp>
      <p:sp>
        <p:nvSpPr>
          <p:cNvPr id="10" name="Text 7"/>
          <p:cNvSpPr txBox="1"/>
          <p:nvPr/>
        </p:nvSpPr>
        <p:spPr>
          <a:xfrm>
            <a:off x="777240" y="2212848"/>
            <a:ext cx="3017520" cy="457200"/>
          </a:xfrm>
          <a:prstGeom prst="rect">
            <a:avLst/>
          </a:prstGeom>
          <a:noFill/>
          <a:ln/>
        </p:spPr>
        <p:txBody>
          <a:bodyPr wrap="square" lIns="0" tIns="0" rIns="0" bIns="0" rtlCol="0" anchor="t"/>
          <a:lstStyle/>
          <a:p>
            <a:pPr indent="0" marL="0">
              <a:buNone/>
            </a:pPr>
            <a:r>
              <a:rPr lang="en-US" sz="2400" b="1" dirty="0">
                <a:solidFill>
                  <a:srgbClr val="F3F6FA"/>
                </a:solidFill>
                <a:latin typeface="Arial" pitchFamily="34" charset="0"/>
                <a:ea typeface="Arial" pitchFamily="34" charset="-122"/>
                <a:cs typeface="Arial" pitchFamily="34" charset="-120"/>
              </a:rPr>
              <a:t>Forecast</a:t>
            </a:r>
            <a:endParaRPr lang="en-US" sz="2400" dirty="0"/>
          </a:p>
        </p:txBody>
      </p:sp>
      <p:sp>
        <p:nvSpPr>
          <p:cNvPr id="11" name="Text 8"/>
          <p:cNvSpPr txBox="1"/>
          <p:nvPr/>
        </p:nvSpPr>
        <p:spPr>
          <a:xfrm>
            <a:off x="777240" y="2743200"/>
            <a:ext cx="3017520" cy="1097280"/>
          </a:xfrm>
          <a:prstGeom prst="rect">
            <a:avLst/>
          </a:prstGeom>
          <a:noFill/>
          <a:ln/>
        </p:spPr>
        <p:txBody>
          <a:bodyPr wrap="square" lIns="0" tIns="0" rIns="0" bIns="0" rtlCol="0" anchor="t"/>
          <a:lstStyle/>
          <a:p>
            <a:pPr indent="0" marL="0">
              <a:buNone/>
            </a:pPr>
            <a:r>
              <a:rPr lang="en-US" sz="1300" dirty="0">
                <a:solidFill>
                  <a:srgbClr val="98A3B3"/>
                </a:solidFill>
                <a:latin typeface="Arial" pitchFamily="34" charset="0"/>
                <a:ea typeface="Arial" pitchFamily="34" charset="-122"/>
                <a:cs typeface="Arial" pitchFamily="34" charset="-120"/>
              </a:rPr>
              <a:t>Clean every practice lap, refuse weak signal, learn the Friday-to-Sunday ratio, publish a hashed race curve with a band and a pit plan.</a:t>
            </a:r>
            <a:endParaRPr lang="en-US" sz="1300" dirty="0"/>
          </a:p>
        </p:txBody>
      </p:sp>
      <p:sp>
        <p:nvSpPr>
          <p:cNvPr id="12" name="Text 9"/>
          <p:cNvSpPr txBox="1"/>
          <p:nvPr/>
        </p:nvSpPr>
        <p:spPr>
          <a:xfrm>
            <a:off x="777240" y="3931920"/>
            <a:ext cx="3017520" cy="274320"/>
          </a:xfrm>
          <a:prstGeom prst="rect">
            <a:avLst/>
          </a:prstGeom>
          <a:noFill/>
          <a:ln/>
        </p:spPr>
        <p:txBody>
          <a:bodyPr wrap="square" lIns="0" tIns="0" rIns="0" bIns="0" rtlCol="0" anchor="t"/>
          <a:lstStyle/>
          <a:p>
            <a:pPr indent="0" marL="0">
              <a:buNone/>
            </a:pPr>
            <a:r>
              <a:rPr lang="en-US" sz="1200" dirty="0">
                <a:solidFill>
                  <a:srgbClr val="8FE9DC"/>
                </a:solidFill>
                <a:latin typeface="Arial" pitchFamily="34" charset="0"/>
                <a:ea typeface="Arial" pitchFamily="34" charset="-122"/>
                <a:cs typeface="Arial" pitchFamily="34" charset="-120"/>
              </a:rPr>
              <a:t>Screen: Forecast</a:t>
            </a:r>
            <a:endParaRPr lang="en-US" sz="1200" dirty="0"/>
          </a:p>
        </p:txBody>
      </p:sp>
      <p:sp>
        <p:nvSpPr>
          <p:cNvPr id="13" name="Text 10"/>
          <p:cNvSpPr txBox="1"/>
          <p:nvPr/>
        </p:nvSpPr>
        <p:spPr>
          <a:xfrm>
            <a:off x="3995928" y="2788920"/>
            <a:ext cx="365760" cy="457200"/>
          </a:xfrm>
          <a:prstGeom prst="rect">
            <a:avLst/>
          </a:prstGeom>
          <a:noFill/>
          <a:ln/>
        </p:spPr>
        <p:txBody>
          <a:bodyPr wrap="square" lIns="0" tIns="0" rIns="0" bIns="0" rtlCol="0" anchor="t"/>
          <a:lstStyle/>
          <a:p>
            <a:pPr algn="ctr" indent="0" marL="0">
              <a:buNone/>
            </a:pPr>
            <a:r>
              <a:rPr lang="en-US" sz="2400" dirty="0">
                <a:solidFill>
                  <a:srgbClr val="6B7585"/>
                </a:solidFill>
                <a:latin typeface="Arial" pitchFamily="34" charset="0"/>
                <a:ea typeface="Arial" pitchFamily="34" charset="-122"/>
                <a:cs typeface="Arial" pitchFamily="34" charset="-120"/>
              </a:rPr>
              <a:t>→</a:t>
            </a:r>
            <a:endParaRPr lang="en-US" sz="2400" dirty="0"/>
          </a:p>
        </p:txBody>
      </p:sp>
      <p:sp>
        <p:nvSpPr>
          <p:cNvPr id="14" name="Shape 11"/>
          <p:cNvSpPr/>
          <p:nvPr/>
        </p:nvSpPr>
        <p:spPr>
          <a:xfrm>
            <a:off x="4379976" y="1783080"/>
            <a:ext cx="3429000" cy="2606040"/>
          </a:xfrm>
          <a:prstGeom prst="roundRect">
            <a:avLst>
              <a:gd name="adj" fmla="val 2807"/>
            </a:avLst>
          </a:prstGeom>
          <a:solidFill>
            <a:srgbClr val="11161E"/>
          </a:solidFill>
          <a:ln w="9525">
            <a:solidFill>
              <a:srgbClr val="272F3B"/>
            </a:solidFill>
            <a:prstDash val="solid"/>
          </a:ln>
        </p:spPr>
      </p:sp>
      <p:sp>
        <p:nvSpPr>
          <p:cNvPr id="15" name="Text 12"/>
          <p:cNvSpPr txBox="1"/>
          <p:nvPr/>
        </p:nvSpPr>
        <p:spPr>
          <a:xfrm>
            <a:off x="4608576" y="1938528"/>
            <a:ext cx="3017520" cy="219456"/>
          </a:xfrm>
          <a:prstGeom prst="rect">
            <a:avLst/>
          </a:prstGeom>
          <a:noFill/>
          <a:ln/>
        </p:spPr>
        <p:txBody>
          <a:bodyPr wrap="square" lIns="0" tIns="0" rIns="0" bIns="0" rtlCol="0" anchor="t"/>
          <a:lstStyle/>
          <a:p>
            <a:pPr indent="0" marL="0">
              <a:buNone/>
            </a:pPr>
            <a:r>
              <a:rPr lang="en-US" sz="1000" b="1" spc="150" kern="0" dirty="0">
                <a:solidFill>
                  <a:srgbClr val="39D0C3"/>
                </a:solidFill>
                <a:latin typeface="Arial" pitchFamily="34" charset="0"/>
                <a:ea typeface="Arial" pitchFamily="34" charset="-122"/>
                <a:cs typeface="Arial" pitchFamily="34" charset="-120"/>
              </a:rPr>
              <a:t>DURING THE RACE</a:t>
            </a:r>
            <a:endParaRPr lang="en-US" sz="1000" dirty="0"/>
          </a:p>
        </p:txBody>
      </p:sp>
      <p:sp>
        <p:nvSpPr>
          <p:cNvPr id="16" name="Text 13"/>
          <p:cNvSpPr txBox="1"/>
          <p:nvPr/>
        </p:nvSpPr>
        <p:spPr>
          <a:xfrm>
            <a:off x="4608576" y="2212848"/>
            <a:ext cx="3017520" cy="457200"/>
          </a:xfrm>
          <a:prstGeom prst="rect">
            <a:avLst/>
          </a:prstGeom>
          <a:noFill/>
          <a:ln/>
        </p:spPr>
        <p:txBody>
          <a:bodyPr wrap="square" lIns="0" tIns="0" rIns="0" bIns="0" rtlCol="0" anchor="t"/>
          <a:lstStyle/>
          <a:p>
            <a:pPr indent="0" marL="0">
              <a:buNone/>
            </a:pPr>
            <a:r>
              <a:rPr lang="en-US" sz="2400" b="1" dirty="0">
                <a:solidFill>
                  <a:srgbClr val="F3F6FA"/>
                </a:solidFill>
                <a:latin typeface="Arial" pitchFamily="34" charset="0"/>
                <a:ea typeface="Arial" pitchFamily="34" charset="-122"/>
                <a:cs typeface="Arial" pitchFamily="34" charset="-120"/>
              </a:rPr>
              <a:t>Live call</a:t>
            </a:r>
            <a:endParaRPr lang="en-US" sz="2400" dirty="0"/>
          </a:p>
        </p:txBody>
      </p:sp>
      <p:sp>
        <p:nvSpPr>
          <p:cNvPr id="17" name="Text 14"/>
          <p:cNvSpPr txBox="1"/>
          <p:nvPr/>
        </p:nvSpPr>
        <p:spPr>
          <a:xfrm>
            <a:off x="4608576" y="2743200"/>
            <a:ext cx="3017520" cy="1097280"/>
          </a:xfrm>
          <a:prstGeom prst="rect">
            <a:avLst/>
          </a:prstGeom>
          <a:noFill/>
          <a:ln/>
        </p:spPr>
        <p:txBody>
          <a:bodyPr wrap="square" lIns="0" tIns="0" rIns="0" bIns="0" rtlCol="0" anchor="t"/>
          <a:lstStyle/>
          <a:p>
            <a:pPr indent="0" marL="0">
              <a:buNone/>
            </a:pPr>
            <a:r>
              <a:rPr lang="en-US" sz="1300" dirty="0">
                <a:solidFill>
                  <a:srgbClr val="98A3B3"/>
                </a:solidFill>
                <a:latin typeface="Arial" pitchFamily="34" charset="0"/>
                <a:ea typeface="Arial" pitchFamily="34" charset="-122"/>
                <a:cs typeface="Arial" pitchFamily="34" charset="-120"/>
              </a:rPr>
              <a:t>Update the tyre state every lap from laps already run; rank pit actions by modelled gain, 80% range and probability.</a:t>
            </a:r>
            <a:endParaRPr lang="en-US" sz="1300" dirty="0"/>
          </a:p>
        </p:txBody>
      </p:sp>
      <p:sp>
        <p:nvSpPr>
          <p:cNvPr id="18" name="Text 15"/>
          <p:cNvSpPr txBox="1"/>
          <p:nvPr/>
        </p:nvSpPr>
        <p:spPr>
          <a:xfrm>
            <a:off x="4608576" y="3931920"/>
            <a:ext cx="3017520" cy="274320"/>
          </a:xfrm>
          <a:prstGeom prst="rect">
            <a:avLst/>
          </a:prstGeom>
          <a:noFill/>
          <a:ln/>
        </p:spPr>
        <p:txBody>
          <a:bodyPr wrap="square" lIns="0" tIns="0" rIns="0" bIns="0" rtlCol="0" anchor="t"/>
          <a:lstStyle/>
          <a:p>
            <a:pPr indent="0" marL="0">
              <a:buNone/>
            </a:pPr>
            <a:r>
              <a:rPr lang="en-US" sz="1200" dirty="0">
                <a:solidFill>
                  <a:srgbClr val="8FE9DC"/>
                </a:solidFill>
                <a:latin typeface="Arial" pitchFamily="34" charset="0"/>
                <a:ea typeface="Arial" pitchFamily="34" charset="-122"/>
                <a:cs typeface="Arial" pitchFamily="34" charset="-120"/>
              </a:rPr>
              <a:t>Screens: Live Predictor, Decision board</a:t>
            </a:r>
            <a:endParaRPr lang="en-US" sz="1200" dirty="0"/>
          </a:p>
        </p:txBody>
      </p:sp>
      <p:sp>
        <p:nvSpPr>
          <p:cNvPr id="19" name="Text 16"/>
          <p:cNvSpPr txBox="1"/>
          <p:nvPr/>
        </p:nvSpPr>
        <p:spPr>
          <a:xfrm>
            <a:off x="7827264" y="2788920"/>
            <a:ext cx="365760" cy="457200"/>
          </a:xfrm>
          <a:prstGeom prst="rect">
            <a:avLst/>
          </a:prstGeom>
          <a:noFill/>
          <a:ln/>
        </p:spPr>
        <p:txBody>
          <a:bodyPr wrap="square" lIns="0" tIns="0" rIns="0" bIns="0" rtlCol="0" anchor="t"/>
          <a:lstStyle/>
          <a:p>
            <a:pPr algn="ctr" indent="0" marL="0">
              <a:buNone/>
            </a:pPr>
            <a:r>
              <a:rPr lang="en-US" sz="2400" dirty="0">
                <a:solidFill>
                  <a:srgbClr val="6B7585"/>
                </a:solidFill>
                <a:latin typeface="Arial" pitchFamily="34" charset="0"/>
                <a:ea typeface="Arial" pitchFamily="34" charset="-122"/>
                <a:cs typeface="Arial" pitchFamily="34" charset="-120"/>
              </a:rPr>
              <a:t>→</a:t>
            </a:r>
            <a:endParaRPr lang="en-US" sz="2400" dirty="0"/>
          </a:p>
        </p:txBody>
      </p:sp>
      <p:sp>
        <p:nvSpPr>
          <p:cNvPr id="20" name="Shape 17"/>
          <p:cNvSpPr/>
          <p:nvPr/>
        </p:nvSpPr>
        <p:spPr>
          <a:xfrm>
            <a:off x="8211312" y="1783080"/>
            <a:ext cx="3429000" cy="2606040"/>
          </a:xfrm>
          <a:prstGeom prst="roundRect">
            <a:avLst>
              <a:gd name="adj" fmla="val 2807"/>
            </a:avLst>
          </a:prstGeom>
          <a:solidFill>
            <a:srgbClr val="11161E"/>
          </a:solidFill>
          <a:ln w="9525">
            <a:solidFill>
              <a:srgbClr val="272F3B"/>
            </a:solidFill>
            <a:prstDash val="solid"/>
          </a:ln>
        </p:spPr>
      </p:sp>
      <p:sp>
        <p:nvSpPr>
          <p:cNvPr id="21" name="Text 18"/>
          <p:cNvSpPr txBox="1"/>
          <p:nvPr/>
        </p:nvSpPr>
        <p:spPr>
          <a:xfrm>
            <a:off x="8439912" y="1938528"/>
            <a:ext cx="3017520" cy="219456"/>
          </a:xfrm>
          <a:prstGeom prst="rect">
            <a:avLst/>
          </a:prstGeom>
          <a:noFill/>
          <a:ln/>
        </p:spPr>
        <p:txBody>
          <a:bodyPr wrap="square" lIns="0" tIns="0" rIns="0" bIns="0" rtlCol="0" anchor="t"/>
          <a:lstStyle/>
          <a:p>
            <a:pPr indent="0" marL="0">
              <a:buNone/>
            </a:pPr>
            <a:r>
              <a:rPr lang="en-US" sz="1000" b="1" spc="150" kern="0" dirty="0">
                <a:solidFill>
                  <a:srgbClr val="39D0C3"/>
                </a:solidFill>
                <a:latin typeface="Arial" pitchFamily="34" charset="0"/>
                <a:ea typeface="Arial" pitchFamily="34" charset="-122"/>
                <a:cs typeface="Arial" pitchFamily="34" charset="-120"/>
              </a:rPr>
              <a:t>AFTER THE RACE</a:t>
            </a:r>
            <a:endParaRPr lang="en-US" sz="1000" dirty="0"/>
          </a:p>
        </p:txBody>
      </p:sp>
      <p:sp>
        <p:nvSpPr>
          <p:cNvPr id="22" name="Text 19"/>
          <p:cNvSpPr txBox="1"/>
          <p:nvPr/>
        </p:nvSpPr>
        <p:spPr>
          <a:xfrm>
            <a:off x="8439912" y="2212848"/>
            <a:ext cx="3017520" cy="457200"/>
          </a:xfrm>
          <a:prstGeom prst="rect">
            <a:avLst/>
          </a:prstGeom>
          <a:noFill/>
          <a:ln/>
        </p:spPr>
        <p:txBody>
          <a:bodyPr wrap="square" lIns="0" tIns="0" rIns="0" bIns="0" rtlCol="0" anchor="t"/>
          <a:lstStyle/>
          <a:p>
            <a:pPr indent="0" marL="0">
              <a:buNone/>
            </a:pPr>
            <a:r>
              <a:rPr lang="en-US" sz="2400" b="1" dirty="0">
                <a:solidFill>
                  <a:srgbClr val="F3F6FA"/>
                </a:solidFill>
                <a:latin typeface="Arial" pitchFamily="34" charset="0"/>
                <a:ea typeface="Arial" pitchFamily="34" charset="-122"/>
                <a:cs typeface="Arial" pitchFamily="34" charset="-120"/>
              </a:rPr>
              <a:t>Audit</a:t>
            </a:r>
            <a:endParaRPr lang="en-US" sz="2400" dirty="0"/>
          </a:p>
        </p:txBody>
      </p:sp>
      <p:sp>
        <p:nvSpPr>
          <p:cNvPr id="23" name="Text 20"/>
          <p:cNvSpPr txBox="1"/>
          <p:nvPr/>
        </p:nvSpPr>
        <p:spPr>
          <a:xfrm>
            <a:off x="8439912" y="2743200"/>
            <a:ext cx="3017520" cy="1097280"/>
          </a:xfrm>
          <a:prstGeom prst="rect">
            <a:avLst/>
          </a:prstGeom>
          <a:noFill/>
          <a:ln/>
        </p:spPr>
        <p:txBody>
          <a:bodyPr wrap="square" lIns="0" tIns="0" rIns="0" bIns="0" rtlCol="0" anchor="t"/>
          <a:lstStyle/>
          <a:p>
            <a:pPr indent="0" marL="0">
              <a:buNone/>
            </a:pPr>
            <a:r>
              <a:rPr lang="en-US" sz="1300" dirty="0">
                <a:solidFill>
                  <a:srgbClr val="98A3B3"/>
                </a:solidFill>
                <a:latin typeface="Arial" pitchFamily="34" charset="0"/>
                <a:ea typeface="Arial" pitchFamily="34" charset="-122"/>
                <a:cs typeface="Arial" pitchFamily="34" charset="-120"/>
              </a:rPr>
              <a:t>Replay the driver’s own race with a different stop on the 3D Race Twin; score every forecast against the race.</a:t>
            </a:r>
            <a:endParaRPr lang="en-US" sz="1300" dirty="0"/>
          </a:p>
        </p:txBody>
      </p:sp>
      <p:sp>
        <p:nvSpPr>
          <p:cNvPr id="24" name="Text 21"/>
          <p:cNvSpPr txBox="1"/>
          <p:nvPr/>
        </p:nvSpPr>
        <p:spPr>
          <a:xfrm>
            <a:off x="8439912" y="3931920"/>
            <a:ext cx="3017520" cy="274320"/>
          </a:xfrm>
          <a:prstGeom prst="rect">
            <a:avLst/>
          </a:prstGeom>
          <a:noFill/>
          <a:ln/>
        </p:spPr>
        <p:txBody>
          <a:bodyPr wrap="square" lIns="0" tIns="0" rIns="0" bIns="0" rtlCol="0" anchor="t"/>
          <a:lstStyle/>
          <a:p>
            <a:pPr indent="0" marL="0">
              <a:buNone/>
            </a:pPr>
            <a:r>
              <a:rPr lang="en-US" sz="1200" dirty="0">
                <a:solidFill>
                  <a:srgbClr val="8FE9DC"/>
                </a:solidFill>
                <a:latin typeface="Arial" pitchFamily="34" charset="0"/>
                <a:ea typeface="Arial" pitchFamily="34" charset="-122"/>
                <a:cs typeface="Arial" pitchFamily="34" charset="-120"/>
              </a:rPr>
              <a:t>Screens: Ghost Strategy, Validation</a:t>
            </a:r>
            <a:endParaRPr lang="en-US" sz="1200" dirty="0"/>
          </a:p>
        </p:txBody>
      </p:sp>
      <p:sp>
        <p:nvSpPr>
          <p:cNvPr id="25" name="Shape 22"/>
          <p:cNvSpPr/>
          <p:nvPr/>
        </p:nvSpPr>
        <p:spPr>
          <a:xfrm>
            <a:off x="548640" y="4617720"/>
            <a:ext cx="2651760" cy="1600200"/>
          </a:xfrm>
          <a:prstGeom prst="roundRect">
            <a:avLst>
              <a:gd name="adj" fmla="val 4571"/>
            </a:avLst>
          </a:prstGeom>
          <a:solidFill>
            <a:srgbClr val="11161E"/>
          </a:solidFill>
          <a:ln w="9525">
            <a:solidFill>
              <a:srgbClr val="272F3B"/>
            </a:solidFill>
            <a:prstDash val="solid"/>
          </a:ln>
        </p:spPr>
      </p:sp>
      <p:sp>
        <p:nvSpPr>
          <p:cNvPr id="26" name="Text 23"/>
          <p:cNvSpPr txBox="1"/>
          <p:nvPr/>
        </p:nvSpPr>
        <p:spPr>
          <a:xfrm>
            <a:off x="713232" y="4745736"/>
            <a:ext cx="2322576" cy="464820"/>
          </a:xfrm>
          <a:prstGeom prst="rect">
            <a:avLst/>
          </a:prstGeom>
          <a:noFill/>
          <a:ln/>
        </p:spPr>
        <p:txBody>
          <a:bodyPr wrap="square" lIns="0" tIns="0" rIns="0" bIns="0" rtlCol="0" anchor="b"/>
          <a:lstStyle/>
          <a:p>
            <a:pPr indent="0" marL="0">
              <a:buNone/>
            </a:pPr>
            <a:r>
              <a:rPr lang="en-US" sz="3000" b="1" dirty="0">
                <a:solidFill>
                  <a:srgbClr val="F3F6FA"/>
                </a:solidFill>
                <a:latin typeface="Arial" pitchFamily="34" charset="0"/>
                <a:ea typeface="Arial" pitchFamily="34" charset="-122"/>
                <a:cs typeface="Arial" pitchFamily="34" charset="-120"/>
              </a:rPr>
              <a:t>64 / 148</a:t>
            </a:r>
            <a:endParaRPr lang="en-US" sz="3000" dirty="0"/>
          </a:p>
        </p:txBody>
      </p:sp>
      <p:sp>
        <p:nvSpPr>
          <p:cNvPr id="27" name="Text 24"/>
          <p:cNvSpPr txBox="1"/>
          <p:nvPr/>
        </p:nvSpPr>
        <p:spPr>
          <a:xfrm>
            <a:off x="713232" y="5247132"/>
            <a:ext cx="232257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weekends / compound-weekends scored, 2023 to 2026, each held out</a:t>
            </a:r>
            <a:endParaRPr lang="en-US" sz="1200" dirty="0"/>
          </a:p>
        </p:txBody>
      </p:sp>
      <p:sp>
        <p:nvSpPr>
          <p:cNvPr id="28" name="Shape 25"/>
          <p:cNvSpPr/>
          <p:nvPr/>
        </p:nvSpPr>
        <p:spPr>
          <a:xfrm>
            <a:off x="3364992" y="4617720"/>
            <a:ext cx="2651760" cy="1600200"/>
          </a:xfrm>
          <a:prstGeom prst="roundRect">
            <a:avLst>
              <a:gd name="adj" fmla="val 4571"/>
            </a:avLst>
          </a:prstGeom>
          <a:solidFill>
            <a:srgbClr val="11161E"/>
          </a:solidFill>
          <a:ln w="9525">
            <a:solidFill>
              <a:srgbClr val="272F3B"/>
            </a:solidFill>
            <a:prstDash val="solid"/>
          </a:ln>
        </p:spPr>
      </p:sp>
      <p:sp>
        <p:nvSpPr>
          <p:cNvPr id="29" name="Text 26"/>
          <p:cNvSpPr txBox="1"/>
          <p:nvPr/>
        </p:nvSpPr>
        <p:spPr>
          <a:xfrm>
            <a:off x="3529584" y="4745736"/>
            <a:ext cx="2322576" cy="464820"/>
          </a:xfrm>
          <a:prstGeom prst="rect">
            <a:avLst/>
          </a:prstGeom>
          <a:noFill/>
          <a:ln/>
        </p:spPr>
        <p:txBody>
          <a:bodyPr wrap="square" lIns="0" tIns="0" rIns="0" bIns="0" rtlCol="0" anchor="b"/>
          <a:lstStyle/>
          <a:p>
            <a:pPr indent="0" marL="0">
              <a:buNone/>
            </a:pPr>
            <a:r>
              <a:rPr lang="en-US" sz="3000" b="1" dirty="0">
                <a:solidFill>
                  <a:srgbClr val="F3F6FA"/>
                </a:solidFill>
                <a:latin typeface="Arial" pitchFamily="34" charset="0"/>
                <a:ea typeface="Arial" pitchFamily="34" charset="-122"/>
                <a:cs typeface="Arial" pitchFamily="34" charset="-120"/>
              </a:rPr>
              <a:t>483</a:t>
            </a:r>
            <a:endParaRPr lang="en-US" sz="3000" dirty="0"/>
          </a:p>
        </p:txBody>
      </p:sp>
      <p:sp>
        <p:nvSpPr>
          <p:cNvPr id="30" name="Text 27"/>
          <p:cNvSpPr txBox="1"/>
          <p:nvPr/>
        </p:nvSpPr>
        <p:spPr>
          <a:xfrm>
            <a:off x="3529584" y="5247132"/>
            <a:ext cx="232257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prepared strategy simulations across ten 2026 races</a:t>
            </a:r>
            <a:endParaRPr lang="en-US" sz="1200" dirty="0"/>
          </a:p>
        </p:txBody>
      </p:sp>
      <p:sp>
        <p:nvSpPr>
          <p:cNvPr id="31" name="Shape 28"/>
          <p:cNvSpPr/>
          <p:nvPr/>
        </p:nvSpPr>
        <p:spPr>
          <a:xfrm>
            <a:off x="6181344" y="4617720"/>
            <a:ext cx="2651760" cy="1600200"/>
          </a:xfrm>
          <a:prstGeom prst="roundRect">
            <a:avLst>
              <a:gd name="adj" fmla="val 4571"/>
            </a:avLst>
          </a:prstGeom>
          <a:solidFill>
            <a:srgbClr val="11161E"/>
          </a:solidFill>
          <a:ln w="9525">
            <a:solidFill>
              <a:srgbClr val="272F3B"/>
            </a:solidFill>
            <a:prstDash val="solid"/>
          </a:ln>
        </p:spPr>
      </p:sp>
      <p:sp>
        <p:nvSpPr>
          <p:cNvPr id="32" name="Text 29"/>
          <p:cNvSpPr txBox="1"/>
          <p:nvPr/>
        </p:nvSpPr>
        <p:spPr>
          <a:xfrm>
            <a:off x="6345936" y="4745736"/>
            <a:ext cx="2322576" cy="464820"/>
          </a:xfrm>
          <a:prstGeom prst="rect">
            <a:avLst/>
          </a:prstGeom>
          <a:noFill/>
          <a:ln/>
        </p:spPr>
        <p:txBody>
          <a:bodyPr wrap="square" lIns="0" tIns="0" rIns="0" bIns="0" rtlCol="0" anchor="b"/>
          <a:lstStyle/>
          <a:p>
            <a:pPr indent="0" marL="0">
              <a:buNone/>
            </a:pPr>
            <a:r>
              <a:rPr lang="en-US" sz="3000" b="1" dirty="0">
                <a:solidFill>
                  <a:srgbClr val="F3F6FA"/>
                </a:solidFill>
                <a:latin typeface="Arial" pitchFamily="34" charset="0"/>
                <a:ea typeface="Arial" pitchFamily="34" charset="-122"/>
                <a:cs typeface="Arial" pitchFamily="34" charset="-120"/>
              </a:rPr>
              <a:t>58,569</a:t>
            </a:r>
            <a:endParaRPr lang="en-US" sz="3000" dirty="0"/>
          </a:p>
        </p:txBody>
      </p:sp>
      <p:sp>
        <p:nvSpPr>
          <p:cNvPr id="33" name="Text 30"/>
          <p:cNvSpPr txBox="1"/>
          <p:nvPr/>
        </p:nvSpPr>
        <p:spPr>
          <a:xfrm>
            <a:off x="6345936" y="5247132"/>
            <a:ext cx="232257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forecast origins the learned model is trained and tested on</a:t>
            </a:r>
            <a:endParaRPr lang="en-US" sz="1200" dirty="0"/>
          </a:p>
        </p:txBody>
      </p:sp>
      <p:sp>
        <p:nvSpPr>
          <p:cNvPr id="34" name="Shape 31"/>
          <p:cNvSpPr/>
          <p:nvPr/>
        </p:nvSpPr>
        <p:spPr>
          <a:xfrm>
            <a:off x="8997696" y="4617720"/>
            <a:ext cx="2651760" cy="1600200"/>
          </a:xfrm>
          <a:prstGeom prst="roundRect">
            <a:avLst>
              <a:gd name="adj" fmla="val 4571"/>
            </a:avLst>
          </a:prstGeom>
          <a:solidFill>
            <a:srgbClr val="11161E"/>
          </a:solidFill>
          <a:ln w="9525">
            <a:solidFill>
              <a:srgbClr val="272F3B"/>
            </a:solidFill>
            <a:prstDash val="solid"/>
          </a:ln>
        </p:spPr>
      </p:sp>
      <p:sp>
        <p:nvSpPr>
          <p:cNvPr id="35" name="Text 32"/>
          <p:cNvSpPr txBox="1"/>
          <p:nvPr/>
        </p:nvSpPr>
        <p:spPr>
          <a:xfrm>
            <a:off x="9162288" y="4745736"/>
            <a:ext cx="2322576" cy="464820"/>
          </a:xfrm>
          <a:prstGeom prst="rect">
            <a:avLst/>
          </a:prstGeom>
          <a:noFill/>
          <a:ln/>
        </p:spPr>
        <p:txBody>
          <a:bodyPr wrap="square" lIns="0" tIns="0" rIns="0" bIns="0" rtlCol="0" anchor="b"/>
          <a:lstStyle/>
          <a:p>
            <a:pPr indent="0" marL="0">
              <a:buNone/>
            </a:pPr>
            <a:r>
              <a:rPr lang="en-US" sz="3000" b="1" dirty="0">
                <a:solidFill>
                  <a:srgbClr val="F0B84B"/>
                </a:solidFill>
                <a:latin typeface="Arial" pitchFamily="34" charset="0"/>
                <a:ea typeface="Arial" pitchFamily="34" charset="-122"/>
                <a:cs typeface="Arial" pitchFamily="34" charset="-120"/>
              </a:rPr>
              <a:t>6</a:t>
            </a:r>
            <a:endParaRPr lang="en-US" sz="3000" dirty="0"/>
          </a:p>
        </p:txBody>
      </p:sp>
      <p:sp>
        <p:nvSpPr>
          <p:cNvPr id="36" name="Text 33"/>
          <p:cNvSpPr txBox="1"/>
          <p:nvPr/>
        </p:nvSpPr>
        <p:spPr>
          <a:xfrm>
            <a:off x="9162288" y="5247132"/>
            <a:ext cx="232257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whole weekends sealed before tuning, opened once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THE SCIENCE  ·  1 OF 3</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How a lap is cleaned</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The same regression on practice and race, so the Friday-to-Sunday ratio is a property of the data</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4</a:t>
            </a:r>
            <a:endParaRPr lang="en-US" sz="900" dirty="0"/>
          </a:p>
        </p:txBody>
      </p:sp>
      <p:sp>
        <p:nvSpPr>
          <p:cNvPr id="8" name="Shape 5"/>
          <p:cNvSpPr/>
          <p:nvPr/>
        </p:nvSpPr>
        <p:spPr>
          <a:xfrm>
            <a:off x="548640" y="1837944"/>
            <a:ext cx="329184" cy="329184"/>
          </a:xfrm>
          <a:prstGeom prst="ellipse">
            <a:avLst/>
          </a:prstGeom>
          <a:solidFill>
            <a:srgbClr val="39D0C3"/>
          </a:solidFill>
          <a:ln w="12700">
            <a:solidFill>
              <a:srgbClr val="39D0C3"/>
            </a:solidFill>
            <a:prstDash val="solid"/>
          </a:ln>
        </p:spPr>
      </p:sp>
      <p:sp>
        <p:nvSpPr>
          <p:cNvPr id="9" name="Text 6"/>
          <p:cNvSpPr txBox="1"/>
          <p:nvPr/>
        </p:nvSpPr>
        <p:spPr>
          <a:xfrm>
            <a:off x="548640" y="1837944"/>
            <a:ext cx="329184" cy="329184"/>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1</a:t>
            </a:r>
            <a:endParaRPr lang="en-US" sz="1200" dirty="0"/>
          </a:p>
        </p:txBody>
      </p:sp>
      <p:sp>
        <p:nvSpPr>
          <p:cNvPr id="10" name="Text 7"/>
          <p:cNvSpPr txBox="1"/>
          <p:nvPr/>
        </p:nvSpPr>
        <p:spPr>
          <a:xfrm>
            <a:off x="1051560" y="1810512"/>
            <a:ext cx="5943600" cy="804672"/>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Drop what cannot inform the tyre. </a:t>
            </a:r>
            <a:pPr indent="0" marL="0">
              <a:buNone/>
            </a:pPr>
            <a:r>
              <a:rPr lang="en-US" sz="1400" dirty="0">
                <a:solidFill>
                  <a:srgbClr val="98A3B3"/>
                </a:solidFill>
                <a:latin typeface="Arial" pitchFamily="34" charset="0"/>
                <a:ea typeface="Arial" pitchFamily="34" charset="-122"/>
                <a:cs typeface="Arial" pitchFamily="34" charset="-120"/>
              </a:rPr>
              <a:t>pit, yellow and safety-car laps, deleted laps, laps with over 30% of the distance within 60 m of a car, runs under five laps, broken telemetry; every drop listed with its reason</a:t>
            </a:r>
            <a:endParaRPr lang="en-US" sz="1400" dirty="0"/>
          </a:p>
        </p:txBody>
      </p:sp>
      <p:sp>
        <p:nvSpPr>
          <p:cNvPr id="11" name="Shape 8"/>
          <p:cNvSpPr/>
          <p:nvPr/>
        </p:nvSpPr>
        <p:spPr>
          <a:xfrm>
            <a:off x="548640" y="2706624"/>
            <a:ext cx="329184" cy="329184"/>
          </a:xfrm>
          <a:prstGeom prst="ellipse">
            <a:avLst/>
          </a:prstGeom>
          <a:solidFill>
            <a:srgbClr val="39D0C3"/>
          </a:solidFill>
          <a:ln w="12700">
            <a:solidFill>
              <a:srgbClr val="39D0C3"/>
            </a:solidFill>
            <a:prstDash val="solid"/>
          </a:ln>
        </p:spPr>
      </p:sp>
      <p:sp>
        <p:nvSpPr>
          <p:cNvPr id="12" name="Text 9"/>
          <p:cNvSpPr txBox="1"/>
          <p:nvPr/>
        </p:nvSpPr>
        <p:spPr>
          <a:xfrm>
            <a:off x="548640" y="2706624"/>
            <a:ext cx="329184" cy="329184"/>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2</a:t>
            </a:r>
            <a:endParaRPr lang="en-US" sz="1200" dirty="0"/>
          </a:p>
        </p:txBody>
      </p:sp>
      <p:sp>
        <p:nvSpPr>
          <p:cNvPr id="13" name="Text 10"/>
          <p:cNvSpPr txBox="1"/>
          <p:nvPr/>
        </p:nvSpPr>
        <p:spPr>
          <a:xfrm>
            <a:off x="1051560" y="2679192"/>
            <a:ext cx="5943600" cy="804672"/>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Compare each run only to itself. </a:t>
            </a:r>
            <a:pPr indent="0" marL="0">
              <a:buNone/>
            </a:pPr>
            <a:r>
              <a:rPr lang="en-US" sz="1400" dirty="0">
                <a:solidFill>
                  <a:srgbClr val="98A3B3"/>
                </a:solidFill>
                <a:latin typeface="Arial" pitchFamily="34" charset="0"/>
                <a:ea typeface="Arial" pitchFamily="34" charset="-122"/>
                <a:cs typeface="Arial" pitchFamily="34" charset="-120"/>
              </a:rPr>
              <a:t>one constant per stint absorbs driver, car, set-up and fuel load (stint fixed effects)</a:t>
            </a:r>
            <a:endParaRPr lang="en-US" sz="1400" dirty="0"/>
          </a:p>
        </p:txBody>
      </p:sp>
      <p:sp>
        <p:nvSpPr>
          <p:cNvPr id="14" name="Shape 11"/>
          <p:cNvSpPr/>
          <p:nvPr/>
        </p:nvSpPr>
        <p:spPr>
          <a:xfrm>
            <a:off x="548640" y="3575304"/>
            <a:ext cx="329184" cy="329184"/>
          </a:xfrm>
          <a:prstGeom prst="ellipse">
            <a:avLst/>
          </a:prstGeom>
          <a:solidFill>
            <a:srgbClr val="39D0C3"/>
          </a:solidFill>
          <a:ln w="12700">
            <a:solidFill>
              <a:srgbClr val="39D0C3"/>
            </a:solidFill>
            <a:prstDash val="solid"/>
          </a:ln>
        </p:spPr>
      </p:sp>
      <p:sp>
        <p:nvSpPr>
          <p:cNvPr id="15" name="Text 12"/>
          <p:cNvSpPr txBox="1"/>
          <p:nvPr/>
        </p:nvSpPr>
        <p:spPr>
          <a:xfrm>
            <a:off x="548640" y="3575304"/>
            <a:ext cx="329184" cy="329184"/>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3</a:t>
            </a:r>
            <a:endParaRPr lang="en-US" sz="1200" dirty="0"/>
          </a:p>
        </p:txBody>
      </p:sp>
      <p:sp>
        <p:nvSpPr>
          <p:cNvPr id="16" name="Text 13"/>
          <p:cNvSpPr txBox="1"/>
          <p:nvPr/>
        </p:nvSpPr>
        <p:spPr>
          <a:xfrm>
            <a:off x="1051560" y="3547872"/>
            <a:ext cx="5943600" cy="804672"/>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Subtract the fuel effect. </a:t>
            </a:r>
            <a:pPr indent="0" marL="0">
              <a:buNone/>
            </a:pPr>
            <a:r>
              <a:rPr lang="en-US" sz="1400" dirty="0">
                <a:solidFill>
                  <a:srgbClr val="98A3B3"/>
                </a:solidFill>
                <a:latin typeface="Arial" pitchFamily="34" charset="0"/>
                <a:ea typeface="Arial" pitchFamily="34" charset="-122"/>
                <a:cs typeface="Arial" pitchFamily="34" charset="-120"/>
              </a:rPr>
              <a:t>a stated prior: 1.1 kg per lap at 0.03 s per kg in 2026; not estimated from practice, where fuel and tyre age move together</a:t>
            </a:r>
            <a:endParaRPr lang="en-US" sz="1400" dirty="0"/>
          </a:p>
        </p:txBody>
      </p:sp>
      <p:sp>
        <p:nvSpPr>
          <p:cNvPr id="17" name="Shape 14"/>
          <p:cNvSpPr/>
          <p:nvPr/>
        </p:nvSpPr>
        <p:spPr>
          <a:xfrm>
            <a:off x="548640" y="4443984"/>
            <a:ext cx="329184" cy="329184"/>
          </a:xfrm>
          <a:prstGeom prst="ellipse">
            <a:avLst/>
          </a:prstGeom>
          <a:solidFill>
            <a:srgbClr val="39D0C3"/>
          </a:solidFill>
          <a:ln w="12700">
            <a:solidFill>
              <a:srgbClr val="39D0C3"/>
            </a:solidFill>
            <a:prstDash val="solid"/>
          </a:ln>
        </p:spPr>
      </p:sp>
      <p:sp>
        <p:nvSpPr>
          <p:cNvPr id="18" name="Text 15"/>
          <p:cNvSpPr txBox="1"/>
          <p:nvPr/>
        </p:nvSpPr>
        <p:spPr>
          <a:xfrm>
            <a:off x="548640" y="4443984"/>
            <a:ext cx="329184" cy="329184"/>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4</a:t>
            </a:r>
            <a:endParaRPr lang="en-US" sz="1200" dirty="0"/>
          </a:p>
        </p:txBody>
      </p:sp>
      <p:sp>
        <p:nvSpPr>
          <p:cNvPr id="19" name="Text 16"/>
          <p:cNvSpPr txBox="1"/>
          <p:nvPr/>
        </p:nvSpPr>
        <p:spPr>
          <a:xfrm>
            <a:off x="1051560" y="4416552"/>
            <a:ext cx="5943600" cy="804672"/>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Subtract track evolution. </a:t>
            </a:r>
            <a:pPr indent="0" marL="0">
              <a:buNone/>
            </a:pPr>
            <a:r>
              <a:rPr lang="en-US" sz="1400" dirty="0">
                <a:solidFill>
                  <a:srgbClr val="98A3B3"/>
                </a:solidFill>
                <a:latin typeface="Arial" pitchFamily="34" charset="0"/>
                <a:ea typeface="Arial" pitchFamily="34" charset="-122"/>
                <a:cs typeface="Arial" pitchFamily="34" charset="-120"/>
              </a:rPr>
              <a:t>measured per session from every driver’s push laps against session time</a:t>
            </a:r>
            <a:endParaRPr lang="en-US" sz="1400" dirty="0"/>
          </a:p>
        </p:txBody>
      </p:sp>
      <p:sp>
        <p:nvSpPr>
          <p:cNvPr id="20" name="Shape 17"/>
          <p:cNvSpPr/>
          <p:nvPr/>
        </p:nvSpPr>
        <p:spPr>
          <a:xfrm>
            <a:off x="548640" y="5312664"/>
            <a:ext cx="329184" cy="329184"/>
          </a:xfrm>
          <a:prstGeom prst="ellipse">
            <a:avLst/>
          </a:prstGeom>
          <a:solidFill>
            <a:srgbClr val="39D0C3"/>
          </a:solidFill>
          <a:ln w="12700">
            <a:solidFill>
              <a:srgbClr val="39D0C3"/>
            </a:solidFill>
            <a:prstDash val="solid"/>
          </a:ln>
        </p:spPr>
      </p:sp>
      <p:sp>
        <p:nvSpPr>
          <p:cNvPr id="21" name="Text 18"/>
          <p:cNvSpPr txBox="1"/>
          <p:nvPr/>
        </p:nvSpPr>
        <p:spPr>
          <a:xfrm>
            <a:off x="548640" y="5312664"/>
            <a:ext cx="329184" cy="329184"/>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5</a:t>
            </a:r>
            <a:endParaRPr lang="en-US" sz="1200" dirty="0"/>
          </a:p>
        </p:txBody>
      </p:sp>
      <p:sp>
        <p:nvSpPr>
          <p:cNvPr id="22" name="Text 19"/>
          <p:cNvSpPr txBox="1"/>
          <p:nvPr/>
        </p:nvSpPr>
        <p:spPr>
          <a:xfrm>
            <a:off x="1051560" y="5285232"/>
            <a:ext cx="5943600" cy="804672"/>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What is left is the tyre. </a:t>
            </a:r>
            <a:pPr indent="0" marL="0">
              <a:buNone/>
            </a:pPr>
            <a:r>
              <a:rPr lang="en-US" sz="1400" dirty="0">
                <a:solidFill>
                  <a:srgbClr val="98A3B3"/>
                </a:solidFill>
                <a:latin typeface="Arial" pitchFamily="34" charset="0"/>
                <a:ea typeface="Arial" pitchFamily="34" charset="-122"/>
                <a:cs typeface="Arial" pitchFamily="34" charset="-120"/>
              </a:rPr>
              <a:t>seconds lost per lap of age, per compound, with a standard error</a:t>
            </a:r>
            <a:endParaRPr lang="en-US" sz="1400" dirty="0"/>
          </a:p>
        </p:txBody>
      </p:sp>
      <p:sp>
        <p:nvSpPr>
          <p:cNvPr id="23" name="Shape 20"/>
          <p:cNvSpPr/>
          <p:nvPr/>
        </p:nvSpPr>
        <p:spPr>
          <a:xfrm>
            <a:off x="7315200" y="1783080"/>
            <a:ext cx="4325112" cy="4434840"/>
          </a:xfrm>
          <a:prstGeom prst="roundRect">
            <a:avLst>
              <a:gd name="adj" fmla="val 1691"/>
            </a:avLst>
          </a:prstGeom>
          <a:solidFill>
            <a:srgbClr val="11161E"/>
          </a:solidFill>
          <a:ln w="9525">
            <a:solidFill>
              <a:srgbClr val="272F3B"/>
            </a:solidFill>
            <a:prstDash val="solid"/>
          </a:ln>
        </p:spPr>
      </p:sp>
      <p:sp>
        <p:nvSpPr>
          <p:cNvPr id="24" name="Text 21"/>
          <p:cNvSpPr txBox="1"/>
          <p:nvPr/>
        </p:nvSpPr>
        <p:spPr>
          <a:xfrm>
            <a:off x="7543800" y="1938528"/>
            <a:ext cx="3931920" cy="219456"/>
          </a:xfrm>
          <a:prstGeom prst="rect">
            <a:avLst/>
          </a:prstGeom>
          <a:noFill/>
          <a:ln/>
        </p:spPr>
        <p:txBody>
          <a:bodyPr wrap="square" lIns="0" tIns="0" rIns="0" bIns="0" rtlCol="0" anchor="t"/>
          <a:lstStyle/>
          <a:p>
            <a:pPr indent="0" marL="0">
              <a:buNone/>
            </a:pPr>
            <a:r>
              <a:rPr lang="en-US" sz="1000" b="1" spc="150" kern="0" dirty="0">
                <a:solidFill>
                  <a:srgbClr val="98A3B3"/>
                </a:solidFill>
                <a:latin typeface="Arial" pitchFamily="34" charset="0"/>
                <a:ea typeface="Arial" pitchFamily="34" charset="-122"/>
                <a:cs typeface="Arial" pitchFamily="34" charset="-120"/>
              </a:rPr>
              <a:t>HUNGARY 2026 · MEDIUM · S PER LAP OF AGE</a:t>
            </a:r>
            <a:endParaRPr lang="en-US" sz="1000" dirty="0"/>
          </a:p>
        </p:txBody>
      </p:sp>
      <p:sp>
        <p:nvSpPr>
          <p:cNvPr id="25" name="Text 22"/>
          <p:cNvSpPr txBox="1"/>
          <p:nvPr/>
        </p:nvSpPr>
        <p:spPr>
          <a:xfrm>
            <a:off x="7543800" y="2331720"/>
            <a:ext cx="1737360" cy="566928"/>
          </a:xfrm>
          <a:prstGeom prst="rect">
            <a:avLst/>
          </a:prstGeom>
          <a:noFill/>
          <a:ln/>
        </p:spPr>
        <p:txBody>
          <a:bodyPr wrap="square" lIns="0" tIns="0" rIns="0" bIns="0" rtlCol="0" anchor="t"/>
          <a:lstStyle/>
          <a:p>
            <a:pPr indent="0" marL="0">
              <a:buNone/>
            </a:pPr>
            <a:r>
              <a:rPr lang="en-US" sz="3600" b="1" dirty="0">
                <a:solidFill>
                  <a:srgbClr val="98A3B3"/>
                </a:solidFill>
                <a:latin typeface="Arial" pitchFamily="34" charset="0"/>
                <a:ea typeface="Arial" pitchFamily="34" charset="-122"/>
                <a:cs typeface="Arial" pitchFamily="34" charset="-120"/>
              </a:rPr>
              <a:t>0.285</a:t>
            </a:r>
            <a:endParaRPr lang="en-US" sz="3600" dirty="0"/>
          </a:p>
        </p:txBody>
      </p:sp>
      <p:sp>
        <p:nvSpPr>
          <p:cNvPr id="26" name="Text 23"/>
          <p:cNvSpPr txBox="1"/>
          <p:nvPr/>
        </p:nvSpPr>
        <p:spPr>
          <a:xfrm>
            <a:off x="9326880" y="2404872"/>
            <a:ext cx="2148840" cy="566928"/>
          </a:xfrm>
          <a:prstGeom prst="rect">
            <a:avLst/>
          </a:prstGeom>
          <a:noFill/>
          <a:ln/>
        </p:spPr>
        <p:txBody>
          <a:bodyPr wrap="square" lIns="0" tIns="0" rIns="0" bIns="0" rtlCol="0" anchor="ctr"/>
          <a:lstStyle/>
          <a:p>
            <a:pPr indent="0" marL="0">
              <a:buNone/>
            </a:pPr>
            <a:r>
              <a:rPr lang="en-US" sz="1300" dirty="0">
                <a:solidFill>
                  <a:srgbClr val="98A3B3"/>
                </a:solidFill>
                <a:latin typeface="Arial" pitchFamily="34" charset="0"/>
                <a:ea typeface="Arial" pitchFamily="34" charset="-122"/>
                <a:cs typeface="Arial" pitchFamily="34" charset="-120"/>
              </a:rPr>
              <a:t>Straight line through Friday laps</a:t>
            </a:r>
            <a:endParaRPr lang="en-US" sz="1300" dirty="0"/>
          </a:p>
        </p:txBody>
      </p:sp>
      <p:sp>
        <p:nvSpPr>
          <p:cNvPr id="27" name="Text 24"/>
          <p:cNvSpPr txBox="1"/>
          <p:nvPr/>
        </p:nvSpPr>
        <p:spPr>
          <a:xfrm>
            <a:off x="7543800" y="3264408"/>
            <a:ext cx="1737360" cy="566928"/>
          </a:xfrm>
          <a:prstGeom prst="rect">
            <a:avLst/>
          </a:prstGeom>
          <a:noFill/>
          <a:ln/>
        </p:spPr>
        <p:txBody>
          <a:bodyPr wrap="square" lIns="0" tIns="0" rIns="0" bIns="0" rtlCol="0" anchor="t"/>
          <a:lstStyle/>
          <a:p>
            <a:pPr indent="0" marL="0">
              <a:buNone/>
            </a:pPr>
            <a:r>
              <a:rPr lang="en-US" sz="3600" b="1" dirty="0">
                <a:solidFill>
                  <a:srgbClr val="39D0C3"/>
                </a:solidFill>
                <a:latin typeface="Arial" pitchFamily="34" charset="0"/>
                <a:ea typeface="Arial" pitchFamily="34" charset="-122"/>
                <a:cs typeface="Arial" pitchFamily="34" charset="-120"/>
              </a:rPr>
              <a:t>0.122</a:t>
            </a:r>
            <a:endParaRPr lang="en-US" sz="3600" dirty="0"/>
          </a:p>
        </p:txBody>
      </p:sp>
      <p:sp>
        <p:nvSpPr>
          <p:cNvPr id="28" name="Text 25"/>
          <p:cNvSpPr txBox="1"/>
          <p:nvPr/>
        </p:nvSpPr>
        <p:spPr>
          <a:xfrm>
            <a:off x="9326880" y="3337560"/>
            <a:ext cx="2148840" cy="566928"/>
          </a:xfrm>
          <a:prstGeom prst="rect">
            <a:avLst/>
          </a:prstGeom>
          <a:noFill/>
          <a:ln/>
        </p:spPr>
        <p:txBody>
          <a:bodyPr wrap="square" lIns="0" tIns="0" rIns="0" bIns="0" rtlCol="0" anchor="ctr"/>
          <a:lstStyle/>
          <a:p>
            <a:pPr indent="0" marL="0">
              <a:buNone/>
            </a:pPr>
            <a:r>
              <a:rPr lang="en-US" sz="1300" dirty="0">
                <a:solidFill>
                  <a:srgbClr val="98A3B3"/>
                </a:solidFill>
                <a:latin typeface="Arial" pitchFamily="34" charset="0"/>
                <a:ea typeface="Arial" pitchFamily="34" charset="-122"/>
                <a:cs typeface="Arial" pitchFamily="34" charset="-120"/>
              </a:rPr>
              <a:t>After cleaning</a:t>
            </a:r>
            <a:endParaRPr lang="en-US" sz="1300" dirty="0"/>
          </a:p>
        </p:txBody>
      </p:sp>
      <p:sp>
        <p:nvSpPr>
          <p:cNvPr id="29" name="Text 26"/>
          <p:cNvSpPr txBox="1"/>
          <p:nvPr/>
        </p:nvSpPr>
        <p:spPr>
          <a:xfrm>
            <a:off x="7543800" y="4197096"/>
            <a:ext cx="1737360" cy="566928"/>
          </a:xfrm>
          <a:prstGeom prst="rect">
            <a:avLst/>
          </a:prstGeom>
          <a:noFill/>
          <a:ln/>
        </p:spPr>
        <p:txBody>
          <a:bodyPr wrap="square" lIns="0" tIns="0" rIns="0" bIns="0" rtlCol="0" anchor="t"/>
          <a:lstStyle/>
          <a:p>
            <a:pPr indent="0" marL="0">
              <a:buNone/>
            </a:pPr>
            <a:r>
              <a:rPr lang="en-US" sz="3600" b="1" dirty="0">
                <a:solidFill>
                  <a:srgbClr val="F2C230"/>
                </a:solidFill>
                <a:latin typeface="Arial" pitchFamily="34" charset="0"/>
                <a:ea typeface="Arial" pitchFamily="34" charset="-122"/>
                <a:cs typeface="Arial" pitchFamily="34" charset="-120"/>
              </a:rPr>
              <a:t>0.058</a:t>
            </a:r>
            <a:endParaRPr lang="en-US" sz="3600" dirty="0"/>
          </a:p>
        </p:txBody>
      </p:sp>
      <p:sp>
        <p:nvSpPr>
          <p:cNvPr id="30" name="Text 27"/>
          <p:cNvSpPr txBox="1"/>
          <p:nvPr/>
        </p:nvSpPr>
        <p:spPr>
          <a:xfrm>
            <a:off x="9326880" y="4270248"/>
            <a:ext cx="2148840" cy="566928"/>
          </a:xfrm>
          <a:prstGeom prst="rect">
            <a:avLst/>
          </a:prstGeom>
          <a:noFill/>
          <a:ln/>
        </p:spPr>
        <p:txBody>
          <a:bodyPr wrap="square" lIns="0" tIns="0" rIns="0" bIns="0" rtlCol="0" anchor="ctr"/>
          <a:lstStyle/>
          <a:p>
            <a:pPr indent="0" marL="0">
              <a:buNone/>
            </a:pPr>
            <a:r>
              <a:rPr lang="en-US" sz="1300" dirty="0">
                <a:solidFill>
                  <a:srgbClr val="98A3B3"/>
                </a:solidFill>
                <a:latin typeface="Arial" pitchFamily="34" charset="0"/>
                <a:ea typeface="Arial" pitchFamily="34" charset="-122"/>
                <a:cs typeface="Arial" pitchFamily="34" charset="-120"/>
              </a:rPr>
              <a:t>× held-out Sunday ratio 0.47</a:t>
            </a:r>
            <a:endParaRPr lang="en-US" sz="1300" dirty="0"/>
          </a:p>
        </p:txBody>
      </p:sp>
      <p:sp>
        <p:nvSpPr>
          <p:cNvPr id="31" name="Text 28"/>
          <p:cNvSpPr txBox="1"/>
          <p:nvPr/>
        </p:nvSpPr>
        <p:spPr>
          <a:xfrm>
            <a:off x="7543800" y="5129784"/>
            <a:ext cx="1737360" cy="566928"/>
          </a:xfrm>
          <a:prstGeom prst="rect">
            <a:avLst/>
          </a:prstGeom>
          <a:noFill/>
          <a:ln/>
        </p:spPr>
        <p:txBody>
          <a:bodyPr wrap="square" lIns="0" tIns="0" rIns="0" bIns="0" rtlCol="0" anchor="t"/>
          <a:lstStyle/>
          <a:p>
            <a:pPr indent="0" marL="0">
              <a:buNone/>
            </a:pPr>
            <a:r>
              <a:rPr lang="en-US" sz="3600" b="1" dirty="0">
                <a:solidFill>
                  <a:srgbClr val="F3F6FA"/>
                </a:solidFill>
                <a:latin typeface="Arial" pitchFamily="34" charset="0"/>
                <a:ea typeface="Arial" pitchFamily="34" charset="-122"/>
                <a:cs typeface="Arial" pitchFamily="34" charset="-120"/>
              </a:rPr>
              <a:t>0.042</a:t>
            </a:r>
            <a:endParaRPr lang="en-US" sz="3600" dirty="0"/>
          </a:p>
        </p:txBody>
      </p:sp>
      <p:sp>
        <p:nvSpPr>
          <p:cNvPr id="32" name="Text 29"/>
          <p:cNvSpPr txBox="1"/>
          <p:nvPr/>
        </p:nvSpPr>
        <p:spPr>
          <a:xfrm>
            <a:off x="9326880" y="5202936"/>
            <a:ext cx="2148840" cy="566928"/>
          </a:xfrm>
          <a:prstGeom prst="rect">
            <a:avLst/>
          </a:prstGeom>
          <a:noFill/>
          <a:ln/>
        </p:spPr>
        <p:txBody>
          <a:bodyPr wrap="square" lIns="0" tIns="0" rIns="0" bIns="0" rtlCol="0" anchor="ctr"/>
          <a:lstStyle/>
          <a:p>
            <a:pPr indent="0" marL="0">
              <a:buNone/>
            </a:pPr>
            <a:r>
              <a:rPr lang="en-US" sz="1300" dirty="0">
                <a:solidFill>
                  <a:srgbClr val="98A3B3"/>
                </a:solidFill>
                <a:latin typeface="Arial" pitchFamily="34" charset="0"/>
                <a:ea typeface="Arial" pitchFamily="34" charset="-122"/>
                <a:cs typeface="Arial" pitchFamily="34" charset="-120"/>
              </a:rPr>
              <a:t>Race, same estimator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THE SCIENCE  ·  2 OF 3</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The fifth confounder is the driver’s push</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Tyre demand per lap from the public 3.7 Hz traces: m × (∫v²κ ds + ∫|dv| v)</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5</a:t>
            </a:r>
            <a:endParaRPr lang="en-US" sz="900" dirty="0"/>
          </a:p>
        </p:txBody>
      </p:sp>
      <p:pic>
        <p:nvPicPr>
          <p:cNvPr id="8" name="Image 0" descr="/Users/samuelmorningstar/Trackshift/proto/out/fig_push.png">    </p:cNvPr>
          <p:cNvPicPr>
            <a:picLocks noChangeAspect="1"/>
          </p:cNvPicPr>
          <p:nvPr/>
        </p:nvPicPr>
        <p:blipFill>
          <a:blip r:embed="rId1"/>
          <a:stretch>
            <a:fillRect/>
          </a:stretch>
        </p:blipFill>
        <p:spPr>
          <a:xfrm>
            <a:off x="548640" y="1783080"/>
            <a:ext cx="6309360" cy="4003401"/>
          </a:xfrm>
          <a:prstGeom prst="rect">
            <a:avLst/>
          </a:prstGeom>
        </p:spPr>
      </p:pic>
      <p:sp>
        <p:nvSpPr>
          <p:cNvPr id="9" name="Shape 5"/>
          <p:cNvSpPr/>
          <p:nvPr/>
        </p:nvSpPr>
        <p:spPr>
          <a:xfrm>
            <a:off x="7132320" y="1783080"/>
            <a:ext cx="4507992" cy="4434840"/>
          </a:xfrm>
          <a:prstGeom prst="roundRect">
            <a:avLst>
              <a:gd name="adj" fmla="val 1649"/>
            </a:avLst>
          </a:prstGeom>
          <a:solidFill>
            <a:srgbClr val="11161E"/>
          </a:solidFill>
          <a:ln w="9525">
            <a:solidFill>
              <a:srgbClr val="272F3B"/>
            </a:solidFill>
            <a:prstDash val="solid"/>
          </a:ln>
        </p:spPr>
      </p:sp>
      <p:sp>
        <p:nvSpPr>
          <p:cNvPr id="10" name="Text 6"/>
          <p:cNvSpPr txBox="1"/>
          <p:nvPr/>
        </p:nvSpPr>
        <p:spPr>
          <a:xfrm>
            <a:off x="7360920" y="1938528"/>
            <a:ext cx="1920240" cy="526796"/>
          </a:xfrm>
          <a:prstGeom prst="rect">
            <a:avLst/>
          </a:prstGeom>
          <a:noFill/>
          <a:ln/>
        </p:spPr>
        <p:txBody>
          <a:bodyPr wrap="square" lIns="0" tIns="0" rIns="0" bIns="0" rtlCol="0" anchor="b"/>
          <a:lstStyle/>
          <a:p>
            <a:pPr indent="0" marL="0">
              <a:buNone/>
            </a:pPr>
            <a:r>
              <a:rPr lang="en-US" sz="3400" b="1" dirty="0">
                <a:solidFill>
                  <a:srgbClr val="F0B84B"/>
                </a:solidFill>
                <a:latin typeface="Arial" pitchFamily="34" charset="0"/>
                <a:ea typeface="Arial" pitchFamily="34" charset="-122"/>
                <a:cs typeface="Arial" pitchFamily="34" charset="-120"/>
              </a:rPr>
              <a:t>+0.10</a:t>
            </a:r>
            <a:endParaRPr lang="en-US" sz="3400" dirty="0"/>
          </a:p>
        </p:txBody>
      </p:sp>
      <p:sp>
        <p:nvSpPr>
          <p:cNvPr id="11" name="Text 7"/>
          <p:cNvSpPr txBox="1"/>
          <p:nvPr/>
        </p:nvSpPr>
        <p:spPr>
          <a:xfrm>
            <a:off x="7360920" y="2501900"/>
            <a:ext cx="1920240"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MJ per lap of age, median energy trend, withheld compounds</a:t>
            </a:r>
            <a:endParaRPr lang="en-US" sz="1200" dirty="0"/>
          </a:p>
        </p:txBody>
      </p:sp>
      <p:sp>
        <p:nvSpPr>
          <p:cNvPr id="12" name="Text 8"/>
          <p:cNvSpPr txBox="1"/>
          <p:nvPr/>
        </p:nvSpPr>
        <p:spPr>
          <a:xfrm>
            <a:off x="9464040" y="1938528"/>
            <a:ext cx="1920240" cy="526796"/>
          </a:xfrm>
          <a:prstGeom prst="rect">
            <a:avLst/>
          </a:prstGeom>
          <a:noFill/>
          <a:ln/>
        </p:spPr>
        <p:txBody>
          <a:bodyPr wrap="square" lIns="0" tIns="0" rIns="0" bIns="0" rtlCol="0" anchor="b"/>
          <a:lstStyle/>
          <a:p>
            <a:pPr indent="0" marL="0">
              <a:buNone/>
            </a:pPr>
            <a:r>
              <a:rPr lang="en-US" sz="3400" b="1" dirty="0">
                <a:solidFill>
                  <a:srgbClr val="39D0C3"/>
                </a:solidFill>
                <a:latin typeface="Arial" pitchFamily="34" charset="0"/>
                <a:ea typeface="Arial" pitchFamily="34" charset="-122"/>
                <a:cs typeface="Arial" pitchFamily="34" charset="-120"/>
              </a:rPr>
              <a:t>0.00</a:t>
            </a:r>
            <a:endParaRPr lang="en-US" sz="3400" dirty="0"/>
          </a:p>
        </p:txBody>
      </p:sp>
      <p:sp>
        <p:nvSpPr>
          <p:cNvPr id="13" name="Text 9"/>
          <p:cNvSpPr txBox="1"/>
          <p:nvPr/>
        </p:nvSpPr>
        <p:spPr>
          <a:xfrm>
            <a:off x="9464040" y="2501900"/>
            <a:ext cx="1920240"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MJ per lap of age, issued compounds</a:t>
            </a:r>
            <a:endParaRPr lang="en-US" sz="1200" dirty="0"/>
          </a:p>
        </p:txBody>
      </p:sp>
      <p:sp>
        <p:nvSpPr>
          <p:cNvPr id="14" name="Shape 10"/>
          <p:cNvSpPr/>
          <p:nvPr/>
        </p:nvSpPr>
        <p:spPr>
          <a:xfrm>
            <a:off x="7379208" y="3496056"/>
            <a:ext cx="64008" cy="64008"/>
          </a:xfrm>
          <a:prstGeom prst="ellipse">
            <a:avLst/>
          </a:prstGeom>
          <a:solidFill>
            <a:srgbClr val="39D0C3"/>
          </a:solidFill>
          <a:ln w="12700">
            <a:solidFill>
              <a:srgbClr val="39D0C3"/>
            </a:solidFill>
            <a:prstDash val="solid"/>
          </a:ln>
        </p:spPr>
      </p:sp>
      <p:sp>
        <p:nvSpPr>
          <p:cNvPr id="15" name="Text 11"/>
          <p:cNvSpPr txBox="1"/>
          <p:nvPr/>
        </p:nvSpPr>
        <p:spPr>
          <a:xfrm>
            <a:off x="7580376" y="3429000"/>
            <a:ext cx="38496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Wrong-way cleaned slopes: 9 of 9 came with rising energy.</a:t>
            </a:r>
            <a:endParaRPr lang="en-US" sz="1300" dirty="0"/>
          </a:p>
        </p:txBody>
      </p:sp>
      <p:sp>
        <p:nvSpPr>
          <p:cNvPr id="16" name="Shape 12"/>
          <p:cNvSpPr/>
          <p:nvPr/>
        </p:nvSpPr>
        <p:spPr>
          <a:xfrm>
            <a:off x="7379208" y="3993896"/>
            <a:ext cx="64008" cy="64008"/>
          </a:xfrm>
          <a:prstGeom prst="ellipse">
            <a:avLst/>
          </a:prstGeom>
          <a:solidFill>
            <a:srgbClr val="39D0C3"/>
          </a:solidFill>
          <a:ln w="12700">
            <a:solidFill>
              <a:srgbClr val="39D0C3"/>
            </a:solidFill>
            <a:prstDash val="solid"/>
          </a:ln>
        </p:spPr>
      </p:sp>
      <p:sp>
        <p:nvSpPr>
          <p:cNvPr id="17" name="Text 13"/>
          <p:cNvSpPr txBox="1"/>
          <p:nvPr/>
        </p:nvSpPr>
        <p:spPr>
          <a:xfrm>
            <a:off x="7580376" y="3926840"/>
            <a:ext cx="3849624" cy="61264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Push profile explains about two-thirds of the pooled gap on 16 issued cases; per-case shares vary widely.</a:t>
            </a:r>
            <a:endParaRPr lang="en-US" sz="1300" dirty="0"/>
          </a:p>
        </p:txBody>
      </p:sp>
      <p:sp>
        <p:nvSpPr>
          <p:cNvPr id="18" name="Shape 14"/>
          <p:cNvSpPr/>
          <p:nvPr/>
        </p:nvSpPr>
        <p:spPr>
          <a:xfrm>
            <a:off x="7379208" y="4689856"/>
            <a:ext cx="64008" cy="64008"/>
          </a:xfrm>
          <a:prstGeom prst="ellipse">
            <a:avLst/>
          </a:prstGeom>
          <a:solidFill>
            <a:srgbClr val="39D0C3"/>
          </a:solidFill>
          <a:ln w="12700">
            <a:solidFill>
              <a:srgbClr val="39D0C3"/>
            </a:solidFill>
            <a:prstDash val="solid"/>
          </a:ln>
        </p:spPr>
      </p:sp>
      <p:sp>
        <p:nvSpPr>
          <p:cNvPr id="19" name="Text 15"/>
          <p:cNvSpPr txBox="1"/>
          <p:nvPr/>
        </p:nvSpPr>
        <p:spPr>
          <a:xfrm>
            <a:off x="7580376" y="4622800"/>
            <a:ext cx="38496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Practice and race energy coefficients differ by at most 0.01 s/MJ at Austria and Barcelona.</a:t>
            </a:r>
            <a:endParaRPr lang="en-US" sz="1300" dirty="0"/>
          </a:p>
        </p:txBody>
      </p:sp>
      <p:sp>
        <p:nvSpPr>
          <p:cNvPr id="20" name="Shape 16"/>
          <p:cNvSpPr/>
          <p:nvPr/>
        </p:nvSpPr>
        <p:spPr>
          <a:xfrm>
            <a:off x="7379208" y="5187696"/>
            <a:ext cx="64008" cy="64008"/>
          </a:xfrm>
          <a:prstGeom prst="ellipse">
            <a:avLst/>
          </a:prstGeom>
          <a:solidFill>
            <a:srgbClr val="39D0C3"/>
          </a:solidFill>
          <a:ln w="12700">
            <a:solidFill>
              <a:srgbClr val="39D0C3"/>
            </a:solidFill>
            <a:prstDash val="solid"/>
          </a:ln>
        </p:spPr>
      </p:sp>
      <p:sp>
        <p:nvSpPr>
          <p:cNvPr id="21" name="Text 17"/>
          <p:cNvSpPr txBox="1"/>
          <p:nvPr/>
        </p:nvSpPr>
        <p:spPr>
          <a:xfrm>
            <a:off x="7580376" y="5120640"/>
            <a:ext cx="38496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Diagnostic and second opinion, not the predictor.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THE SCIENCE  ·  3 OF 3</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Learn the second lie, and refuse honestly</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Transfer factors learned leave-one-weekend-out; a withheld curve is still a forecast</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6</a:t>
            </a:r>
            <a:endParaRPr lang="en-US" sz="900" dirty="0"/>
          </a:p>
        </p:txBody>
      </p:sp>
      <p:sp>
        <p:nvSpPr>
          <p:cNvPr id="8" name="Shape 5"/>
          <p:cNvSpPr/>
          <p:nvPr/>
        </p:nvSpPr>
        <p:spPr>
          <a:xfrm>
            <a:off x="548640" y="1783080"/>
            <a:ext cx="5577840" cy="2011680"/>
          </a:xfrm>
          <a:prstGeom prst="roundRect">
            <a:avLst>
              <a:gd name="adj" fmla="val 3636"/>
            </a:avLst>
          </a:prstGeom>
          <a:solidFill>
            <a:srgbClr val="11161E"/>
          </a:solidFill>
          <a:ln w="9525">
            <a:solidFill>
              <a:srgbClr val="272F3B"/>
            </a:solidFill>
            <a:prstDash val="solid"/>
          </a:ln>
        </p:spPr>
      </p:sp>
      <p:sp>
        <p:nvSpPr>
          <p:cNvPr id="9" name="Text 6"/>
          <p:cNvSpPr txBox="1"/>
          <p:nvPr/>
        </p:nvSpPr>
        <p:spPr>
          <a:xfrm>
            <a:off x="777240" y="1938528"/>
            <a:ext cx="5120640" cy="219456"/>
          </a:xfrm>
          <a:prstGeom prst="rect">
            <a:avLst/>
          </a:prstGeom>
          <a:noFill/>
          <a:ln/>
        </p:spPr>
        <p:txBody>
          <a:bodyPr wrap="square" lIns="0" tIns="0" rIns="0" bIns="0" rtlCol="0" anchor="t"/>
          <a:lstStyle/>
          <a:p>
            <a:pPr indent="0" marL="0">
              <a:buNone/>
            </a:pPr>
            <a:r>
              <a:rPr lang="en-US" sz="1000" b="1" spc="150" kern="0" dirty="0">
                <a:solidFill>
                  <a:srgbClr val="98A3B3"/>
                </a:solidFill>
                <a:latin typeface="Arial" pitchFamily="34" charset="0"/>
                <a:ea typeface="Arial" pitchFamily="34" charset="-122"/>
                <a:cs typeface="Arial" pitchFamily="34" charset="-120"/>
              </a:rPr>
              <a:t>SEASON TRANSFER FACTOR · RACE ÷ CLEANED FRIDAY</a:t>
            </a:r>
            <a:endParaRPr lang="en-US" sz="1000" dirty="0"/>
          </a:p>
        </p:txBody>
      </p:sp>
      <p:sp>
        <p:nvSpPr>
          <p:cNvPr id="10" name="Shape 7"/>
          <p:cNvSpPr/>
          <p:nvPr/>
        </p:nvSpPr>
        <p:spPr>
          <a:xfrm>
            <a:off x="777240" y="2304288"/>
            <a:ext cx="384048" cy="384048"/>
          </a:xfrm>
          <a:prstGeom prst="ellipse">
            <a:avLst/>
          </a:prstGeom>
          <a:solidFill>
            <a:srgbClr val="090C11"/>
          </a:solidFill>
          <a:ln w="31750">
            <a:solidFill>
              <a:srgbClr val="E10600"/>
            </a:solidFill>
            <a:prstDash val="solid"/>
          </a:ln>
        </p:spPr>
      </p:sp>
      <p:sp>
        <p:nvSpPr>
          <p:cNvPr id="11" name="Text 8"/>
          <p:cNvSpPr txBox="1"/>
          <p:nvPr/>
        </p:nvSpPr>
        <p:spPr>
          <a:xfrm>
            <a:off x="777240" y="2304288"/>
            <a:ext cx="384048" cy="384048"/>
          </a:xfrm>
          <a:prstGeom prst="rect">
            <a:avLst/>
          </a:prstGeom>
          <a:noFill/>
          <a:ln/>
        </p:spPr>
        <p:txBody>
          <a:bodyPr wrap="square" lIns="0" tIns="0" rIns="0" bIns="0" rtlCol="0" anchor="ctr"/>
          <a:lstStyle/>
          <a:p>
            <a:pPr algn="ctr" indent="0" marL="0">
              <a:buNone/>
            </a:pPr>
            <a:r>
              <a:rPr lang="en-US" sz="1300" b="1" dirty="0">
                <a:solidFill>
                  <a:srgbClr val="F3F6FA"/>
                </a:solidFill>
                <a:latin typeface="Arial" pitchFamily="34" charset="0"/>
                <a:ea typeface="Arial" pitchFamily="34" charset="-122"/>
                <a:cs typeface="Arial" pitchFamily="34" charset="-120"/>
              </a:rPr>
              <a:t>S</a:t>
            </a:r>
            <a:endParaRPr lang="en-US" sz="1300" dirty="0"/>
          </a:p>
        </p:txBody>
      </p:sp>
      <p:sp>
        <p:nvSpPr>
          <p:cNvPr id="12" name="Text 9"/>
          <p:cNvSpPr txBox="1"/>
          <p:nvPr/>
        </p:nvSpPr>
        <p:spPr>
          <a:xfrm>
            <a:off x="1252728" y="2249424"/>
            <a:ext cx="1280160" cy="457200"/>
          </a:xfrm>
          <a:prstGeom prst="rect">
            <a:avLst/>
          </a:prstGeom>
          <a:noFill/>
          <a:ln/>
        </p:spPr>
        <p:txBody>
          <a:bodyPr wrap="square" lIns="0" tIns="0" rIns="0" bIns="0" rtlCol="0" anchor="ctr"/>
          <a:lstStyle/>
          <a:p>
            <a:pPr indent="0" marL="0">
              <a:buNone/>
            </a:pPr>
            <a:r>
              <a:rPr lang="en-US" sz="2600" b="1" dirty="0">
                <a:solidFill>
                  <a:srgbClr val="F3F6FA"/>
                </a:solidFill>
                <a:latin typeface="Arial" pitchFamily="34" charset="0"/>
                <a:ea typeface="Arial" pitchFamily="34" charset="-122"/>
                <a:cs typeface="Arial" pitchFamily="34" charset="-120"/>
              </a:rPr>
              <a:t>×0.97</a:t>
            </a:r>
            <a:endParaRPr lang="en-US" sz="2600" dirty="0"/>
          </a:p>
        </p:txBody>
      </p:sp>
      <p:sp>
        <p:nvSpPr>
          <p:cNvPr id="13" name="Text 10"/>
          <p:cNvSpPr txBox="1"/>
          <p:nvPr/>
        </p:nvSpPr>
        <p:spPr>
          <a:xfrm>
            <a:off x="1252728" y="2724912"/>
            <a:ext cx="1280160" cy="2743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Soft</a:t>
            </a:r>
            <a:endParaRPr lang="en-US" sz="1200" dirty="0"/>
          </a:p>
        </p:txBody>
      </p:sp>
      <p:sp>
        <p:nvSpPr>
          <p:cNvPr id="14" name="Shape 11"/>
          <p:cNvSpPr/>
          <p:nvPr/>
        </p:nvSpPr>
        <p:spPr>
          <a:xfrm>
            <a:off x="2560320" y="2304288"/>
            <a:ext cx="384048" cy="384048"/>
          </a:xfrm>
          <a:prstGeom prst="ellipse">
            <a:avLst/>
          </a:prstGeom>
          <a:solidFill>
            <a:srgbClr val="090C11"/>
          </a:solidFill>
          <a:ln w="31750">
            <a:solidFill>
              <a:srgbClr val="F2C230"/>
            </a:solidFill>
            <a:prstDash val="solid"/>
          </a:ln>
        </p:spPr>
      </p:sp>
      <p:sp>
        <p:nvSpPr>
          <p:cNvPr id="15" name="Text 12"/>
          <p:cNvSpPr txBox="1"/>
          <p:nvPr/>
        </p:nvSpPr>
        <p:spPr>
          <a:xfrm>
            <a:off x="2560320" y="2304288"/>
            <a:ext cx="384048" cy="384048"/>
          </a:xfrm>
          <a:prstGeom prst="rect">
            <a:avLst/>
          </a:prstGeom>
          <a:noFill/>
          <a:ln/>
        </p:spPr>
        <p:txBody>
          <a:bodyPr wrap="square" lIns="0" tIns="0" rIns="0" bIns="0" rtlCol="0" anchor="ctr"/>
          <a:lstStyle/>
          <a:p>
            <a:pPr algn="ctr" indent="0" marL="0">
              <a:buNone/>
            </a:pPr>
            <a:r>
              <a:rPr lang="en-US" sz="1300" b="1" dirty="0">
                <a:solidFill>
                  <a:srgbClr val="F3F6FA"/>
                </a:solidFill>
                <a:latin typeface="Arial" pitchFamily="34" charset="0"/>
                <a:ea typeface="Arial" pitchFamily="34" charset="-122"/>
                <a:cs typeface="Arial" pitchFamily="34" charset="-120"/>
              </a:rPr>
              <a:t>M</a:t>
            </a:r>
            <a:endParaRPr lang="en-US" sz="1300" dirty="0"/>
          </a:p>
        </p:txBody>
      </p:sp>
      <p:sp>
        <p:nvSpPr>
          <p:cNvPr id="16" name="Text 13"/>
          <p:cNvSpPr txBox="1"/>
          <p:nvPr/>
        </p:nvSpPr>
        <p:spPr>
          <a:xfrm>
            <a:off x="3035808" y="2249424"/>
            <a:ext cx="1280160" cy="457200"/>
          </a:xfrm>
          <a:prstGeom prst="rect">
            <a:avLst/>
          </a:prstGeom>
          <a:noFill/>
          <a:ln/>
        </p:spPr>
        <p:txBody>
          <a:bodyPr wrap="square" lIns="0" tIns="0" rIns="0" bIns="0" rtlCol="0" anchor="ctr"/>
          <a:lstStyle/>
          <a:p>
            <a:pPr indent="0" marL="0">
              <a:buNone/>
            </a:pPr>
            <a:r>
              <a:rPr lang="en-US" sz="2600" b="1" dirty="0">
                <a:solidFill>
                  <a:srgbClr val="F3F6FA"/>
                </a:solidFill>
                <a:latin typeface="Arial" pitchFamily="34" charset="0"/>
                <a:ea typeface="Arial" pitchFamily="34" charset="-122"/>
                <a:cs typeface="Arial" pitchFamily="34" charset="-120"/>
              </a:rPr>
              <a:t>×0.45</a:t>
            </a:r>
            <a:endParaRPr lang="en-US" sz="2600" dirty="0"/>
          </a:p>
        </p:txBody>
      </p:sp>
      <p:sp>
        <p:nvSpPr>
          <p:cNvPr id="17" name="Text 14"/>
          <p:cNvSpPr txBox="1"/>
          <p:nvPr/>
        </p:nvSpPr>
        <p:spPr>
          <a:xfrm>
            <a:off x="3035808" y="2724912"/>
            <a:ext cx="1280160" cy="2743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Medium</a:t>
            </a:r>
            <a:endParaRPr lang="en-US" sz="1200" dirty="0"/>
          </a:p>
        </p:txBody>
      </p:sp>
      <p:sp>
        <p:nvSpPr>
          <p:cNvPr id="18" name="Shape 15"/>
          <p:cNvSpPr/>
          <p:nvPr/>
        </p:nvSpPr>
        <p:spPr>
          <a:xfrm>
            <a:off x="4343400" y="2304288"/>
            <a:ext cx="384048" cy="384048"/>
          </a:xfrm>
          <a:prstGeom prst="ellipse">
            <a:avLst/>
          </a:prstGeom>
          <a:solidFill>
            <a:srgbClr val="090C11"/>
          </a:solidFill>
          <a:ln w="31750">
            <a:solidFill>
              <a:srgbClr val="D9DEE5"/>
            </a:solidFill>
            <a:prstDash val="solid"/>
          </a:ln>
        </p:spPr>
      </p:sp>
      <p:sp>
        <p:nvSpPr>
          <p:cNvPr id="19" name="Text 16"/>
          <p:cNvSpPr txBox="1"/>
          <p:nvPr/>
        </p:nvSpPr>
        <p:spPr>
          <a:xfrm>
            <a:off x="4343400" y="2304288"/>
            <a:ext cx="384048" cy="384048"/>
          </a:xfrm>
          <a:prstGeom prst="rect">
            <a:avLst/>
          </a:prstGeom>
          <a:noFill/>
          <a:ln/>
        </p:spPr>
        <p:txBody>
          <a:bodyPr wrap="square" lIns="0" tIns="0" rIns="0" bIns="0" rtlCol="0" anchor="ctr"/>
          <a:lstStyle/>
          <a:p>
            <a:pPr algn="ctr" indent="0" marL="0">
              <a:buNone/>
            </a:pPr>
            <a:r>
              <a:rPr lang="en-US" sz="1300" b="1" dirty="0">
                <a:solidFill>
                  <a:srgbClr val="F3F6FA"/>
                </a:solidFill>
                <a:latin typeface="Arial" pitchFamily="34" charset="0"/>
                <a:ea typeface="Arial" pitchFamily="34" charset="-122"/>
                <a:cs typeface="Arial" pitchFamily="34" charset="-120"/>
              </a:rPr>
              <a:t>H</a:t>
            </a:r>
            <a:endParaRPr lang="en-US" sz="1300" dirty="0"/>
          </a:p>
        </p:txBody>
      </p:sp>
      <p:sp>
        <p:nvSpPr>
          <p:cNvPr id="20" name="Text 17"/>
          <p:cNvSpPr txBox="1"/>
          <p:nvPr/>
        </p:nvSpPr>
        <p:spPr>
          <a:xfrm>
            <a:off x="4818888" y="2249424"/>
            <a:ext cx="1280160" cy="457200"/>
          </a:xfrm>
          <a:prstGeom prst="rect">
            <a:avLst/>
          </a:prstGeom>
          <a:noFill/>
          <a:ln/>
        </p:spPr>
        <p:txBody>
          <a:bodyPr wrap="square" lIns="0" tIns="0" rIns="0" bIns="0" rtlCol="0" anchor="ctr"/>
          <a:lstStyle/>
          <a:p>
            <a:pPr indent="0" marL="0">
              <a:buNone/>
            </a:pPr>
            <a:r>
              <a:rPr lang="en-US" sz="1500" b="1" dirty="0">
                <a:solidFill>
                  <a:srgbClr val="F3F6FA"/>
                </a:solidFill>
                <a:latin typeface="Arial" pitchFamily="34" charset="0"/>
                <a:ea typeface="Arial" pitchFamily="34" charset="-122"/>
                <a:cs typeface="Arial" pitchFamily="34" charset="-120"/>
              </a:rPr>
              <a:t>not applied</a:t>
            </a:r>
            <a:endParaRPr lang="en-US" sz="1500" dirty="0"/>
          </a:p>
        </p:txBody>
      </p:sp>
      <p:sp>
        <p:nvSpPr>
          <p:cNvPr id="21" name="Text 18"/>
          <p:cNvSpPr txBox="1"/>
          <p:nvPr/>
        </p:nvSpPr>
        <p:spPr>
          <a:xfrm>
            <a:off x="4818888" y="2724912"/>
            <a:ext cx="1280160" cy="2743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Hard</a:t>
            </a:r>
            <a:endParaRPr lang="en-US" sz="1200" dirty="0"/>
          </a:p>
        </p:txBody>
      </p:sp>
      <p:sp>
        <p:nvSpPr>
          <p:cNvPr id="22" name="Text 19"/>
          <p:cNvSpPr txBox="1"/>
          <p:nvPr/>
        </p:nvSpPr>
        <p:spPr>
          <a:xfrm>
            <a:off x="777240" y="3200400"/>
            <a:ext cx="5120640" cy="45720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applied only when at least three weekends exist and most sit within ±50% of their median</a:t>
            </a:r>
            <a:endParaRPr lang="en-US" sz="1200" dirty="0"/>
          </a:p>
        </p:txBody>
      </p:sp>
      <p:sp>
        <p:nvSpPr>
          <p:cNvPr id="23" name="Shape 20"/>
          <p:cNvSpPr/>
          <p:nvPr/>
        </p:nvSpPr>
        <p:spPr>
          <a:xfrm>
            <a:off x="548640" y="3931920"/>
            <a:ext cx="5577840" cy="2286000"/>
          </a:xfrm>
          <a:prstGeom prst="roundRect">
            <a:avLst>
              <a:gd name="adj" fmla="val 3200"/>
            </a:avLst>
          </a:prstGeom>
          <a:solidFill>
            <a:srgbClr val="11161E"/>
          </a:solidFill>
          <a:ln w="9525">
            <a:solidFill>
              <a:srgbClr val="272F3B"/>
            </a:solidFill>
            <a:prstDash val="solid"/>
          </a:ln>
        </p:spPr>
      </p:sp>
      <p:sp>
        <p:nvSpPr>
          <p:cNvPr id="24" name="Text 21"/>
          <p:cNvSpPr txBox="1"/>
          <p:nvPr/>
        </p:nvSpPr>
        <p:spPr>
          <a:xfrm>
            <a:off x="777240" y="4087368"/>
            <a:ext cx="5120640" cy="219456"/>
          </a:xfrm>
          <a:prstGeom prst="rect">
            <a:avLst/>
          </a:prstGeom>
          <a:noFill/>
          <a:ln/>
        </p:spPr>
        <p:txBody>
          <a:bodyPr wrap="square" lIns="0" tIns="0" rIns="0" bIns="0" rtlCol="0" anchor="t"/>
          <a:lstStyle/>
          <a:p>
            <a:pPr indent="0" marL="0">
              <a:buNone/>
            </a:pPr>
            <a:r>
              <a:rPr lang="en-US" sz="1000" b="1" spc="150" kern="0" dirty="0">
                <a:solidFill>
                  <a:srgbClr val="98A3B3"/>
                </a:solidFill>
                <a:latin typeface="Arial" pitchFamily="34" charset="0"/>
                <a:ea typeface="Arial" pitchFamily="34" charset="-122"/>
                <a:cs typeface="Arial" pitchFamily="34" charset="-120"/>
              </a:rPr>
              <a:t>THE GATE AND THE FALLBACK</a:t>
            </a:r>
            <a:endParaRPr lang="en-US" sz="1000" dirty="0"/>
          </a:p>
        </p:txBody>
      </p:sp>
      <p:sp>
        <p:nvSpPr>
          <p:cNvPr id="25" name="Shape 22"/>
          <p:cNvSpPr/>
          <p:nvPr/>
        </p:nvSpPr>
        <p:spPr>
          <a:xfrm>
            <a:off x="795528" y="4456176"/>
            <a:ext cx="64008" cy="64008"/>
          </a:xfrm>
          <a:prstGeom prst="ellipse">
            <a:avLst/>
          </a:prstGeom>
          <a:solidFill>
            <a:srgbClr val="39D0C3"/>
          </a:solidFill>
          <a:ln w="12700">
            <a:solidFill>
              <a:srgbClr val="39D0C3"/>
            </a:solidFill>
            <a:prstDash val="solid"/>
          </a:ln>
        </p:spPr>
      </p:sp>
      <p:sp>
        <p:nvSpPr>
          <p:cNvPr id="26" name="Text 23"/>
          <p:cNvSpPr txBox="1"/>
          <p:nvPr/>
        </p:nvSpPr>
        <p:spPr>
          <a:xfrm>
            <a:off x="996696" y="4389120"/>
            <a:ext cx="494690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Issue a curve only with 30+ clean long-run laps and a cleaned slope above +0.02 s/lap</a:t>
            </a:r>
            <a:endParaRPr lang="en-US" sz="1300" dirty="0"/>
          </a:p>
        </p:txBody>
      </p:sp>
      <p:sp>
        <p:nvSpPr>
          <p:cNvPr id="27" name="Shape 24"/>
          <p:cNvSpPr/>
          <p:nvPr/>
        </p:nvSpPr>
        <p:spPr>
          <a:xfrm>
            <a:off x="795528" y="4928616"/>
            <a:ext cx="64008" cy="64008"/>
          </a:xfrm>
          <a:prstGeom prst="ellipse">
            <a:avLst/>
          </a:prstGeom>
          <a:solidFill>
            <a:srgbClr val="39D0C3"/>
          </a:solidFill>
          <a:ln w="12700">
            <a:solidFill>
              <a:srgbClr val="39D0C3"/>
            </a:solidFill>
            <a:prstDash val="solid"/>
          </a:ln>
        </p:spPr>
      </p:sp>
      <p:sp>
        <p:nvSpPr>
          <p:cNvPr id="28" name="Text 25"/>
          <p:cNvSpPr txBox="1"/>
          <p:nvPr/>
        </p:nvSpPr>
        <p:spPr>
          <a:xfrm>
            <a:off x="996696" y="4861560"/>
            <a:ext cx="494690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Otherwise withhold, and forecast the median race degradation of the other withheld cases</a:t>
            </a:r>
            <a:endParaRPr lang="en-US" sz="1300" dirty="0"/>
          </a:p>
        </p:txBody>
      </p:sp>
      <p:sp>
        <p:nvSpPr>
          <p:cNvPr id="29" name="Shape 26"/>
          <p:cNvSpPr/>
          <p:nvPr/>
        </p:nvSpPr>
        <p:spPr>
          <a:xfrm>
            <a:off x="795528" y="5401056"/>
            <a:ext cx="64008" cy="64008"/>
          </a:xfrm>
          <a:prstGeom prst="ellipse">
            <a:avLst/>
          </a:prstGeom>
          <a:solidFill>
            <a:srgbClr val="39D0C3"/>
          </a:solidFill>
          <a:ln w="12700">
            <a:solidFill>
              <a:srgbClr val="39D0C3"/>
            </a:solidFill>
            <a:prstDash val="solid"/>
          </a:ln>
        </p:spPr>
      </p:sp>
      <p:sp>
        <p:nvSpPr>
          <p:cNvPr id="30" name="Text 27"/>
          <p:cNvSpPr txBox="1"/>
          <p:nvPr/>
        </p:nvSpPr>
        <p:spPr>
          <a:xfrm>
            <a:off x="996696" y="5334000"/>
            <a:ext cx="4946904" cy="61264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Withheld compounds degraded at a median 0.028 s/lap in the race; 11 of 13 below 0.06; fallback band covered 9 of 13; fallback error 0.023 against 0.106 naive</a:t>
            </a:r>
            <a:endParaRPr lang="en-US" sz="1300" dirty="0"/>
          </a:p>
        </p:txBody>
      </p:sp>
      <p:pic>
        <p:nvPicPr>
          <p:cNvPr id="31" name="Image 0" descr="/Users/samuelmorningstar/Trackshift/proto/out/fig_withheld.png">    </p:cNvPr>
          <p:cNvPicPr>
            <a:picLocks noChangeAspect="1"/>
          </p:cNvPicPr>
          <p:nvPr/>
        </p:nvPicPr>
        <p:blipFill>
          <a:blip r:embed="rId1"/>
          <a:stretch>
            <a:fillRect/>
          </a:stretch>
        </p:blipFill>
        <p:spPr>
          <a:xfrm>
            <a:off x="6400800" y="1783080"/>
            <a:ext cx="5239512" cy="3143079"/>
          </a:xfrm>
          <a:prstGeom prst="rect">
            <a:avLst/>
          </a:prstGeom>
        </p:spPr>
      </p:pic>
      <p:sp>
        <p:nvSpPr>
          <p:cNvPr id="32" name="Text 28"/>
          <p:cNvSpPr txBox="1"/>
          <p:nvPr/>
        </p:nvSpPr>
        <p:spPr>
          <a:xfrm>
            <a:off x="6400800" y="4983480"/>
            <a:ext cx="5239512" cy="2743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Withheld compounds and what the race did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THE PROOF  ·  2026</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2600" b="1" dirty="0">
                <a:solidFill>
                  <a:srgbClr val="F3F6FA"/>
                </a:solidFill>
                <a:latin typeface="Arial" pitchFamily="34" charset="0"/>
                <a:ea typeface="Arial" pitchFamily="34" charset="-122"/>
                <a:cs typeface="Arial" pitchFamily="34" charset="-120"/>
              </a:rPr>
              <a:t>11 weekends, 29 compound-weekends, each one held out</a:t>
            </a:r>
            <a:endParaRPr lang="en-US" sz="26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Mean absolute error against the race-derived reference, s per lap of tyre age</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492240" cy="914400"/>
        </p:xfrm>
        <a:graphic>
          <a:graphicData uri="http://schemas.openxmlformats.org/drawingml/2006/table">
            <a:tbl>
              <a:tblPr/>
              <a:tblGrid>
                <a:gridCol w="3017520"/>
                <a:gridCol w="731520"/>
                <a:gridCol w="822960"/>
                <a:gridCol w="1188720"/>
                <a:gridCol w="731520"/>
              </a:tblGrid>
              <a:tr h="384048">
                <a:tc>
                  <a:txBody>
                    <a:bodyPr/>
                    <a:lstStyle/>
                    <a:p>
                      <a:pPr indent="0" marL="0">
                        <a:buNone/>
                      </a:pPr>
                      <a:r>
                        <a:rPr lang="en-US" sz="1300" b="1" dirty="0">
                          <a:solidFill>
                            <a:srgbClr val="98A3B3"/>
                          </a:solidFill>
                          <a:latin typeface="Arial" pitchFamily="34" charset="0"/>
                          <a:ea typeface="Arial" pitchFamily="34" charset="-122"/>
                          <a:cs typeface="Arial" pitchFamily="34" charset="-120"/>
                        </a:rPr>
                        <a:t>Predictor</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300" b="1" dirty="0">
                          <a:solidFill>
                            <a:srgbClr val="98A3B3"/>
                          </a:solidFill>
                          <a:latin typeface="Arial" pitchFamily="34" charset="0"/>
                          <a:ea typeface="Arial" pitchFamily="34" charset="-122"/>
                          <a:cs typeface="Arial" pitchFamily="34" charset="-120"/>
                        </a:rPr>
                        <a:t>Cases</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300" b="1" dirty="0">
                          <a:solidFill>
                            <a:srgbClr val="98A3B3"/>
                          </a:solidFill>
                          <a:latin typeface="Arial" pitchFamily="34" charset="0"/>
                          <a:ea typeface="Arial" pitchFamily="34" charset="-122"/>
                          <a:cs typeface="Arial" pitchFamily="34" charset="-120"/>
                        </a:rPr>
                        <a:t>MAE</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300" b="1" dirty="0">
                          <a:solidFill>
                            <a:srgbClr val="98A3B3"/>
                          </a:solidFill>
                          <a:latin typeface="Arial" pitchFamily="34" charset="0"/>
                          <a:ea typeface="Arial" pitchFamily="34" charset="-122"/>
                          <a:cs typeface="Arial" pitchFamily="34" charset="-120"/>
                        </a:rPr>
                        <a:t>Calib. slope</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300" b="1" dirty="0">
                          <a:solidFill>
                            <a:srgbClr val="98A3B3"/>
                          </a:solidFill>
                          <a:latin typeface="Arial" pitchFamily="34" charset="0"/>
                          <a:ea typeface="Arial" pitchFamily="34" charset="-122"/>
                          <a:cs typeface="Arial" pitchFamily="34" charset="-120"/>
                        </a:rPr>
                        <a:t>r</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r>
              <a:tr h="384048">
                <a:tc>
                  <a:txBody>
                    <a:bodyPr/>
                    <a:lstStyle/>
                    <a:p>
                      <a:pPr indent="0" marL="0">
                        <a:buNone/>
                      </a:pPr>
                      <a:r>
                        <a:rPr lang="en-US" sz="1300" dirty="0">
                          <a:solidFill>
                            <a:srgbClr val="F3F6FA"/>
                          </a:solidFill>
                          <a:latin typeface="Arial" pitchFamily="34" charset="0"/>
                          <a:ea typeface="Arial" pitchFamily="34" charset="-122"/>
                          <a:cs typeface="Arial" pitchFamily="34" charset="-120"/>
                        </a:rPr>
                        <a:t>Naive straight line</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29</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0.137</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+0.07</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0.20</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84048">
                <a:tc>
                  <a:txBody>
                    <a:bodyPr/>
                    <a:lstStyle/>
                    <a:p>
                      <a:pPr indent="0" marL="0">
                        <a:buNone/>
                      </a:pPr>
                      <a:r>
                        <a:rPr lang="en-US" sz="1300" dirty="0">
                          <a:solidFill>
                            <a:srgbClr val="F3F6FA"/>
                          </a:solidFill>
                          <a:latin typeface="Arial" pitchFamily="34" charset="0"/>
                          <a:ea typeface="Arial" pitchFamily="34" charset="-122"/>
                          <a:cs typeface="Arial" pitchFamily="34" charset="-120"/>
                        </a:rPr>
                        <a:t>Cleaned Friday curve, issued</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16</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0.045</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+0.45</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0.67</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84048">
                <a:tc>
                  <a:txBody>
                    <a:bodyPr/>
                    <a:lstStyle/>
                    <a:p>
                      <a:pPr indent="0" marL="0">
                        <a:buNone/>
                      </a:pPr>
                      <a:r>
                        <a:rPr lang="en-US" sz="1300" dirty="0">
                          <a:solidFill>
                            <a:srgbClr val="F3F6FA"/>
                          </a:solidFill>
                          <a:latin typeface="Arial" pitchFamily="34" charset="0"/>
                          <a:ea typeface="Arial" pitchFamily="34" charset="-122"/>
                          <a:cs typeface="Arial" pitchFamily="34" charset="-120"/>
                        </a:rPr>
                        <a:t>Orb v1, issued</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16</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0.023</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+0.76</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0.82</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84048">
                <a:tc>
                  <a:txBody>
                    <a:bodyPr/>
                    <a:lstStyle/>
                    <a:p>
                      <a:pPr indent="0" marL="0">
                        <a:buNone/>
                      </a:pPr>
                      <a:r>
                        <a:rPr lang="en-US" sz="1300" dirty="0">
                          <a:solidFill>
                            <a:srgbClr val="F3F6FA"/>
                          </a:solidFill>
                          <a:latin typeface="Arial" pitchFamily="34" charset="0"/>
                          <a:ea typeface="Arial" pitchFamily="34" charset="-122"/>
                          <a:cs typeface="Arial" pitchFamily="34" charset="-120"/>
                        </a:rPr>
                        <a:t>Orb v1, every case with fallback</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29</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0.023</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+0.77</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0.78</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bl>
          </a:graphicData>
        </a:graphic>
      </p:graphicFrame>
      <p:sp>
        <p:nvSpPr>
          <p:cNvPr id="9" name="Text 5"/>
          <p:cNvSpPr txBox="1"/>
          <p:nvPr/>
        </p:nvSpPr>
        <p:spPr>
          <a:xfrm>
            <a:off x="548640" y="3977640"/>
            <a:ext cx="1920240" cy="619760"/>
          </a:xfrm>
          <a:prstGeom prst="rect">
            <a:avLst/>
          </a:prstGeom>
          <a:noFill/>
          <a:ln/>
        </p:spPr>
        <p:txBody>
          <a:bodyPr wrap="square" lIns="0" tIns="0" rIns="0" bIns="0" rtlCol="0" anchor="b"/>
          <a:lstStyle/>
          <a:p>
            <a:pPr indent="0" marL="0">
              <a:buNone/>
            </a:pPr>
            <a:r>
              <a:rPr lang="en-US" sz="4000" b="1" dirty="0">
                <a:solidFill>
                  <a:srgbClr val="39D0C3"/>
                </a:solidFill>
                <a:latin typeface="Arial" pitchFamily="34" charset="0"/>
                <a:ea typeface="Arial" pitchFamily="34" charset="-122"/>
                <a:cs typeface="Arial" pitchFamily="34" charset="-120"/>
              </a:rPr>
              <a:t>28/29</a:t>
            </a:r>
            <a:endParaRPr lang="en-US" sz="4000" dirty="0"/>
          </a:p>
        </p:txBody>
      </p:sp>
      <p:sp>
        <p:nvSpPr>
          <p:cNvPr id="10" name="Text 6"/>
          <p:cNvSpPr txBox="1"/>
          <p:nvPr/>
        </p:nvSpPr>
        <p:spPr>
          <a:xfrm>
            <a:off x="548640" y="4633976"/>
            <a:ext cx="1920240"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cases where Orb v1 beats the naive line</a:t>
            </a:r>
            <a:endParaRPr lang="en-US" sz="1200" dirty="0"/>
          </a:p>
        </p:txBody>
      </p:sp>
      <p:sp>
        <p:nvSpPr>
          <p:cNvPr id="11" name="Text 7"/>
          <p:cNvSpPr txBox="1"/>
          <p:nvPr/>
        </p:nvSpPr>
        <p:spPr>
          <a:xfrm>
            <a:off x="2651760" y="3977640"/>
            <a:ext cx="2560320" cy="619760"/>
          </a:xfrm>
          <a:prstGeom prst="rect">
            <a:avLst/>
          </a:prstGeom>
          <a:noFill/>
          <a:ln/>
        </p:spPr>
        <p:txBody>
          <a:bodyPr wrap="square" lIns="0" tIns="0" rIns="0" bIns="0" rtlCol="0" anchor="b"/>
          <a:lstStyle/>
          <a:p>
            <a:pPr indent="0" marL="0">
              <a:buNone/>
            </a:pPr>
            <a:r>
              <a:rPr lang="en-US" sz="3000" b="1" dirty="0">
                <a:solidFill>
                  <a:srgbClr val="F3F6FA"/>
                </a:solidFill>
                <a:latin typeface="Arial" pitchFamily="34" charset="0"/>
                <a:ea typeface="Arial" pitchFamily="34" charset="-122"/>
                <a:cs typeface="Arial" pitchFamily="34" charset="-120"/>
              </a:rPr>
              <a:t>0.016 to 0.030</a:t>
            </a:r>
            <a:endParaRPr lang="en-US" sz="3000" dirty="0"/>
          </a:p>
        </p:txBody>
      </p:sp>
      <p:sp>
        <p:nvSpPr>
          <p:cNvPr id="12" name="Text 8"/>
          <p:cNvSpPr txBox="1"/>
          <p:nvPr/>
        </p:nvSpPr>
        <p:spPr>
          <a:xfrm>
            <a:off x="2651760" y="4633976"/>
            <a:ext cx="2560320"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90% bootstrap interval on the error</a:t>
            </a:r>
            <a:endParaRPr lang="en-US" sz="1200" dirty="0"/>
          </a:p>
        </p:txBody>
      </p:sp>
      <p:sp>
        <p:nvSpPr>
          <p:cNvPr id="13" name="Text 9"/>
          <p:cNvSpPr txBox="1"/>
          <p:nvPr/>
        </p:nvSpPr>
        <p:spPr>
          <a:xfrm>
            <a:off x="5394960" y="3977640"/>
            <a:ext cx="1645920" cy="619760"/>
          </a:xfrm>
          <a:prstGeom prst="rect">
            <a:avLst/>
          </a:prstGeom>
          <a:noFill/>
          <a:ln/>
        </p:spPr>
        <p:txBody>
          <a:bodyPr wrap="square" lIns="0" tIns="0" rIns="0" bIns="0" rtlCol="0" anchor="b"/>
          <a:lstStyle/>
          <a:p>
            <a:pPr indent="0" marL="0">
              <a:buNone/>
            </a:pPr>
            <a:r>
              <a:rPr lang="en-US" sz="4000" b="1" dirty="0">
                <a:solidFill>
                  <a:srgbClr val="F3F6FA"/>
                </a:solidFill>
                <a:latin typeface="Arial" pitchFamily="34" charset="0"/>
                <a:ea typeface="Arial" pitchFamily="34" charset="-122"/>
                <a:cs typeface="Arial" pitchFamily="34" charset="-120"/>
              </a:rPr>
              <a:t>11/13</a:t>
            </a:r>
            <a:endParaRPr lang="en-US" sz="4000" dirty="0"/>
          </a:p>
        </p:txBody>
      </p:sp>
      <p:sp>
        <p:nvSpPr>
          <p:cNvPr id="14" name="Text 10"/>
          <p:cNvSpPr txBox="1"/>
          <p:nvPr/>
        </p:nvSpPr>
        <p:spPr>
          <a:xfrm>
            <a:off x="5394960" y="4633976"/>
            <a:ext cx="1645920"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withheld cases below 0.06 s/lap in the race</a:t>
            </a:r>
            <a:endParaRPr lang="en-US" sz="1200" dirty="0"/>
          </a:p>
        </p:txBody>
      </p:sp>
      <p:pic>
        <p:nvPicPr>
          <p:cNvPr id="15" name="Image 0" descr="/Users/samuelmorningstar/Trackshift/proto/out/fig_calibration.png">    </p:cNvPr>
          <p:cNvPicPr>
            <a:picLocks noChangeAspect="1"/>
          </p:cNvPicPr>
          <p:nvPr/>
        </p:nvPicPr>
        <p:blipFill>
          <a:blip r:embed="rId1"/>
          <a:stretch>
            <a:fillRect/>
          </a:stretch>
        </p:blipFill>
        <p:spPr>
          <a:xfrm>
            <a:off x="7360920" y="1783080"/>
            <a:ext cx="4279392" cy="3814075"/>
          </a:xfrm>
          <a:prstGeom prst="rect">
            <a:avLst/>
          </a:prstGeom>
        </p:spPr>
      </p:pic>
      <p:sp>
        <p:nvSpPr>
          <p:cNvPr id="16" name="Text 11"/>
          <p:cNvSpPr txBox="1"/>
          <p:nvPr/>
        </p:nvSpPr>
        <p:spPr>
          <a:xfrm>
            <a:off x="7360920" y="5650992"/>
            <a:ext cx="4279392" cy="457200"/>
          </a:xfrm>
          <a:prstGeom prst="rect">
            <a:avLst/>
          </a:prstGeom>
          <a:noFill/>
          <a:ln/>
        </p:spPr>
        <p:txBody>
          <a:bodyPr wrap="square" lIns="0" tIns="0" rIns="0" bIns="0" rtlCol="0" anchor="t"/>
          <a:lstStyle/>
          <a:p>
            <a:pPr indent="0" marL="0">
              <a:buNone/>
            </a:pPr>
            <a:r>
              <a:rPr lang="en-US" sz="1100" dirty="0">
                <a:solidFill>
                  <a:srgbClr val="98A3B3"/>
                </a:solidFill>
                <a:latin typeface="Arial" pitchFamily="34" charset="0"/>
                <a:ea typeface="Arial" pitchFamily="34" charset="-122"/>
                <a:cs typeface="Arial" pitchFamily="34" charset="-120"/>
              </a:rPr>
              <a:t>Predicted from Friday against observed in the race: filled = issued, open = fallback, × = naive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THE PROOF  ·  HARDER TESTS</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Four tests, including six sealed weekends</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Mean absolute error, s per lap of tyre age; every forecast made without its own race</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8</a:t>
            </a:r>
            <a:endParaRPr lang="en-US" sz="900" dirty="0"/>
          </a:p>
        </p:txBody>
      </p:sp>
      <p:pic>
        <p:nvPicPr>
          <p:cNvPr id="8" name="Image 0" descr="/Users/samuelmorningstar/Trackshift/proto/deck_src/assets/chart_tests.png">    </p:cNvPr>
          <p:cNvPicPr>
            <a:picLocks noChangeAspect="1"/>
          </p:cNvPicPr>
          <p:nvPr/>
        </p:nvPicPr>
        <p:blipFill>
          <a:blip r:embed="rId1"/>
          <a:stretch>
            <a:fillRect/>
          </a:stretch>
        </p:blipFill>
        <p:spPr>
          <a:xfrm>
            <a:off x="548640" y="1737360"/>
            <a:ext cx="6766560" cy="4526280"/>
          </a:xfrm>
          <a:prstGeom prst="rect">
            <a:avLst/>
          </a:prstGeom>
        </p:spPr>
      </p:pic>
      <p:sp>
        <p:nvSpPr>
          <p:cNvPr id="9" name="Shape 5"/>
          <p:cNvSpPr/>
          <p:nvPr/>
        </p:nvSpPr>
        <p:spPr>
          <a:xfrm>
            <a:off x="7589520" y="1783080"/>
            <a:ext cx="4050792" cy="2103120"/>
          </a:xfrm>
          <a:prstGeom prst="roundRect">
            <a:avLst>
              <a:gd name="adj" fmla="val 3478"/>
            </a:avLst>
          </a:prstGeom>
          <a:solidFill>
            <a:srgbClr val="11161E"/>
          </a:solidFill>
          <a:ln w="9525">
            <a:solidFill>
              <a:srgbClr val="272F3B"/>
            </a:solidFill>
            <a:prstDash val="solid"/>
          </a:ln>
        </p:spPr>
      </p:sp>
      <p:sp>
        <p:nvSpPr>
          <p:cNvPr id="10" name="Text 6"/>
          <p:cNvSpPr txBox="1"/>
          <p:nvPr/>
        </p:nvSpPr>
        <p:spPr>
          <a:xfrm>
            <a:off x="7818120" y="1938528"/>
            <a:ext cx="3657600" cy="219456"/>
          </a:xfrm>
          <a:prstGeom prst="rect">
            <a:avLst/>
          </a:prstGeom>
          <a:noFill/>
          <a:ln/>
        </p:spPr>
        <p:txBody>
          <a:bodyPr wrap="square" lIns="0" tIns="0" rIns="0" bIns="0" rtlCol="0" anchor="t"/>
          <a:lstStyle/>
          <a:p>
            <a:pPr indent="0" marL="0">
              <a:buNone/>
            </a:pPr>
            <a:r>
              <a:rPr lang="en-US" sz="1000" b="1" spc="150" kern="0" dirty="0">
                <a:solidFill>
                  <a:srgbClr val="F0B84B"/>
                </a:solidFill>
                <a:latin typeface="Arial" pitchFamily="34" charset="0"/>
                <a:ea typeface="Arial" pitchFamily="34" charset="-122"/>
                <a:cs typeface="Arial" pitchFamily="34" charset="-120"/>
              </a:rPr>
              <a:t>WHERE IT WEAKENS</a:t>
            </a:r>
            <a:endParaRPr lang="en-US" sz="1000" dirty="0"/>
          </a:p>
        </p:txBody>
      </p:sp>
      <p:sp>
        <p:nvSpPr>
          <p:cNvPr id="11" name="Text 7"/>
          <p:cNvSpPr txBox="1"/>
          <p:nvPr/>
        </p:nvSpPr>
        <p:spPr>
          <a:xfrm>
            <a:off x="7818120" y="2212848"/>
            <a:ext cx="3639312" cy="1600200"/>
          </a:xfrm>
          <a:prstGeom prst="rect">
            <a:avLst/>
          </a:prstGeom>
          <a:noFill/>
          <a:ln/>
        </p:spPr>
        <p:txBody>
          <a:bodyPr wrap="square" lIns="0" tIns="0" rIns="0" bIns="0" rtlCol="0" anchor="t"/>
          <a:lstStyle/>
          <a:p>
            <a:pPr indent="0" marL="0">
              <a:buNone/>
            </a:pPr>
            <a:r>
              <a:rPr lang="en-US" sz="1300" dirty="0">
                <a:solidFill>
                  <a:srgbClr val="98A3B3"/>
                </a:solidFill>
                <a:latin typeface="Arial" pitchFamily="34" charset="0"/>
                <a:ea typeface="Arial" pitchFamily="34" charset="-122"/>
                <a:cs typeface="Arial" pitchFamily="34" charset="-120"/>
              </a:rPr>
              <a:t>Across 2023 to 2025 Friday says less about Sunday: calibration r 0.27 over 148 cases against 0.78 in 2026, and 86% band coverage. Every test still beats the naive line.</a:t>
            </a:r>
            <a:endParaRPr lang="en-US" sz="1300" dirty="0"/>
          </a:p>
        </p:txBody>
      </p:sp>
      <p:sp>
        <p:nvSpPr>
          <p:cNvPr id="12" name="Shape 8"/>
          <p:cNvSpPr/>
          <p:nvPr/>
        </p:nvSpPr>
        <p:spPr>
          <a:xfrm>
            <a:off x="7589520" y="4023360"/>
            <a:ext cx="4050792" cy="2194560"/>
          </a:xfrm>
          <a:prstGeom prst="roundRect">
            <a:avLst>
              <a:gd name="adj" fmla="val 3333"/>
            </a:avLst>
          </a:prstGeom>
          <a:solidFill>
            <a:srgbClr val="11161E"/>
          </a:solidFill>
          <a:ln w="9525">
            <a:solidFill>
              <a:srgbClr val="272F3B"/>
            </a:solidFill>
            <a:prstDash val="solid"/>
          </a:ln>
        </p:spPr>
      </p:sp>
      <p:sp>
        <p:nvSpPr>
          <p:cNvPr id="13" name="Text 9"/>
          <p:cNvSpPr txBox="1"/>
          <p:nvPr/>
        </p:nvSpPr>
        <p:spPr>
          <a:xfrm>
            <a:off x="7818120" y="4178808"/>
            <a:ext cx="3657600" cy="219456"/>
          </a:xfrm>
          <a:prstGeom prst="rect">
            <a:avLst/>
          </a:prstGeom>
          <a:noFill/>
          <a:ln/>
        </p:spPr>
        <p:txBody>
          <a:bodyPr wrap="square" lIns="0" tIns="0" rIns="0" bIns="0" rtlCol="0" anchor="t"/>
          <a:lstStyle/>
          <a:p>
            <a:pPr indent="0" marL="0">
              <a:buNone/>
            </a:pPr>
            <a:r>
              <a:rPr lang="en-US" sz="1000" b="1" spc="150" kern="0" dirty="0">
                <a:solidFill>
                  <a:srgbClr val="39D0C3"/>
                </a:solidFill>
                <a:latin typeface="Arial" pitchFamily="34" charset="0"/>
                <a:ea typeface="Arial" pitchFamily="34" charset="-122"/>
                <a:cs typeface="Arial" pitchFamily="34" charset="-120"/>
              </a:rPr>
              <a:t>WHAT WE DID ABOUT IT</a:t>
            </a:r>
            <a:endParaRPr lang="en-US" sz="1000" dirty="0"/>
          </a:p>
        </p:txBody>
      </p:sp>
      <p:sp>
        <p:nvSpPr>
          <p:cNvPr id="14" name="Text 10"/>
          <p:cNvSpPr txBox="1"/>
          <p:nvPr/>
        </p:nvSpPr>
        <p:spPr>
          <a:xfrm>
            <a:off x="7818120" y="4453128"/>
            <a:ext cx="3639312" cy="1691640"/>
          </a:xfrm>
          <a:prstGeom prst="rect">
            <a:avLst/>
          </a:prstGeom>
          <a:noFill/>
          <a:ln/>
        </p:spPr>
        <p:txBody>
          <a:bodyPr wrap="square" lIns="0" tIns="0" rIns="0" bIns="0" rtlCol="0" anchor="t"/>
          <a:lstStyle/>
          <a:p>
            <a:pPr indent="0" marL="0">
              <a:buNone/>
            </a:pPr>
            <a:r>
              <a:rPr lang="en-US" sz="1300" dirty="0">
                <a:solidFill>
                  <a:srgbClr val="98A3B3"/>
                </a:solidFill>
                <a:latin typeface="Arial" pitchFamily="34" charset="0"/>
                <a:ea typeface="Arial" pitchFamily="34" charset="-122"/>
                <a:cs typeface="Arial" pitchFamily="34" charset="-120"/>
              </a:rPr>
              <a:t>A per-compound constant scores 0.033 across all 148 cases. A learned transfer model (robust regression) reaches 0.030, but on untouched 2026 it scores 0.028 against Orb v1's 0.023. Kept as a second opinion, not adopted.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THE PROOF  ·  ROBUSTNESS</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It holds up, and the misses are on the slide</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Sensitivity to every stated choice, and two honest results</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675120" cy="914400"/>
        </p:xfrm>
        <a:graphic>
          <a:graphicData uri="http://schemas.openxmlformats.org/drawingml/2006/table">
            <a:tbl>
              <a:tblPr/>
              <a:tblGrid>
                <a:gridCol w="3108960"/>
                <a:gridCol w="960120"/>
                <a:gridCol w="1508760"/>
                <a:gridCol w="1097280"/>
              </a:tblGrid>
              <a:tr h="566928">
                <a:tc>
                  <a:txBody>
                    <a:bodyPr/>
                    <a:lstStyle/>
                    <a:p>
                      <a:pPr indent="0" marL="0">
                        <a:buNone/>
                      </a:pPr>
                      <a:r>
                        <a:rPr lang="en-US" sz="1200" b="1" dirty="0">
                          <a:solidFill>
                            <a:srgbClr val="98A3B3"/>
                          </a:solidFill>
                          <a:latin typeface="Arial" pitchFamily="34" charset="0"/>
                          <a:ea typeface="Arial" pitchFamily="34" charset="-122"/>
                          <a:cs typeface="Arial" pitchFamily="34" charset="-120"/>
                        </a:rPr>
                        <a:t>Variant (2026, 29 cases)</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200" b="1" dirty="0">
                          <a:solidFill>
                            <a:srgbClr val="98A3B3"/>
                          </a:solidFill>
                          <a:latin typeface="Arial" pitchFamily="34" charset="0"/>
                          <a:ea typeface="Arial" pitchFamily="34" charset="-122"/>
                          <a:cs typeface="Arial" pitchFamily="34" charset="-120"/>
                        </a:rPr>
                        <a:t>Issued</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200" b="1" dirty="0">
                          <a:solidFill>
                            <a:srgbClr val="98A3B3"/>
                          </a:solidFill>
                          <a:latin typeface="Arial" pitchFamily="34" charset="0"/>
                          <a:ea typeface="Arial" pitchFamily="34" charset="-122"/>
                          <a:cs typeface="Arial" pitchFamily="34" charset="-120"/>
                        </a:rPr>
                        <a:t>MAE</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200" b="1" dirty="0">
                          <a:solidFill>
                            <a:srgbClr val="98A3B3"/>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r>
              <a:tr h="566928">
                <a:tc>
                  <a:txBody>
                    <a:bodyPr/>
                    <a:lstStyle/>
                    <a:p>
                      <a:pPr indent="0" marL="0">
                        <a:buNone/>
                      </a:pPr>
                      <a:r>
                        <a:rPr lang="en-US" sz="1200" dirty="0">
                          <a:solidFill>
                            <a:srgbClr val="F3F6FA"/>
                          </a:solidFill>
                          <a:latin typeface="Arial" pitchFamily="34" charset="0"/>
                          <a:ea typeface="Arial" pitchFamily="34" charset="-122"/>
                          <a:cs typeface="Arial" pitchFamily="34" charset="-120"/>
                        </a:rPr>
                        <a:t>Baseline (fuel 1.1 kg/lap, 0.03 s/kg, traffic 30%, runs 5+)</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0.023</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0.78</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566928">
                <a:tc>
                  <a:txBody>
                    <a:bodyPr/>
                    <a:lstStyle/>
                    <a:p>
                      <a:pPr indent="0" marL="0">
                        <a:buNone/>
                      </a:pPr>
                      <a:r>
                        <a:rPr lang="en-US" sz="1200" dirty="0">
                          <a:solidFill>
                            <a:srgbClr val="F3F6FA"/>
                          </a:solidFill>
                          <a:latin typeface="Arial" pitchFamily="34" charset="0"/>
                          <a:ea typeface="Arial" pitchFamily="34" charset="-122"/>
                          <a:cs typeface="Arial" pitchFamily="34" charset="-120"/>
                        </a:rPr>
                        <a:t>Fuel prior 0.9 or 1.3 kg/lap</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14 / 16</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0.026 / 0.023</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0.74 / 0.76</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566928">
                <a:tc>
                  <a:txBody>
                    <a:bodyPr/>
                    <a:lstStyle/>
                    <a:p>
                      <a:pPr indent="0" marL="0">
                        <a:buNone/>
                      </a:pPr>
                      <a:r>
                        <a:rPr lang="en-US" sz="1200" dirty="0">
                          <a:solidFill>
                            <a:srgbClr val="F3F6FA"/>
                          </a:solidFill>
                          <a:latin typeface="Arial" pitchFamily="34" charset="0"/>
                          <a:ea typeface="Arial" pitchFamily="34" charset="-122"/>
                          <a:cs typeface="Arial" pitchFamily="34" charset="-120"/>
                        </a:rPr>
                        <a:t>Fuel cost 0.025 or 0.035 s/kg</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14 / 16</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0.025 / 0.023</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0.75 / 0.78</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566928">
                <a:tc>
                  <a:txBody>
                    <a:bodyPr/>
                    <a:lstStyle/>
                    <a:p>
                      <a:pPr indent="0" marL="0">
                        <a:buNone/>
                      </a:pPr>
                      <a:r>
                        <a:rPr lang="en-US" sz="1200" dirty="0">
                          <a:solidFill>
                            <a:srgbClr val="F3F6FA"/>
                          </a:solidFill>
                          <a:latin typeface="Arial" pitchFamily="34" charset="0"/>
                          <a:ea typeface="Arial" pitchFamily="34" charset="-122"/>
                          <a:cs typeface="Arial" pitchFamily="34" charset="-120"/>
                        </a:rPr>
                        <a:t>Traffic threshold 20% or 40%</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15 / 16</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0.027 / 0.021</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0.59 / 0.79</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566928">
                <a:tc>
                  <a:txBody>
                    <a:bodyPr/>
                    <a:lstStyle/>
                    <a:p>
                      <a:pPr indent="0" marL="0">
                        <a:buNone/>
                      </a:pPr>
                      <a:r>
                        <a:rPr lang="en-US" sz="1200" dirty="0">
                          <a:solidFill>
                            <a:srgbClr val="F3F6FA"/>
                          </a:solidFill>
                          <a:latin typeface="Arial" pitchFamily="34" charset="0"/>
                          <a:ea typeface="Arial" pitchFamily="34" charset="-122"/>
                          <a:cs typeface="Arial" pitchFamily="34" charset="-120"/>
                        </a:rPr>
                        <a:t>Minimum run 4 or 7 laps</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15 / 13</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0.026 / 0.027</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200" dirty="0">
                          <a:solidFill>
                            <a:srgbClr val="F3F6FA"/>
                          </a:solidFill>
                          <a:latin typeface="Arial" pitchFamily="34" charset="0"/>
                          <a:ea typeface="Arial" pitchFamily="34" charset="-122"/>
                          <a:cs typeface="Arial" pitchFamily="34" charset="-120"/>
                        </a:rPr>
                        <a:t>0.70 / 0.65</a:t>
                      </a:r>
                      <a:endParaRPr lang="en-US" sz="12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bl>
          </a:graphicData>
        </a:graphic>
      </p:graphicFrame>
      <p:sp>
        <p:nvSpPr>
          <p:cNvPr id="9" name="Shape 5"/>
          <p:cNvSpPr/>
          <p:nvPr/>
        </p:nvSpPr>
        <p:spPr>
          <a:xfrm>
            <a:off x="7498080" y="1783080"/>
            <a:ext cx="4142232" cy="2103120"/>
          </a:xfrm>
          <a:prstGeom prst="roundRect">
            <a:avLst>
              <a:gd name="adj" fmla="val 3478"/>
            </a:avLst>
          </a:prstGeom>
          <a:solidFill>
            <a:srgbClr val="11161E"/>
          </a:solidFill>
          <a:ln w="9525">
            <a:solidFill>
              <a:srgbClr val="272F3B"/>
            </a:solidFill>
            <a:prstDash val="solid"/>
          </a:ln>
        </p:spPr>
      </p:sp>
      <p:sp>
        <p:nvSpPr>
          <p:cNvPr id="10" name="Text 6"/>
          <p:cNvSpPr txBox="1"/>
          <p:nvPr/>
        </p:nvSpPr>
        <p:spPr>
          <a:xfrm>
            <a:off x="7726680" y="1938528"/>
            <a:ext cx="3749040" cy="219456"/>
          </a:xfrm>
          <a:prstGeom prst="rect">
            <a:avLst/>
          </a:prstGeom>
          <a:noFill/>
          <a:ln/>
        </p:spPr>
        <p:txBody>
          <a:bodyPr wrap="square" lIns="0" tIns="0" rIns="0" bIns="0" rtlCol="0" anchor="t"/>
          <a:lstStyle/>
          <a:p>
            <a:pPr indent="0" marL="0">
              <a:buNone/>
            </a:pPr>
            <a:r>
              <a:rPr lang="en-US" sz="1000" b="1" spc="150" kern="0" dirty="0">
                <a:solidFill>
                  <a:srgbClr val="F16464"/>
                </a:solidFill>
                <a:latin typeface="Arial" pitchFamily="34" charset="0"/>
                <a:ea typeface="Arial" pitchFamily="34" charset="-122"/>
                <a:cs typeface="Arial" pitchFamily="34" charset="-120"/>
              </a:rPr>
              <a:t>BARCELONA AND AUSTRALIA: THE MISSES</a:t>
            </a:r>
            <a:endParaRPr lang="en-US" sz="1000" dirty="0"/>
          </a:p>
        </p:txBody>
      </p:sp>
      <p:sp>
        <p:nvSpPr>
          <p:cNvPr id="11" name="Text 7"/>
          <p:cNvSpPr txBox="1"/>
          <p:nvPr/>
        </p:nvSpPr>
        <p:spPr>
          <a:xfrm>
            <a:off x="7726680" y="2212848"/>
            <a:ext cx="3730752" cy="1600200"/>
          </a:xfrm>
          <a:prstGeom prst="rect">
            <a:avLst/>
          </a:prstGeom>
          <a:noFill/>
          <a:ln/>
        </p:spPr>
        <p:txBody>
          <a:bodyPr wrap="square" lIns="0" tIns="0" rIns="0" bIns="0" rtlCol="0" anchor="t"/>
          <a:lstStyle/>
          <a:p>
            <a:pPr indent="0" marL="0">
              <a:buNone/>
            </a:pPr>
            <a:r>
              <a:rPr lang="en-US" sz="1300" dirty="0">
                <a:solidFill>
                  <a:srgbClr val="98A3B3"/>
                </a:solidFill>
                <a:latin typeface="Arial" pitchFamily="34" charset="0"/>
                <a:ea typeface="Arial" pitchFamily="34" charset="-122"/>
                <a:cs typeface="Arial" pitchFamily="34" charset="-120"/>
              </a:rPr>
              <a:t>Strategy replay: Barcelona (+55 s against 0 s for naive) and Australia (+25 s against +14 s for naive). At Barcelona our soft prediction ran low and the naive line happened to imply the right plan. Said on stage before anyone asks.</a:t>
            </a:r>
            <a:endParaRPr lang="en-US" sz="1300" dirty="0"/>
          </a:p>
        </p:txBody>
      </p:sp>
      <p:sp>
        <p:nvSpPr>
          <p:cNvPr id="12" name="Shape 8"/>
          <p:cNvSpPr/>
          <p:nvPr/>
        </p:nvSpPr>
        <p:spPr>
          <a:xfrm>
            <a:off x="7498080" y="4023360"/>
            <a:ext cx="4142232" cy="2194560"/>
          </a:xfrm>
          <a:prstGeom prst="roundRect">
            <a:avLst>
              <a:gd name="adj" fmla="val 3333"/>
            </a:avLst>
          </a:prstGeom>
          <a:solidFill>
            <a:srgbClr val="11161E"/>
          </a:solidFill>
          <a:ln w="9525">
            <a:solidFill>
              <a:srgbClr val="272F3B"/>
            </a:solidFill>
            <a:prstDash val="solid"/>
          </a:ln>
        </p:spPr>
      </p:sp>
      <p:sp>
        <p:nvSpPr>
          <p:cNvPr id="13" name="Text 9"/>
          <p:cNvSpPr txBox="1"/>
          <p:nvPr/>
        </p:nvSpPr>
        <p:spPr>
          <a:xfrm>
            <a:off x="7726680" y="4178808"/>
            <a:ext cx="3749040" cy="219456"/>
          </a:xfrm>
          <a:prstGeom prst="rect">
            <a:avLst/>
          </a:prstGeom>
          <a:noFill/>
          <a:ln/>
        </p:spPr>
        <p:txBody>
          <a:bodyPr wrap="square" lIns="0" tIns="0" rIns="0" bIns="0" rtlCol="0" anchor="t"/>
          <a:lstStyle/>
          <a:p>
            <a:pPr indent="0" marL="0">
              <a:buNone/>
            </a:pPr>
            <a:r>
              <a:rPr lang="en-US" sz="1000" b="1" spc="150" kern="0" dirty="0">
                <a:solidFill>
                  <a:srgbClr val="39D0C3"/>
                </a:solidFill>
                <a:latin typeface="Arial" pitchFamily="34" charset="0"/>
                <a:ea typeface="Arial" pitchFamily="34" charset="-122"/>
                <a:cs typeface="Arial" pitchFamily="34" charset="-120"/>
              </a:rPr>
              <a:t>LIQUID NEURAL NETWORK, THE ABLATION</a:t>
            </a:r>
            <a:endParaRPr lang="en-US" sz="1000" dirty="0"/>
          </a:p>
        </p:txBody>
      </p:sp>
      <p:sp>
        <p:nvSpPr>
          <p:cNvPr id="14" name="Text 10"/>
          <p:cNvSpPr txBox="1"/>
          <p:nvPr/>
        </p:nvSpPr>
        <p:spPr>
          <a:xfrm>
            <a:off x="7726680" y="4453128"/>
            <a:ext cx="3730752" cy="1691640"/>
          </a:xfrm>
          <a:prstGeom prst="rect">
            <a:avLst/>
          </a:prstGeom>
          <a:noFill/>
          <a:ln/>
        </p:spPr>
        <p:txBody>
          <a:bodyPr wrap="square" lIns="0" tIns="0" rIns="0" bIns="0" rtlCol="0" anchor="t"/>
          <a:lstStyle/>
          <a:p>
            <a:pPr indent="0" marL="0">
              <a:buNone/>
            </a:pPr>
            <a:r>
              <a:rPr lang="en-US" sz="1300" dirty="0">
                <a:solidFill>
                  <a:srgbClr val="98A3B3"/>
                </a:solidFill>
                <a:latin typeface="Arial" pitchFamily="34" charset="0"/>
                <a:ea typeface="Arial" pitchFamily="34" charset="-122"/>
                <a:cs typeface="Arial" pitchFamily="34" charset="-120"/>
              </a:rPr>
              <a:t>A continuous-time (CfC) cell read each race stint lap by lap, scored on held-out stints. Per-lap inputs cut the age-only error by about a quarter; the continuous-time network on the same inputs beat the best simple baseline in only 9 of 31 cells. Reported, not deployed.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FROM CURVE TO CALL</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Curves become decisions: 10 races replayed</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Every one- and two-stop plan enumerated and costed under race-derived curves; the live board ranks the same actions lap by lap</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675120" cy="914400"/>
        </p:xfrm>
        <a:graphic>
          <a:graphicData uri="http://schemas.openxmlformats.org/drawingml/2006/table">
            <a:tbl>
              <a:tblPr/>
              <a:tblGrid>
                <a:gridCol w="1234440"/>
                <a:gridCol w="1051560"/>
                <a:gridCol w="868680"/>
                <a:gridCol w="1783080"/>
                <a:gridCol w="822960"/>
                <a:gridCol w="914400"/>
              </a:tblGrid>
              <a:tr h="365760">
                <a:tc>
                  <a:txBody>
                    <a:bodyPr/>
                    <a:lstStyle/>
                    <a:p>
                      <a:pPr indent="0" marL="0">
                        <a:buNone/>
                      </a:pPr>
                      <a:r>
                        <a:rPr lang="en-US" sz="1100" b="1" dirty="0">
                          <a:solidFill>
                            <a:srgbClr val="98A3B3"/>
                          </a:solidFill>
                          <a:latin typeface="Arial" pitchFamily="34" charset="0"/>
                          <a:ea typeface="Arial" pitchFamily="34" charset="-122"/>
                          <a:cs typeface="Arial" pitchFamily="34" charset="-120"/>
                        </a:rPr>
                        <a:t>Race</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100" b="1" dirty="0">
                          <a:solidFill>
                            <a:srgbClr val="98A3B3"/>
                          </a:solidFill>
                          <a:latin typeface="Arial" pitchFamily="34" charset="0"/>
                          <a:ea typeface="Arial" pitchFamily="34" charset="-122"/>
                          <a:cs typeface="Arial" pitchFamily="34" charset="-120"/>
                        </a:rPr>
                        <a:t>Naive plan</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100" b="1" dirty="0">
                          <a:solidFill>
                            <a:srgbClr val="98A3B3"/>
                          </a:solidFill>
                          <a:latin typeface="Arial" pitchFamily="34" charset="0"/>
                          <a:ea typeface="Arial" pitchFamily="34" charset="-122"/>
                          <a:cs typeface="Arial" pitchFamily="34" charset="-120"/>
                        </a:rPr>
                        <a:t>Cost</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100" b="1" dirty="0">
                          <a:solidFill>
                            <a:srgbClr val="98A3B3"/>
                          </a:solidFill>
                          <a:latin typeface="Arial" pitchFamily="34" charset="0"/>
                          <a:ea typeface="Arial" pitchFamily="34" charset="-122"/>
                          <a:cs typeface="Arial" pitchFamily="34" charset="-120"/>
                        </a:rPr>
                        <a:t>Orb v1 plan</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100" b="1" dirty="0">
                          <a:solidFill>
                            <a:srgbClr val="98A3B3"/>
                          </a:solidFill>
                          <a:latin typeface="Arial" pitchFamily="34" charset="0"/>
                          <a:ea typeface="Arial" pitchFamily="34" charset="-122"/>
                          <a:cs typeface="Arial" pitchFamily="34" charset="-120"/>
                        </a:rPr>
                        <a:t>Cost</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100" b="1" dirty="0">
                          <a:solidFill>
                            <a:srgbClr val="98A3B3"/>
                          </a:solidFill>
                          <a:latin typeface="Arial" pitchFamily="34" charset="0"/>
                          <a:ea typeface="Arial" pitchFamily="34" charset="-122"/>
                          <a:cs typeface="Arial" pitchFamily="34" charset="-120"/>
                        </a:rPr>
                        <a:t>Best plan</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Australia</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S-S-M</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+14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 47/11</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+25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Austria</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M-M-H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+60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S-M-M 18/26/27</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+26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Barcelona</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S-H-H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0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S-H 12/54</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+55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S-H-H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Belgium</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S-S-M</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+31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M-H 18/26</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+10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Canada</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+75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S-S-H 30/32/6</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+30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Hungary</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M-H-H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+74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S-M-M 16/26/28</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+24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S-S-M</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Japan</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M-H-H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+21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M-H 43/10</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+7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M-H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Miami</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M-H-H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+80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 40/17</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+6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Monza</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M-H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+47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 44/9</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0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Zandvoort</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S-M</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+155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S-S-M 30/32/10</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+2 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S-S-H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bl>
          </a:graphicData>
        </a:graphic>
      </p:graphicFrame>
      <p:sp>
        <p:nvSpPr>
          <p:cNvPr id="9" name="Shape 5"/>
          <p:cNvSpPr/>
          <p:nvPr/>
        </p:nvSpPr>
        <p:spPr>
          <a:xfrm>
            <a:off x="7498080" y="1783080"/>
            <a:ext cx="1993392" cy="1417320"/>
          </a:xfrm>
          <a:prstGeom prst="roundRect">
            <a:avLst>
              <a:gd name="adj" fmla="val 5161"/>
            </a:avLst>
          </a:prstGeom>
          <a:solidFill>
            <a:srgbClr val="11161E"/>
          </a:solidFill>
          <a:ln w="9525">
            <a:solidFill>
              <a:srgbClr val="272F3B"/>
            </a:solidFill>
            <a:prstDash val="solid"/>
          </a:ln>
        </p:spPr>
      </p:sp>
      <p:sp>
        <p:nvSpPr>
          <p:cNvPr id="10" name="Text 6"/>
          <p:cNvSpPr txBox="1"/>
          <p:nvPr/>
        </p:nvSpPr>
        <p:spPr>
          <a:xfrm>
            <a:off x="7662672" y="1911096"/>
            <a:ext cx="1664208" cy="433832"/>
          </a:xfrm>
          <a:prstGeom prst="rect">
            <a:avLst/>
          </a:prstGeom>
          <a:noFill/>
          <a:ln/>
        </p:spPr>
        <p:txBody>
          <a:bodyPr wrap="square" lIns="0" tIns="0" rIns="0" bIns="0" rtlCol="0" anchor="b"/>
          <a:lstStyle/>
          <a:p>
            <a:pPr indent="0" marL="0">
              <a:buNone/>
            </a:pPr>
            <a:r>
              <a:rPr lang="en-US" sz="2800" b="1" dirty="0">
                <a:solidFill>
                  <a:srgbClr val="39D0C3"/>
                </a:solidFill>
                <a:latin typeface="Arial" pitchFamily="34" charset="0"/>
                <a:ea typeface="Arial" pitchFamily="34" charset="-122"/>
                <a:cs typeface="Arial" pitchFamily="34" charset="-120"/>
              </a:rPr>
              <a:t>8 of 10</a:t>
            </a:r>
            <a:endParaRPr lang="en-US" sz="2800" dirty="0"/>
          </a:p>
        </p:txBody>
      </p:sp>
      <p:sp>
        <p:nvSpPr>
          <p:cNvPr id="11" name="Text 7"/>
          <p:cNvSpPr txBox="1"/>
          <p:nvPr/>
        </p:nvSpPr>
        <p:spPr>
          <a:xfrm>
            <a:off x="7662672" y="2381504"/>
            <a:ext cx="1664208"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2026 races where the Orb v1 plan beats the naive plan</a:t>
            </a:r>
            <a:endParaRPr lang="en-US" sz="1200" dirty="0"/>
          </a:p>
        </p:txBody>
      </p:sp>
      <p:sp>
        <p:nvSpPr>
          <p:cNvPr id="12" name="Shape 8"/>
          <p:cNvSpPr/>
          <p:nvPr/>
        </p:nvSpPr>
        <p:spPr>
          <a:xfrm>
            <a:off x="9646920" y="1783080"/>
            <a:ext cx="1993392" cy="1417320"/>
          </a:xfrm>
          <a:prstGeom prst="roundRect">
            <a:avLst>
              <a:gd name="adj" fmla="val 5161"/>
            </a:avLst>
          </a:prstGeom>
          <a:solidFill>
            <a:srgbClr val="11161E"/>
          </a:solidFill>
          <a:ln w="9525">
            <a:solidFill>
              <a:srgbClr val="272F3B"/>
            </a:solidFill>
            <a:prstDash val="solid"/>
          </a:ln>
        </p:spPr>
      </p:sp>
      <p:sp>
        <p:nvSpPr>
          <p:cNvPr id="13" name="Text 9"/>
          <p:cNvSpPr txBox="1"/>
          <p:nvPr/>
        </p:nvSpPr>
        <p:spPr>
          <a:xfrm>
            <a:off x="9811512" y="1911096"/>
            <a:ext cx="1664208" cy="433832"/>
          </a:xfrm>
          <a:prstGeom prst="rect">
            <a:avLst/>
          </a:prstGeom>
          <a:noFill/>
          <a:ln/>
        </p:spPr>
        <p:txBody>
          <a:bodyPr wrap="square" lIns="0" tIns="0" rIns="0" bIns="0" rtlCol="0" anchor="b"/>
          <a:lstStyle/>
          <a:p>
            <a:pPr indent="0" marL="0">
              <a:buNone/>
            </a:pPr>
            <a:r>
              <a:rPr lang="en-US" sz="2800" b="1" dirty="0">
                <a:solidFill>
                  <a:srgbClr val="F3F6FA"/>
                </a:solidFill>
                <a:latin typeface="Arial" pitchFamily="34" charset="0"/>
                <a:ea typeface="Arial" pitchFamily="34" charset="-122"/>
                <a:cs typeface="Arial" pitchFamily="34" charset="-120"/>
              </a:rPr>
              <a:t>25%</a:t>
            </a:r>
            <a:endParaRPr lang="en-US" sz="2800" dirty="0"/>
          </a:p>
        </p:txBody>
      </p:sp>
      <p:sp>
        <p:nvSpPr>
          <p:cNvPr id="14" name="Text 10"/>
          <p:cNvSpPr txBox="1"/>
          <p:nvPr/>
        </p:nvSpPr>
        <p:spPr>
          <a:xfrm>
            <a:off x="9811512" y="2381504"/>
            <a:ext cx="1664208"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of 40 weekends within 5 s of the hindsight best (naive 12%)</a:t>
            </a:r>
            <a:endParaRPr lang="en-US" sz="1200" dirty="0"/>
          </a:p>
        </p:txBody>
      </p:sp>
      <p:sp>
        <p:nvSpPr>
          <p:cNvPr id="15" name="Text 11"/>
          <p:cNvSpPr txBox="1"/>
          <p:nvPr/>
        </p:nvSpPr>
        <p:spPr>
          <a:xfrm>
            <a:off x="7498080" y="3401568"/>
            <a:ext cx="4114800" cy="219456"/>
          </a:xfrm>
          <a:prstGeom prst="rect">
            <a:avLst/>
          </a:prstGeom>
          <a:noFill/>
          <a:ln/>
        </p:spPr>
        <p:txBody>
          <a:bodyPr wrap="square" lIns="0" tIns="0" rIns="0" bIns="0" rtlCol="0" anchor="t"/>
          <a:lstStyle/>
          <a:p>
            <a:pPr indent="0" marL="0">
              <a:buNone/>
            </a:pPr>
            <a:r>
              <a:rPr lang="en-US" sz="1000" b="1" spc="150" kern="0" dirty="0">
                <a:solidFill>
                  <a:srgbClr val="98A3B3"/>
                </a:solidFill>
                <a:latin typeface="Arial" pitchFamily="34" charset="0"/>
                <a:ea typeface="Arial" pitchFamily="34" charset="-122"/>
                <a:cs typeface="Arial" pitchFamily="34" charset="-120"/>
              </a:rPr>
              <a:t>LIVE: THE DECISION BOARD, BARCELONA LAP 35</a:t>
            </a:r>
            <a:endParaRPr lang="en-US" sz="1000" dirty="0"/>
          </a:p>
        </p:txBody>
      </p:sp>
      <p:sp>
        <p:nvSpPr>
          <p:cNvPr id="16" name="Shape 12"/>
          <p:cNvSpPr/>
          <p:nvPr/>
        </p:nvSpPr>
        <p:spPr>
          <a:xfrm>
            <a:off x="7479792" y="3657600"/>
            <a:ext cx="4178808" cy="1381893"/>
          </a:xfrm>
          <a:prstGeom prst="rect">
            <a:avLst/>
          </a:prstGeom>
          <a:solidFill>
            <a:srgbClr val="272F3B"/>
          </a:solidFill>
          <a:ln w="12700">
            <a:solidFill>
              <a:srgbClr val="272F3B"/>
            </a:solidFill>
            <a:prstDash val="solid"/>
          </a:ln>
        </p:spPr>
      </p:sp>
      <p:pic>
        <p:nvPicPr>
          <p:cNvPr id="17" name="Image 0" descr="/Users/samuelmorningstar/Trackshift/proto/deck_src/assets/shot_decision.png">    </p:cNvPr>
          <p:cNvPicPr>
            <a:picLocks noChangeAspect="1"/>
          </p:cNvPicPr>
          <p:nvPr/>
        </p:nvPicPr>
        <p:blipFill>
          <a:blip r:embed="rId1"/>
          <a:stretch>
            <a:fillRect/>
          </a:stretch>
        </p:blipFill>
        <p:spPr>
          <a:xfrm>
            <a:off x="7498080" y="3675888"/>
            <a:ext cx="4142232" cy="1345317"/>
          </a:xfrm>
          <a:prstGeom prst="rect">
            <a:avLst/>
          </a:prstGeom>
        </p:spPr>
      </p:pic>
      <p:sp>
        <p:nvSpPr>
          <p:cNvPr id="18" name="Text 13"/>
          <p:cNvSpPr txBox="1"/>
          <p:nvPr/>
        </p:nvSpPr>
        <p:spPr>
          <a:xfrm>
            <a:off x="7498080" y="5102352"/>
            <a:ext cx="4142232" cy="685800"/>
          </a:xfrm>
          <a:prstGeom prst="rect">
            <a:avLst/>
          </a:prstGeom>
          <a:noFill/>
          <a:ln/>
        </p:spPr>
        <p:txBody>
          <a:bodyPr wrap="square" lIns="0" tIns="0" rIns="0" bIns="0" rtlCol="0" anchor="t"/>
          <a:lstStyle/>
          <a:p>
            <a:pPr indent="0" marL="0">
              <a:buNone/>
            </a:pPr>
            <a:r>
              <a:rPr lang="en-US" sz="1100" dirty="0">
                <a:solidFill>
                  <a:srgbClr val="98A3B3"/>
                </a:solidFill>
                <a:latin typeface="Arial" pitchFamily="34" charset="0"/>
                <a:ea typeface="Arial" pitchFamily="34" charset="-122"/>
                <a:cs typeface="Arial" pitchFamily="34" charset="-120"/>
              </a:rPr>
              <a:t>Assumptions on screen: linear curves, no safety car, rivals not simulated; rejoin traffic is the observed gap structure, not a position forecast.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RULE CHANGES AND THE TYRE  ·  2022 TO 2026</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What each rule change since 2022 did to the tyres</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Tyres, cars, fuel and sporting rules, season by season; sources in the speaker notes</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11</a:t>
            </a:r>
            <a:endParaRPr lang="en-US" sz="900" dirty="0"/>
          </a:p>
        </p:txBody>
      </p:sp>
      <p:sp>
        <p:nvSpPr>
          <p:cNvPr id="8" name="Shape 5"/>
          <p:cNvSpPr/>
          <p:nvPr/>
        </p:nvSpPr>
        <p:spPr>
          <a:xfrm>
            <a:off x="548640" y="1783080"/>
            <a:ext cx="2103120" cy="4434840"/>
          </a:xfrm>
          <a:prstGeom prst="roundRect">
            <a:avLst>
              <a:gd name="adj" fmla="val 3478"/>
            </a:avLst>
          </a:prstGeom>
          <a:solidFill>
            <a:srgbClr val="11161E"/>
          </a:solidFill>
          <a:ln w="9525">
            <a:solidFill>
              <a:srgbClr val="272F3B"/>
            </a:solidFill>
            <a:prstDash val="solid"/>
          </a:ln>
        </p:spPr>
      </p:sp>
      <p:sp>
        <p:nvSpPr>
          <p:cNvPr id="9" name="Text 6"/>
          <p:cNvSpPr txBox="1"/>
          <p:nvPr/>
        </p:nvSpPr>
        <p:spPr>
          <a:xfrm>
            <a:off x="713232" y="1901952"/>
            <a:ext cx="1773936" cy="411480"/>
          </a:xfrm>
          <a:prstGeom prst="rect">
            <a:avLst/>
          </a:prstGeom>
          <a:noFill/>
          <a:ln/>
        </p:spPr>
        <p:txBody>
          <a:bodyPr wrap="square" lIns="0" tIns="0" rIns="0" bIns="0" rtlCol="0" anchor="t"/>
          <a:lstStyle/>
          <a:p>
            <a:pPr indent="0" marL="0">
              <a:buNone/>
            </a:pPr>
            <a:r>
              <a:rPr lang="en-US" sz="2400" b="1" dirty="0">
                <a:solidFill>
                  <a:srgbClr val="F3F6FA"/>
                </a:solidFill>
                <a:latin typeface="Arial" pitchFamily="34" charset="0"/>
                <a:ea typeface="Arial" pitchFamily="34" charset="-122"/>
                <a:cs typeface="Arial" pitchFamily="34" charset="-120"/>
              </a:rPr>
              <a:t>2022</a:t>
            </a:r>
            <a:endParaRPr lang="en-US" sz="2400" dirty="0"/>
          </a:p>
        </p:txBody>
      </p:sp>
      <p:sp>
        <p:nvSpPr>
          <p:cNvPr id="10" name="Text 7"/>
          <p:cNvSpPr txBox="1"/>
          <p:nvPr/>
        </p:nvSpPr>
        <p:spPr>
          <a:xfrm>
            <a:off x="713232" y="2331720"/>
            <a:ext cx="1773936" cy="457200"/>
          </a:xfrm>
          <a:prstGeom prst="rect">
            <a:avLst/>
          </a:prstGeom>
          <a:noFill/>
          <a:ln/>
        </p:spPr>
        <p:txBody>
          <a:bodyPr wrap="square" lIns="0" tIns="0" rIns="0" bIns="0" rtlCol="0" anchor="t"/>
          <a:lstStyle/>
          <a:p>
            <a:pPr indent="0" marL="0">
              <a:buNone/>
            </a:pPr>
            <a:r>
              <a:rPr lang="en-US" sz="1200" b="1" dirty="0">
                <a:solidFill>
                  <a:srgbClr val="39D0C3"/>
                </a:solidFill>
                <a:latin typeface="Arial" pitchFamily="34" charset="0"/>
                <a:ea typeface="Arial" pitchFamily="34" charset="-122"/>
                <a:cs typeface="Arial" pitchFamily="34" charset="-120"/>
              </a:rPr>
              <a:t>18-inch tyres, ground-effect cars</a:t>
            </a:r>
            <a:endParaRPr lang="en-US" sz="1200" dirty="0"/>
          </a:p>
        </p:txBody>
      </p:sp>
      <p:sp>
        <p:nvSpPr>
          <p:cNvPr id="11" name="Shape 8"/>
          <p:cNvSpPr/>
          <p:nvPr/>
        </p:nvSpPr>
        <p:spPr>
          <a:xfrm>
            <a:off x="713232" y="2904744"/>
            <a:ext cx="64008" cy="64008"/>
          </a:xfrm>
          <a:prstGeom prst="ellipse">
            <a:avLst/>
          </a:prstGeom>
          <a:solidFill>
            <a:srgbClr val="39D0C3"/>
          </a:solidFill>
          <a:ln w="12700">
            <a:solidFill>
              <a:srgbClr val="39D0C3"/>
            </a:solidFill>
            <a:prstDash val="solid"/>
          </a:ln>
        </p:spPr>
      </p:sp>
      <p:sp>
        <p:nvSpPr>
          <p:cNvPr id="12" name="Text 9"/>
          <p:cNvSpPr txBox="1"/>
          <p:nvPr/>
        </p:nvSpPr>
        <p:spPr>
          <a:xfrm>
            <a:off x="914400" y="285292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Rims 13 to 18 inch; diameter 660 to 720 mm</a:t>
            </a:r>
            <a:endParaRPr lang="en-US" sz="1100" dirty="0"/>
          </a:p>
        </p:txBody>
      </p:sp>
      <p:sp>
        <p:nvSpPr>
          <p:cNvPr id="13" name="Shape 10"/>
          <p:cNvSpPr/>
          <p:nvPr/>
        </p:nvSpPr>
        <p:spPr>
          <a:xfrm>
            <a:off x="713232" y="3303524"/>
            <a:ext cx="64008" cy="64008"/>
          </a:xfrm>
          <a:prstGeom prst="ellipse">
            <a:avLst/>
          </a:prstGeom>
          <a:solidFill>
            <a:srgbClr val="39D0C3"/>
          </a:solidFill>
          <a:ln w="12700">
            <a:solidFill>
              <a:srgbClr val="39D0C3"/>
            </a:solidFill>
            <a:prstDash val="solid"/>
          </a:ln>
        </p:spPr>
      </p:sp>
      <p:sp>
        <p:nvSpPr>
          <p:cNvPr id="14" name="Text 11"/>
          <p:cNvSpPr txBox="1"/>
          <p:nvPr/>
        </p:nvSpPr>
        <p:spPr>
          <a:xfrm>
            <a:off x="914400" y="325170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Blankets capped at 70 °C (was 100 °C front)</a:t>
            </a:r>
            <a:endParaRPr lang="en-US" sz="1100" dirty="0"/>
          </a:p>
        </p:txBody>
      </p:sp>
      <p:sp>
        <p:nvSpPr>
          <p:cNvPr id="15" name="Shape 12"/>
          <p:cNvSpPr/>
          <p:nvPr/>
        </p:nvSpPr>
        <p:spPr>
          <a:xfrm>
            <a:off x="713232" y="3702304"/>
            <a:ext cx="64008" cy="64008"/>
          </a:xfrm>
          <a:prstGeom prst="ellipse">
            <a:avLst/>
          </a:prstGeom>
          <a:solidFill>
            <a:srgbClr val="39D0C3"/>
          </a:solidFill>
          <a:ln w="12700">
            <a:solidFill>
              <a:srgbClr val="39D0C3"/>
            </a:solidFill>
            <a:prstDash val="solid"/>
          </a:ln>
        </p:spPr>
      </p:sp>
      <p:sp>
        <p:nvSpPr>
          <p:cNvPr id="16" name="Text 13"/>
          <p:cNvSpPr txBox="1"/>
          <p:nvPr/>
        </p:nvSpPr>
        <p:spPr>
          <a:xfrm>
            <a:off x="914400" y="3650488"/>
            <a:ext cx="1609344" cy="52120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Following car loses 4% downforce at 20 m (35% in 2021)</a:t>
            </a:r>
            <a:endParaRPr lang="en-US" sz="1100" dirty="0"/>
          </a:p>
        </p:txBody>
      </p:sp>
      <p:sp>
        <p:nvSpPr>
          <p:cNvPr id="17" name="Shape 14"/>
          <p:cNvSpPr/>
          <p:nvPr/>
        </p:nvSpPr>
        <p:spPr>
          <a:xfrm>
            <a:off x="713232" y="4268724"/>
            <a:ext cx="64008" cy="64008"/>
          </a:xfrm>
          <a:prstGeom prst="ellipse">
            <a:avLst/>
          </a:prstGeom>
          <a:solidFill>
            <a:srgbClr val="39D0C3"/>
          </a:solidFill>
          <a:ln w="12700">
            <a:solidFill>
              <a:srgbClr val="39D0C3"/>
            </a:solidFill>
            <a:prstDash val="solid"/>
          </a:ln>
        </p:spPr>
      </p:sp>
      <p:sp>
        <p:nvSpPr>
          <p:cNvPr id="18" name="Text 15"/>
          <p:cNvSpPr txBox="1"/>
          <p:nvPr/>
        </p:nvSpPr>
        <p:spPr>
          <a:xfrm>
            <a:off x="914400" y="421690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798 kg minimum; E10 fuel</a:t>
            </a:r>
            <a:endParaRPr lang="en-US" sz="1100" dirty="0"/>
          </a:p>
        </p:txBody>
      </p:sp>
      <p:sp>
        <p:nvSpPr>
          <p:cNvPr id="19" name="Text 16"/>
          <p:cNvSpPr txBox="1"/>
          <p:nvPr/>
        </p:nvSpPr>
        <p:spPr>
          <a:xfrm>
            <a:off x="713232" y="5010912"/>
            <a:ext cx="1773936" cy="219456"/>
          </a:xfrm>
          <a:prstGeom prst="rect">
            <a:avLst/>
          </a:prstGeom>
          <a:noFill/>
          <a:ln/>
        </p:spPr>
        <p:txBody>
          <a:bodyPr wrap="square" lIns="0" tIns="0" rIns="0" bIns="0" rtlCol="0" anchor="t"/>
          <a:lstStyle/>
          <a:p>
            <a:pPr indent="0" marL="0">
              <a:buNone/>
            </a:pPr>
            <a:r>
              <a:rPr lang="en-US" sz="1000" b="1" spc="150" kern="0" dirty="0">
                <a:solidFill>
                  <a:srgbClr val="F0B84B"/>
                </a:solidFill>
                <a:latin typeface="Arial" pitchFamily="34" charset="0"/>
                <a:ea typeface="Arial" pitchFamily="34" charset="-122"/>
                <a:cs typeface="Arial" pitchFamily="34" charset="-120"/>
              </a:rPr>
              <a:t>TYRE EFFECT</a:t>
            </a:r>
            <a:endParaRPr lang="en-US" sz="1000" dirty="0"/>
          </a:p>
        </p:txBody>
      </p:sp>
      <p:sp>
        <p:nvSpPr>
          <p:cNvPr id="20" name="Text 17"/>
          <p:cNvSpPr txBox="1"/>
          <p:nvPr/>
        </p:nvSpPr>
        <p:spPr>
          <a:xfrm>
            <a:off x="713232" y="5248656"/>
            <a:ext cx="1773936" cy="896112"/>
          </a:xfrm>
          <a:prstGeom prst="rect">
            <a:avLst/>
          </a:prstGeom>
          <a:noFill/>
          <a:ln/>
        </p:spPr>
        <p:txBody>
          <a:bodyPr wrap="square" lIns="0" tIns="0" rIns="0" bIns="0" rtlCol="0" anchor="t"/>
          <a:lstStyle/>
          <a:p>
            <a:pPr indent="0" marL="0">
              <a:buNone/>
            </a:pPr>
            <a:r>
              <a:rPr lang="en-US" sz="1100" dirty="0">
                <a:solidFill>
                  <a:srgbClr val="98A3B3"/>
                </a:solidFill>
                <a:latin typeface="Arial" pitchFamily="34" charset="0"/>
                <a:ea typeface="Arial" pitchFamily="34" charset="-122"/>
                <a:cs typeface="Arial" pitchFamily="34" charset="-120"/>
              </a:rPr>
              <a:t>Designed to overheat less; Pirelli met most targets but saw understeer and front graining.</a:t>
            </a:r>
            <a:endParaRPr lang="en-US" sz="1100" dirty="0"/>
          </a:p>
        </p:txBody>
      </p:sp>
      <p:sp>
        <p:nvSpPr>
          <p:cNvPr id="21" name="Shape 18"/>
          <p:cNvSpPr/>
          <p:nvPr/>
        </p:nvSpPr>
        <p:spPr>
          <a:xfrm>
            <a:off x="2796235" y="1783080"/>
            <a:ext cx="2103120" cy="4434840"/>
          </a:xfrm>
          <a:prstGeom prst="roundRect">
            <a:avLst>
              <a:gd name="adj" fmla="val 3478"/>
            </a:avLst>
          </a:prstGeom>
          <a:solidFill>
            <a:srgbClr val="11161E"/>
          </a:solidFill>
          <a:ln w="9525">
            <a:solidFill>
              <a:srgbClr val="272F3B"/>
            </a:solidFill>
            <a:prstDash val="solid"/>
          </a:ln>
        </p:spPr>
      </p:sp>
      <p:sp>
        <p:nvSpPr>
          <p:cNvPr id="22" name="Text 19"/>
          <p:cNvSpPr txBox="1"/>
          <p:nvPr/>
        </p:nvSpPr>
        <p:spPr>
          <a:xfrm>
            <a:off x="2960827" y="1901952"/>
            <a:ext cx="1773936" cy="411480"/>
          </a:xfrm>
          <a:prstGeom prst="rect">
            <a:avLst/>
          </a:prstGeom>
          <a:noFill/>
          <a:ln/>
        </p:spPr>
        <p:txBody>
          <a:bodyPr wrap="square" lIns="0" tIns="0" rIns="0" bIns="0" rtlCol="0" anchor="t"/>
          <a:lstStyle/>
          <a:p>
            <a:pPr indent="0" marL="0">
              <a:buNone/>
            </a:pPr>
            <a:r>
              <a:rPr lang="en-US" sz="2400" b="1" dirty="0">
                <a:solidFill>
                  <a:srgbClr val="F3F6FA"/>
                </a:solidFill>
                <a:latin typeface="Arial" pitchFamily="34" charset="0"/>
                <a:ea typeface="Arial" pitchFamily="34" charset="-122"/>
                <a:cs typeface="Arial" pitchFamily="34" charset="-120"/>
              </a:rPr>
              <a:t>2023</a:t>
            </a:r>
            <a:endParaRPr lang="en-US" sz="2400" dirty="0"/>
          </a:p>
        </p:txBody>
      </p:sp>
      <p:sp>
        <p:nvSpPr>
          <p:cNvPr id="23" name="Text 20"/>
          <p:cNvSpPr txBox="1"/>
          <p:nvPr/>
        </p:nvSpPr>
        <p:spPr>
          <a:xfrm>
            <a:off x="2960827" y="2331720"/>
            <a:ext cx="1773936" cy="457200"/>
          </a:xfrm>
          <a:prstGeom prst="rect">
            <a:avLst/>
          </a:prstGeom>
          <a:noFill/>
          <a:ln/>
        </p:spPr>
        <p:txBody>
          <a:bodyPr wrap="square" lIns="0" tIns="0" rIns="0" bIns="0" rtlCol="0" anchor="t"/>
          <a:lstStyle/>
          <a:p>
            <a:pPr indent="0" marL="0">
              <a:buNone/>
            </a:pPr>
            <a:r>
              <a:rPr lang="en-US" sz="1200" b="1" dirty="0">
                <a:solidFill>
                  <a:srgbClr val="39D0C3"/>
                </a:solidFill>
                <a:latin typeface="Arial" pitchFamily="34" charset="0"/>
                <a:ea typeface="Arial" pitchFamily="34" charset="-122"/>
                <a:cs typeface="Arial" pitchFamily="34" charset="-120"/>
              </a:rPr>
              <a:t>New C1, stronger fronts</a:t>
            </a:r>
            <a:endParaRPr lang="en-US" sz="1200" dirty="0"/>
          </a:p>
        </p:txBody>
      </p:sp>
      <p:sp>
        <p:nvSpPr>
          <p:cNvPr id="24" name="Shape 21"/>
          <p:cNvSpPr/>
          <p:nvPr/>
        </p:nvSpPr>
        <p:spPr>
          <a:xfrm>
            <a:off x="2960827" y="2904744"/>
            <a:ext cx="64008" cy="64008"/>
          </a:xfrm>
          <a:prstGeom prst="ellipse">
            <a:avLst/>
          </a:prstGeom>
          <a:solidFill>
            <a:srgbClr val="39D0C3"/>
          </a:solidFill>
          <a:ln w="12700">
            <a:solidFill>
              <a:srgbClr val="39D0C3"/>
            </a:solidFill>
            <a:prstDash val="solid"/>
          </a:ln>
        </p:spPr>
      </p:sp>
      <p:sp>
        <p:nvSpPr>
          <p:cNvPr id="25" name="Text 22"/>
          <p:cNvSpPr txBox="1"/>
          <p:nvPr/>
        </p:nvSpPr>
        <p:spPr>
          <a:xfrm>
            <a:off x="3161995" y="285292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New C1; the old C1 became C0</a:t>
            </a:r>
            <a:endParaRPr lang="en-US" sz="1100" dirty="0"/>
          </a:p>
        </p:txBody>
      </p:sp>
      <p:sp>
        <p:nvSpPr>
          <p:cNvPr id="26" name="Shape 23"/>
          <p:cNvSpPr/>
          <p:nvPr/>
        </p:nvSpPr>
        <p:spPr>
          <a:xfrm>
            <a:off x="2960827" y="3303524"/>
            <a:ext cx="64008" cy="64008"/>
          </a:xfrm>
          <a:prstGeom prst="ellipse">
            <a:avLst/>
          </a:prstGeom>
          <a:solidFill>
            <a:srgbClr val="39D0C3"/>
          </a:solidFill>
          <a:ln w="12700">
            <a:solidFill>
              <a:srgbClr val="39D0C3"/>
            </a:solidFill>
            <a:prstDash val="solid"/>
          </a:ln>
        </p:spPr>
      </p:sp>
      <p:sp>
        <p:nvSpPr>
          <p:cNvPr id="27" name="Text 24"/>
          <p:cNvSpPr txBox="1"/>
          <p:nvPr/>
        </p:nvSpPr>
        <p:spPr>
          <a:xfrm>
            <a:off x="3161995" y="325170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Stronger front construction</a:t>
            </a:r>
            <a:endParaRPr lang="en-US" sz="1100" dirty="0"/>
          </a:p>
        </p:txBody>
      </p:sp>
      <p:sp>
        <p:nvSpPr>
          <p:cNvPr id="28" name="Shape 25"/>
          <p:cNvSpPr/>
          <p:nvPr/>
        </p:nvSpPr>
        <p:spPr>
          <a:xfrm>
            <a:off x="2960827" y="3702304"/>
            <a:ext cx="64008" cy="64008"/>
          </a:xfrm>
          <a:prstGeom prst="ellipse">
            <a:avLst/>
          </a:prstGeom>
          <a:solidFill>
            <a:srgbClr val="39D0C3"/>
          </a:solidFill>
          <a:ln w="12700">
            <a:solidFill>
              <a:srgbClr val="39D0C3"/>
            </a:solidFill>
            <a:prstDash val="solid"/>
          </a:ln>
        </p:spPr>
      </p:sp>
      <p:sp>
        <p:nvSpPr>
          <p:cNvPr id="29" name="Text 26"/>
          <p:cNvSpPr txBox="1"/>
          <p:nvPr/>
        </p:nvSpPr>
        <p:spPr>
          <a:xfrm>
            <a:off x="3161995" y="365048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Floor edges raised 15 mm</a:t>
            </a:r>
            <a:endParaRPr lang="en-US" sz="1100" dirty="0"/>
          </a:p>
        </p:txBody>
      </p:sp>
      <p:sp>
        <p:nvSpPr>
          <p:cNvPr id="30" name="Shape 27"/>
          <p:cNvSpPr/>
          <p:nvPr/>
        </p:nvSpPr>
        <p:spPr>
          <a:xfrm>
            <a:off x="2960827" y="4101084"/>
            <a:ext cx="64008" cy="64008"/>
          </a:xfrm>
          <a:prstGeom prst="ellipse">
            <a:avLst/>
          </a:prstGeom>
          <a:solidFill>
            <a:srgbClr val="39D0C3"/>
          </a:solidFill>
          <a:ln w="12700">
            <a:solidFill>
              <a:srgbClr val="39D0C3"/>
            </a:solidFill>
            <a:prstDash val="solid"/>
          </a:ln>
        </p:spPr>
      </p:sp>
      <p:sp>
        <p:nvSpPr>
          <p:cNvPr id="31" name="Text 28"/>
          <p:cNvSpPr txBox="1"/>
          <p:nvPr/>
        </p:nvSpPr>
        <p:spPr>
          <a:xfrm>
            <a:off x="3161995" y="404926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Qatar: 18 laps maximum per set</a:t>
            </a:r>
            <a:endParaRPr lang="en-US" sz="1100" dirty="0"/>
          </a:p>
        </p:txBody>
      </p:sp>
      <p:sp>
        <p:nvSpPr>
          <p:cNvPr id="32" name="Text 29"/>
          <p:cNvSpPr txBox="1"/>
          <p:nvPr/>
        </p:nvSpPr>
        <p:spPr>
          <a:xfrm>
            <a:off x="2960827" y="5010912"/>
            <a:ext cx="1773936" cy="219456"/>
          </a:xfrm>
          <a:prstGeom prst="rect">
            <a:avLst/>
          </a:prstGeom>
          <a:noFill/>
          <a:ln/>
        </p:spPr>
        <p:txBody>
          <a:bodyPr wrap="square" lIns="0" tIns="0" rIns="0" bIns="0" rtlCol="0" anchor="t"/>
          <a:lstStyle/>
          <a:p>
            <a:pPr indent="0" marL="0">
              <a:buNone/>
            </a:pPr>
            <a:r>
              <a:rPr lang="en-US" sz="1000" b="1" spc="150" kern="0" dirty="0">
                <a:solidFill>
                  <a:srgbClr val="F0B84B"/>
                </a:solidFill>
                <a:latin typeface="Arial" pitchFamily="34" charset="0"/>
                <a:ea typeface="Arial" pitchFamily="34" charset="-122"/>
                <a:cs typeface="Arial" pitchFamily="34" charset="-120"/>
              </a:rPr>
              <a:t>TYRE EFFECT</a:t>
            </a:r>
            <a:endParaRPr lang="en-US" sz="1000" dirty="0"/>
          </a:p>
        </p:txBody>
      </p:sp>
      <p:sp>
        <p:nvSpPr>
          <p:cNvPr id="33" name="Text 30"/>
          <p:cNvSpPr txBox="1"/>
          <p:nvPr/>
        </p:nvSpPr>
        <p:spPr>
          <a:xfrm>
            <a:off x="2960827" y="5248656"/>
            <a:ext cx="1773936" cy="896112"/>
          </a:xfrm>
          <a:prstGeom prst="rect">
            <a:avLst/>
          </a:prstGeom>
          <a:noFill/>
          <a:ln/>
        </p:spPr>
        <p:txBody>
          <a:bodyPr wrap="square" lIns="0" tIns="0" rIns="0" bIns="0" rtlCol="0" anchor="t"/>
          <a:lstStyle/>
          <a:p>
            <a:pPr indent="0" marL="0">
              <a:buNone/>
            </a:pPr>
            <a:r>
              <a:rPr lang="en-US" sz="1100" dirty="0">
                <a:solidFill>
                  <a:srgbClr val="98A3B3"/>
                </a:solidFill>
                <a:latin typeface="Arial" pitchFamily="34" charset="0"/>
                <a:ea typeface="Arial" pitchFamily="34" charset="-122"/>
                <a:cs typeface="Arial" pitchFamily="34" charset="-120"/>
              </a:rPr>
              <a:t>Less understeer at lower pressures; the Qatar cap forced three stops.</a:t>
            </a:r>
            <a:endParaRPr lang="en-US" sz="1100" dirty="0"/>
          </a:p>
        </p:txBody>
      </p:sp>
      <p:sp>
        <p:nvSpPr>
          <p:cNvPr id="34" name="Shape 31"/>
          <p:cNvSpPr/>
          <p:nvPr/>
        </p:nvSpPr>
        <p:spPr>
          <a:xfrm>
            <a:off x="5043830" y="1783080"/>
            <a:ext cx="2103120" cy="4434840"/>
          </a:xfrm>
          <a:prstGeom prst="roundRect">
            <a:avLst>
              <a:gd name="adj" fmla="val 3478"/>
            </a:avLst>
          </a:prstGeom>
          <a:solidFill>
            <a:srgbClr val="11161E"/>
          </a:solidFill>
          <a:ln w="9525">
            <a:solidFill>
              <a:srgbClr val="272F3B"/>
            </a:solidFill>
            <a:prstDash val="solid"/>
          </a:ln>
        </p:spPr>
      </p:sp>
      <p:sp>
        <p:nvSpPr>
          <p:cNvPr id="35" name="Text 32"/>
          <p:cNvSpPr txBox="1"/>
          <p:nvPr/>
        </p:nvSpPr>
        <p:spPr>
          <a:xfrm>
            <a:off x="5208422" y="1901952"/>
            <a:ext cx="1773936" cy="411480"/>
          </a:xfrm>
          <a:prstGeom prst="rect">
            <a:avLst/>
          </a:prstGeom>
          <a:noFill/>
          <a:ln/>
        </p:spPr>
        <p:txBody>
          <a:bodyPr wrap="square" lIns="0" tIns="0" rIns="0" bIns="0" rtlCol="0" anchor="t"/>
          <a:lstStyle/>
          <a:p>
            <a:pPr indent="0" marL="0">
              <a:buNone/>
            </a:pPr>
            <a:r>
              <a:rPr lang="en-US" sz="2400" b="1" dirty="0">
                <a:solidFill>
                  <a:srgbClr val="F3F6FA"/>
                </a:solidFill>
                <a:latin typeface="Arial" pitchFamily="34" charset="0"/>
                <a:ea typeface="Arial" pitchFamily="34" charset="-122"/>
                <a:cs typeface="Arial" pitchFamily="34" charset="-120"/>
              </a:rPr>
              <a:t>2024</a:t>
            </a:r>
            <a:endParaRPr lang="en-US" sz="2400" dirty="0"/>
          </a:p>
        </p:txBody>
      </p:sp>
      <p:sp>
        <p:nvSpPr>
          <p:cNvPr id="36" name="Text 33"/>
          <p:cNvSpPr txBox="1"/>
          <p:nvPr/>
        </p:nvSpPr>
        <p:spPr>
          <a:xfrm>
            <a:off x="5208422" y="2331720"/>
            <a:ext cx="1773936" cy="457200"/>
          </a:xfrm>
          <a:prstGeom prst="rect">
            <a:avLst/>
          </a:prstGeom>
          <a:noFill/>
          <a:ln/>
        </p:spPr>
        <p:txBody>
          <a:bodyPr wrap="square" lIns="0" tIns="0" rIns="0" bIns="0" rtlCol="0" anchor="t"/>
          <a:lstStyle/>
          <a:p>
            <a:pPr indent="0" marL="0">
              <a:buNone/>
            </a:pPr>
            <a:r>
              <a:rPr lang="en-US" sz="1200" b="1" dirty="0">
                <a:solidFill>
                  <a:srgbClr val="39D0C3"/>
                </a:solidFill>
                <a:latin typeface="Arial" pitchFamily="34" charset="0"/>
                <a:ea typeface="Arial" pitchFamily="34" charset="-122"/>
                <a:cs typeface="Arial" pitchFamily="34" charset="-120"/>
              </a:rPr>
              <a:t>The stable year</a:t>
            </a:r>
            <a:endParaRPr lang="en-US" sz="1200" dirty="0"/>
          </a:p>
        </p:txBody>
      </p:sp>
      <p:sp>
        <p:nvSpPr>
          <p:cNvPr id="37" name="Shape 34"/>
          <p:cNvSpPr/>
          <p:nvPr/>
        </p:nvSpPr>
        <p:spPr>
          <a:xfrm>
            <a:off x="5208422" y="2904744"/>
            <a:ext cx="64008" cy="64008"/>
          </a:xfrm>
          <a:prstGeom prst="ellipse">
            <a:avLst/>
          </a:prstGeom>
          <a:solidFill>
            <a:srgbClr val="39D0C3"/>
          </a:solidFill>
          <a:ln w="12700">
            <a:solidFill>
              <a:srgbClr val="39D0C3"/>
            </a:solidFill>
            <a:prstDash val="solid"/>
          </a:ln>
        </p:spPr>
      </p:sp>
      <p:sp>
        <p:nvSpPr>
          <p:cNvPr id="38" name="Text 35"/>
          <p:cNvSpPr txBox="1"/>
          <p:nvPr/>
        </p:nvSpPr>
        <p:spPr>
          <a:xfrm>
            <a:off x="5409590" y="285292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Same compounds, C0 dropped: C1 to C5</a:t>
            </a:r>
            <a:endParaRPr lang="en-US" sz="1100" dirty="0"/>
          </a:p>
        </p:txBody>
      </p:sp>
      <p:sp>
        <p:nvSpPr>
          <p:cNvPr id="39" name="Shape 36"/>
          <p:cNvSpPr/>
          <p:nvPr/>
        </p:nvSpPr>
        <p:spPr>
          <a:xfrm>
            <a:off x="5208422" y="3303524"/>
            <a:ext cx="64008" cy="64008"/>
          </a:xfrm>
          <a:prstGeom prst="ellipse">
            <a:avLst/>
          </a:prstGeom>
          <a:solidFill>
            <a:srgbClr val="39D0C3"/>
          </a:solidFill>
          <a:ln w="12700">
            <a:solidFill>
              <a:srgbClr val="39D0C3"/>
            </a:solidFill>
            <a:prstDash val="solid"/>
          </a:ln>
        </p:spPr>
      </p:sp>
      <p:sp>
        <p:nvSpPr>
          <p:cNvPr id="40" name="Text 37"/>
          <p:cNvSpPr txBox="1"/>
          <p:nvPr/>
        </p:nvSpPr>
        <p:spPr>
          <a:xfrm>
            <a:off x="5409590" y="325170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Blanket ban postponed; blankets kept</a:t>
            </a:r>
            <a:endParaRPr lang="en-US" sz="1100" dirty="0"/>
          </a:p>
        </p:txBody>
      </p:sp>
      <p:sp>
        <p:nvSpPr>
          <p:cNvPr id="41" name="Shape 38"/>
          <p:cNvSpPr/>
          <p:nvPr/>
        </p:nvSpPr>
        <p:spPr>
          <a:xfrm>
            <a:off x="5208422" y="3702304"/>
            <a:ext cx="64008" cy="64008"/>
          </a:xfrm>
          <a:prstGeom prst="ellipse">
            <a:avLst/>
          </a:prstGeom>
          <a:solidFill>
            <a:srgbClr val="39D0C3"/>
          </a:solidFill>
          <a:ln w="12700">
            <a:solidFill>
              <a:srgbClr val="39D0C3"/>
            </a:solidFill>
            <a:prstDash val="solid"/>
          </a:ln>
        </p:spPr>
      </p:sp>
      <p:sp>
        <p:nvSpPr>
          <p:cNvPr id="42" name="Text 39"/>
          <p:cNvSpPr txBox="1"/>
          <p:nvPr/>
        </p:nvSpPr>
        <p:spPr>
          <a:xfrm>
            <a:off x="5409590" y="365048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Sprint qualifying moved to Friday</a:t>
            </a:r>
            <a:endParaRPr lang="en-US" sz="1100" dirty="0"/>
          </a:p>
        </p:txBody>
      </p:sp>
      <p:sp>
        <p:nvSpPr>
          <p:cNvPr id="43" name="Text 40"/>
          <p:cNvSpPr txBox="1"/>
          <p:nvPr/>
        </p:nvSpPr>
        <p:spPr>
          <a:xfrm>
            <a:off x="5208422" y="5010912"/>
            <a:ext cx="1773936" cy="219456"/>
          </a:xfrm>
          <a:prstGeom prst="rect">
            <a:avLst/>
          </a:prstGeom>
          <a:noFill/>
          <a:ln/>
        </p:spPr>
        <p:txBody>
          <a:bodyPr wrap="square" lIns="0" tIns="0" rIns="0" bIns="0" rtlCol="0" anchor="t"/>
          <a:lstStyle/>
          <a:p>
            <a:pPr indent="0" marL="0">
              <a:buNone/>
            </a:pPr>
            <a:r>
              <a:rPr lang="en-US" sz="1000" b="1" spc="150" kern="0" dirty="0">
                <a:solidFill>
                  <a:srgbClr val="F0B84B"/>
                </a:solidFill>
                <a:latin typeface="Arial" pitchFamily="34" charset="0"/>
                <a:ea typeface="Arial" pitchFamily="34" charset="-122"/>
                <a:cs typeface="Arial" pitchFamily="34" charset="-120"/>
              </a:rPr>
              <a:t>TYRE EFFECT</a:t>
            </a:r>
            <a:endParaRPr lang="en-US" sz="1000" dirty="0"/>
          </a:p>
        </p:txBody>
      </p:sp>
      <p:sp>
        <p:nvSpPr>
          <p:cNvPr id="44" name="Text 41"/>
          <p:cNvSpPr txBox="1"/>
          <p:nvPr/>
        </p:nvSpPr>
        <p:spPr>
          <a:xfrm>
            <a:off x="5208422" y="5248656"/>
            <a:ext cx="1773936" cy="896112"/>
          </a:xfrm>
          <a:prstGeom prst="rect">
            <a:avLst/>
          </a:prstGeom>
          <a:noFill/>
          <a:ln/>
        </p:spPr>
        <p:txBody>
          <a:bodyPr wrap="square" lIns="0" tIns="0" rIns="0" bIns="0" rtlCol="0" anchor="t"/>
          <a:lstStyle/>
          <a:p>
            <a:pPr indent="0" marL="0">
              <a:buNone/>
            </a:pPr>
            <a:r>
              <a:rPr lang="en-US" sz="1100" dirty="0">
                <a:solidFill>
                  <a:srgbClr val="98A3B3"/>
                </a:solidFill>
                <a:latin typeface="Arial" pitchFamily="34" charset="0"/>
                <a:ea typeface="Arial" pitchFamily="34" charset="-122"/>
                <a:cs typeface="Arial" pitchFamily="34" charset="-120"/>
              </a:rPr>
              <a:t>No tyre change: the cleanest baseline between two rule eras.</a:t>
            </a:r>
            <a:endParaRPr lang="en-US" sz="1100" dirty="0"/>
          </a:p>
        </p:txBody>
      </p:sp>
      <p:sp>
        <p:nvSpPr>
          <p:cNvPr id="45" name="Shape 42"/>
          <p:cNvSpPr/>
          <p:nvPr/>
        </p:nvSpPr>
        <p:spPr>
          <a:xfrm>
            <a:off x="7291426" y="1783080"/>
            <a:ext cx="2103120" cy="4434840"/>
          </a:xfrm>
          <a:prstGeom prst="roundRect">
            <a:avLst>
              <a:gd name="adj" fmla="val 3478"/>
            </a:avLst>
          </a:prstGeom>
          <a:solidFill>
            <a:srgbClr val="11161E"/>
          </a:solidFill>
          <a:ln w="9525">
            <a:solidFill>
              <a:srgbClr val="272F3B"/>
            </a:solidFill>
            <a:prstDash val="solid"/>
          </a:ln>
        </p:spPr>
      </p:sp>
      <p:sp>
        <p:nvSpPr>
          <p:cNvPr id="46" name="Text 43"/>
          <p:cNvSpPr txBox="1"/>
          <p:nvPr/>
        </p:nvSpPr>
        <p:spPr>
          <a:xfrm>
            <a:off x="7456018" y="1901952"/>
            <a:ext cx="1773936" cy="411480"/>
          </a:xfrm>
          <a:prstGeom prst="rect">
            <a:avLst/>
          </a:prstGeom>
          <a:noFill/>
          <a:ln/>
        </p:spPr>
        <p:txBody>
          <a:bodyPr wrap="square" lIns="0" tIns="0" rIns="0" bIns="0" rtlCol="0" anchor="t"/>
          <a:lstStyle/>
          <a:p>
            <a:pPr indent="0" marL="0">
              <a:buNone/>
            </a:pPr>
            <a:r>
              <a:rPr lang="en-US" sz="2400" b="1" dirty="0">
                <a:solidFill>
                  <a:srgbClr val="F3F6FA"/>
                </a:solidFill>
                <a:latin typeface="Arial" pitchFamily="34" charset="0"/>
                <a:ea typeface="Arial" pitchFamily="34" charset="-122"/>
                <a:cs typeface="Arial" pitchFamily="34" charset="-120"/>
              </a:rPr>
              <a:t>2025</a:t>
            </a:r>
            <a:endParaRPr lang="en-US" sz="2400" dirty="0"/>
          </a:p>
        </p:txBody>
      </p:sp>
      <p:sp>
        <p:nvSpPr>
          <p:cNvPr id="47" name="Text 44"/>
          <p:cNvSpPr txBox="1"/>
          <p:nvPr/>
        </p:nvSpPr>
        <p:spPr>
          <a:xfrm>
            <a:off x="7456018" y="2331720"/>
            <a:ext cx="1773936" cy="457200"/>
          </a:xfrm>
          <a:prstGeom prst="rect">
            <a:avLst/>
          </a:prstGeom>
          <a:noFill/>
          <a:ln/>
        </p:spPr>
        <p:txBody>
          <a:bodyPr wrap="square" lIns="0" tIns="0" rIns="0" bIns="0" rtlCol="0" anchor="t"/>
          <a:lstStyle/>
          <a:p>
            <a:pPr indent="0" marL="0">
              <a:buNone/>
            </a:pPr>
            <a:r>
              <a:rPr lang="en-US" sz="1200" b="1" dirty="0">
                <a:solidFill>
                  <a:srgbClr val="39D0C3"/>
                </a:solidFill>
                <a:latin typeface="Arial" pitchFamily="34" charset="0"/>
                <a:ea typeface="Arial" pitchFamily="34" charset="-122"/>
                <a:cs typeface="Arial" pitchFamily="34" charset="-120"/>
              </a:rPr>
              <a:t>Softer range, forced stops</a:t>
            </a:r>
            <a:endParaRPr lang="en-US" sz="1200" dirty="0"/>
          </a:p>
        </p:txBody>
      </p:sp>
      <p:sp>
        <p:nvSpPr>
          <p:cNvPr id="48" name="Shape 45"/>
          <p:cNvSpPr/>
          <p:nvPr/>
        </p:nvSpPr>
        <p:spPr>
          <a:xfrm>
            <a:off x="7456018" y="2904744"/>
            <a:ext cx="64008" cy="64008"/>
          </a:xfrm>
          <a:prstGeom prst="ellipse">
            <a:avLst/>
          </a:prstGeom>
          <a:solidFill>
            <a:srgbClr val="39D0C3"/>
          </a:solidFill>
          <a:ln w="12700">
            <a:solidFill>
              <a:srgbClr val="39D0C3"/>
            </a:solidFill>
            <a:prstDash val="solid"/>
          </a:ln>
        </p:spPr>
      </p:sp>
      <p:sp>
        <p:nvSpPr>
          <p:cNvPr id="49" name="Text 46"/>
          <p:cNvSpPr txBox="1"/>
          <p:nvPr/>
        </p:nvSpPr>
        <p:spPr>
          <a:xfrm>
            <a:off x="7657186" y="2852928"/>
            <a:ext cx="1609344" cy="52120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New C6, the softest; aim of 0.5 s between compounds</a:t>
            </a:r>
            <a:endParaRPr lang="en-US" sz="1100" dirty="0"/>
          </a:p>
        </p:txBody>
      </p:sp>
      <p:sp>
        <p:nvSpPr>
          <p:cNvPr id="50" name="Shape 47"/>
          <p:cNvSpPr/>
          <p:nvPr/>
        </p:nvSpPr>
        <p:spPr>
          <a:xfrm>
            <a:off x="7456018" y="3471164"/>
            <a:ext cx="64008" cy="64008"/>
          </a:xfrm>
          <a:prstGeom prst="ellipse">
            <a:avLst/>
          </a:prstGeom>
          <a:solidFill>
            <a:srgbClr val="39D0C3"/>
          </a:solidFill>
          <a:ln w="12700">
            <a:solidFill>
              <a:srgbClr val="39D0C3"/>
            </a:solidFill>
            <a:prstDash val="solid"/>
          </a:ln>
        </p:spPr>
      </p:sp>
      <p:sp>
        <p:nvSpPr>
          <p:cNvPr id="51" name="Text 48"/>
          <p:cNvSpPr txBox="1"/>
          <p:nvPr/>
        </p:nvSpPr>
        <p:spPr>
          <a:xfrm>
            <a:off x="7657186" y="341934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Monaco: two compounds and two stops</a:t>
            </a:r>
            <a:endParaRPr lang="en-US" sz="1100" dirty="0"/>
          </a:p>
        </p:txBody>
      </p:sp>
      <p:sp>
        <p:nvSpPr>
          <p:cNvPr id="52" name="Shape 49"/>
          <p:cNvSpPr/>
          <p:nvPr/>
        </p:nvSpPr>
        <p:spPr>
          <a:xfrm>
            <a:off x="7456018" y="3869944"/>
            <a:ext cx="64008" cy="64008"/>
          </a:xfrm>
          <a:prstGeom prst="ellipse">
            <a:avLst/>
          </a:prstGeom>
          <a:solidFill>
            <a:srgbClr val="39D0C3"/>
          </a:solidFill>
          <a:ln w="12700">
            <a:solidFill>
              <a:srgbClr val="39D0C3"/>
            </a:solidFill>
            <a:prstDash val="solid"/>
          </a:ln>
        </p:spPr>
      </p:sp>
      <p:sp>
        <p:nvSpPr>
          <p:cNvPr id="53" name="Text 50"/>
          <p:cNvSpPr txBox="1"/>
          <p:nvPr/>
        </p:nvSpPr>
        <p:spPr>
          <a:xfrm>
            <a:off x="7657186" y="381812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Qatar: 25 laps maximum per set</a:t>
            </a:r>
            <a:endParaRPr lang="en-US" sz="1100" dirty="0"/>
          </a:p>
        </p:txBody>
      </p:sp>
      <p:sp>
        <p:nvSpPr>
          <p:cNvPr id="54" name="Shape 51"/>
          <p:cNvSpPr/>
          <p:nvPr/>
        </p:nvSpPr>
        <p:spPr>
          <a:xfrm>
            <a:off x="7456018" y="4268724"/>
            <a:ext cx="64008" cy="64008"/>
          </a:xfrm>
          <a:prstGeom prst="ellipse">
            <a:avLst/>
          </a:prstGeom>
          <a:solidFill>
            <a:srgbClr val="39D0C3"/>
          </a:solidFill>
          <a:ln w="12700">
            <a:solidFill>
              <a:srgbClr val="39D0C3"/>
            </a:solidFill>
            <a:prstDash val="solid"/>
          </a:ln>
        </p:spPr>
      </p:sp>
      <p:sp>
        <p:nvSpPr>
          <p:cNvPr id="55" name="Text 52"/>
          <p:cNvSpPr txBox="1"/>
          <p:nvPr/>
        </p:nvSpPr>
        <p:spPr>
          <a:xfrm>
            <a:off x="7657186" y="4216908"/>
            <a:ext cx="1609344" cy="18592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800 kg minimum</a:t>
            </a:r>
            <a:endParaRPr lang="en-US" sz="1100" dirty="0"/>
          </a:p>
        </p:txBody>
      </p:sp>
      <p:sp>
        <p:nvSpPr>
          <p:cNvPr id="56" name="Text 53"/>
          <p:cNvSpPr txBox="1"/>
          <p:nvPr/>
        </p:nvSpPr>
        <p:spPr>
          <a:xfrm>
            <a:off x="7456018" y="5010912"/>
            <a:ext cx="1773936" cy="219456"/>
          </a:xfrm>
          <a:prstGeom prst="rect">
            <a:avLst/>
          </a:prstGeom>
          <a:noFill/>
          <a:ln/>
        </p:spPr>
        <p:txBody>
          <a:bodyPr wrap="square" lIns="0" tIns="0" rIns="0" bIns="0" rtlCol="0" anchor="t"/>
          <a:lstStyle/>
          <a:p>
            <a:pPr indent="0" marL="0">
              <a:buNone/>
            </a:pPr>
            <a:r>
              <a:rPr lang="en-US" sz="1000" b="1" spc="150" kern="0" dirty="0">
                <a:solidFill>
                  <a:srgbClr val="F0B84B"/>
                </a:solidFill>
                <a:latin typeface="Arial" pitchFamily="34" charset="0"/>
                <a:ea typeface="Arial" pitchFamily="34" charset="-122"/>
                <a:cs typeface="Arial" pitchFamily="34" charset="-120"/>
              </a:rPr>
              <a:t>TYRE EFFECT</a:t>
            </a:r>
            <a:endParaRPr lang="en-US" sz="1000" dirty="0"/>
          </a:p>
        </p:txBody>
      </p:sp>
      <p:sp>
        <p:nvSpPr>
          <p:cNvPr id="57" name="Text 54"/>
          <p:cNvSpPr txBox="1"/>
          <p:nvPr/>
        </p:nvSpPr>
        <p:spPr>
          <a:xfrm>
            <a:off x="7456018" y="5248656"/>
            <a:ext cx="1773936" cy="896112"/>
          </a:xfrm>
          <a:prstGeom prst="rect">
            <a:avLst/>
          </a:prstGeom>
          <a:noFill/>
          <a:ln/>
        </p:spPr>
        <p:txBody>
          <a:bodyPr wrap="square" lIns="0" tIns="0" rIns="0" bIns="0" rtlCol="0" anchor="t"/>
          <a:lstStyle/>
          <a:p>
            <a:pPr indent="0" marL="0">
              <a:buNone/>
            </a:pPr>
            <a:r>
              <a:rPr lang="en-US" sz="1100" dirty="0">
                <a:solidFill>
                  <a:srgbClr val="98A3B3"/>
                </a:solidFill>
                <a:latin typeface="Arial" pitchFamily="34" charset="0"/>
                <a:ea typeface="Arial" pitchFamily="34" charset="-122"/>
                <a:cs typeface="Arial" pitchFamily="34" charset="-120"/>
              </a:rPr>
              <a:t>Where the tyre alone gave one stop, the rules imposed more.</a:t>
            </a:r>
            <a:endParaRPr lang="en-US" sz="1100" dirty="0"/>
          </a:p>
        </p:txBody>
      </p:sp>
      <p:sp>
        <p:nvSpPr>
          <p:cNvPr id="58" name="Shape 55"/>
          <p:cNvSpPr/>
          <p:nvPr/>
        </p:nvSpPr>
        <p:spPr>
          <a:xfrm>
            <a:off x="9539021" y="1783080"/>
            <a:ext cx="2103120" cy="4434840"/>
          </a:xfrm>
          <a:prstGeom prst="roundRect">
            <a:avLst>
              <a:gd name="adj" fmla="val 3478"/>
            </a:avLst>
          </a:prstGeom>
          <a:solidFill>
            <a:srgbClr val="171D27"/>
          </a:solidFill>
          <a:ln w="9525">
            <a:solidFill>
              <a:srgbClr val="272F3B"/>
            </a:solidFill>
            <a:prstDash val="solid"/>
          </a:ln>
        </p:spPr>
      </p:sp>
      <p:sp>
        <p:nvSpPr>
          <p:cNvPr id="59" name="Text 56"/>
          <p:cNvSpPr txBox="1"/>
          <p:nvPr/>
        </p:nvSpPr>
        <p:spPr>
          <a:xfrm>
            <a:off x="9703613" y="1901952"/>
            <a:ext cx="1773936" cy="411480"/>
          </a:xfrm>
          <a:prstGeom prst="rect">
            <a:avLst/>
          </a:prstGeom>
          <a:noFill/>
          <a:ln/>
        </p:spPr>
        <p:txBody>
          <a:bodyPr wrap="square" lIns="0" tIns="0" rIns="0" bIns="0" rtlCol="0" anchor="t"/>
          <a:lstStyle/>
          <a:p>
            <a:pPr indent="0" marL="0">
              <a:buNone/>
            </a:pPr>
            <a:r>
              <a:rPr lang="en-US" sz="2400" b="1" dirty="0">
                <a:solidFill>
                  <a:srgbClr val="8FE9DC"/>
                </a:solidFill>
                <a:latin typeface="Arial" pitchFamily="34" charset="0"/>
                <a:ea typeface="Arial" pitchFamily="34" charset="-122"/>
                <a:cs typeface="Arial" pitchFamily="34" charset="-120"/>
              </a:rPr>
              <a:t>2026</a:t>
            </a:r>
            <a:endParaRPr lang="en-US" sz="2400" dirty="0"/>
          </a:p>
        </p:txBody>
      </p:sp>
      <p:sp>
        <p:nvSpPr>
          <p:cNvPr id="60" name="Text 57"/>
          <p:cNvSpPr txBox="1"/>
          <p:nvPr/>
        </p:nvSpPr>
        <p:spPr>
          <a:xfrm>
            <a:off x="9703613" y="2331720"/>
            <a:ext cx="1773936" cy="457200"/>
          </a:xfrm>
          <a:prstGeom prst="rect">
            <a:avLst/>
          </a:prstGeom>
          <a:noFill/>
          <a:ln/>
        </p:spPr>
        <p:txBody>
          <a:bodyPr wrap="square" lIns="0" tIns="0" rIns="0" bIns="0" rtlCol="0" anchor="t"/>
          <a:lstStyle/>
          <a:p>
            <a:pPr indent="0" marL="0">
              <a:buNone/>
            </a:pPr>
            <a:r>
              <a:rPr lang="en-US" sz="1200" b="1" dirty="0">
                <a:solidFill>
                  <a:srgbClr val="39D0C3"/>
                </a:solidFill>
                <a:latin typeface="Arial" pitchFamily="34" charset="0"/>
                <a:ea typeface="Arial" pitchFamily="34" charset="-122"/>
                <a:cs typeface="Arial" pitchFamily="34" charset="-120"/>
              </a:rPr>
              <a:t>Smaller tyres, lighter cars, less fuel</a:t>
            </a:r>
            <a:endParaRPr lang="en-US" sz="1200" dirty="0"/>
          </a:p>
        </p:txBody>
      </p:sp>
      <p:sp>
        <p:nvSpPr>
          <p:cNvPr id="61" name="Shape 58"/>
          <p:cNvSpPr/>
          <p:nvPr/>
        </p:nvSpPr>
        <p:spPr>
          <a:xfrm>
            <a:off x="9703613" y="2904744"/>
            <a:ext cx="64008" cy="64008"/>
          </a:xfrm>
          <a:prstGeom prst="ellipse">
            <a:avLst/>
          </a:prstGeom>
          <a:solidFill>
            <a:srgbClr val="39D0C3"/>
          </a:solidFill>
          <a:ln w="12700">
            <a:solidFill>
              <a:srgbClr val="39D0C3"/>
            </a:solidFill>
            <a:prstDash val="solid"/>
          </a:ln>
        </p:spPr>
      </p:sp>
      <p:sp>
        <p:nvSpPr>
          <p:cNvPr id="62" name="Text 59"/>
          <p:cNvSpPr txBox="1"/>
          <p:nvPr/>
        </p:nvSpPr>
        <p:spPr>
          <a:xfrm>
            <a:off x="9904781" y="2852928"/>
            <a:ext cx="1609344" cy="52120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Tyres 25 mm narrower front, 30 mm rear; C6 dropped</a:t>
            </a:r>
            <a:endParaRPr lang="en-US" sz="1100" dirty="0"/>
          </a:p>
        </p:txBody>
      </p:sp>
      <p:sp>
        <p:nvSpPr>
          <p:cNvPr id="63" name="Shape 60"/>
          <p:cNvSpPr/>
          <p:nvPr/>
        </p:nvSpPr>
        <p:spPr>
          <a:xfrm>
            <a:off x="9703613" y="3471164"/>
            <a:ext cx="64008" cy="64008"/>
          </a:xfrm>
          <a:prstGeom prst="ellipse">
            <a:avLst/>
          </a:prstGeom>
          <a:solidFill>
            <a:srgbClr val="39D0C3"/>
          </a:solidFill>
          <a:ln w="12700">
            <a:solidFill>
              <a:srgbClr val="39D0C3"/>
            </a:solidFill>
            <a:prstDash val="solid"/>
          </a:ln>
        </p:spPr>
      </p:sp>
      <p:sp>
        <p:nvSpPr>
          <p:cNvPr id="64" name="Text 61"/>
          <p:cNvSpPr txBox="1"/>
          <p:nvPr/>
        </p:nvSpPr>
        <p:spPr>
          <a:xfrm>
            <a:off x="9904781" y="341934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768 kg; downforce -30%, drag -55% (FIA targets)</a:t>
            </a:r>
            <a:endParaRPr lang="en-US" sz="1100" dirty="0"/>
          </a:p>
        </p:txBody>
      </p:sp>
      <p:sp>
        <p:nvSpPr>
          <p:cNvPr id="65" name="Shape 62"/>
          <p:cNvSpPr/>
          <p:nvPr/>
        </p:nvSpPr>
        <p:spPr>
          <a:xfrm>
            <a:off x="9703613" y="3869944"/>
            <a:ext cx="64008" cy="64008"/>
          </a:xfrm>
          <a:prstGeom prst="ellipse">
            <a:avLst/>
          </a:prstGeom>
          <a:solidFill>
            <a:srgbClr val="39D0C3"/>
          </a:solidFill>
          <a:ln w="12700">
            <a:solidFill>
              <a:srgbClr val="39D0C3"/>
            </a:solidFill>
            <a:prstDash val="solid"/>
          </a:ln>
        </p:spPr>
      </p:sp>
      <p:sp>
        <p:nvSpPr>
          <p:cNvPr id="66" name="Text 63"/>
          <p:cNvSpPr txBox="1"/>
          <p:nvPr/>
        </p:nvSpPr>
        <p:spPr>
          <a:xfrm>
            <a:off x="9904781" y="381812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Active aero; Overtake Mode replaces DRS</a:t>
            </a:r>
            <a:endParaRPr lang="en-US" sz="1100" dirty="0"/>
          </a:p>
        </p:txBody>
      </p:sp>
      <p:sp>
        <p:nvSpPr>
          <p:cNvPr id="67" name="Shape 64"/>
          <p:cNvSpPr/>
          <p:nvPr/>
        </p:nvSpPr>
        <p:spPr>
          <a:xfrm>
            <a:off x="9703613" y="4268724"/>
            <a:ext cx="64008" cy="64008"/>
          </a:xfrm>
          <a:prstGeom prst="ellipse">
            <a:avLst/>
          </a:prstGeom>
          <a:solidFill>
            <a:srgbClr val="39D0C3"/>
          </a:solidFill>
          <a:ln w="12700">
            <a:solidFill>
              <a:srgbClr val="39D0C3"/>
            </a:solidFill>
            <a:prstDash val="solid"/>
          </a:ln>
        </p:spPr>
      </p:sp>
      <p:sp>
        <p:nvSpPr>
          <p:cNvPr id="68" name="Text 65"/>
          <p:cNvSpPr txBox="1"/>
          <p:nvPr/>
        </p:nvSpPr>
        <p:spPr>
          <a:xfrm>
            <a:off x="9904781" y="4216908"/>
            <a:ext cx="1609344" cy="353568"/>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100% sustainable fuel; energy-flow limit</a:t>
            </a:r>
            <a:endParaRPr lang="en-US" sz="1100" dirty="0"/>
          </a:p>
        </p:txBody>
      </p:sp>
      <p:sp>
        <p:nvSpPr>
          <p:cNvPr id="69" name="Text 66"/>
          <p:cNvSpPr txBox="1"/>
          <p:nvPr/>
        </p:nvSpPr>
        <p:spPr>
          <a:xfrm>
            <a:off x="9703613" y="5010912"/>
            <a:ext cx="1773936" cy="219456"/>
          </a:xfrm>
          <a:prstGeom prst="rect">
            <a:avLst/>
          </a:prstGeom>
          <a:noFill/>
          <a:ln/>
        </p:spPr>
        <p:txBody>
          <a:bodyPr wrap="square" lIns="0" tIns="0" rIns="0" bIns="0" rtlCol="0" anchor="t"/>
          <a:lstStyle/>
          <a:p>
            <a:pPr indent="0" marL="0">
              <a:buNone/>
            </a:pPr>
            <a:r>
              <a:rPr lang="en-US" sz="1000" b="1" spc="150" kern="0" dirty="0">
                <a:solidFill>
                  <a:srgbClr val="F0B84B"/>
                </a:solidFill>
                <a:latin typeface="Arial" pitchFamily="34" charset="0"/>
                <a:ea typeface="Arial" pitchFamily="34" charset="-122"/>
                <a:cs typeface="Arial" pitchFamily="34" charset="-120"/>
              </a:rPr>
              <a:t>TYRE EFFECT</a:t>
            </a:r>
            <a:endParaRPr lang="en-US" sz="1000" dirty="0"/>
          </a:p>
        </p:txBody>
      </p:sp>
      <p:sp>
        <p:nvSpPr>
          <p:cNvPr id="70" name="Text 67"/>
          <p:cNvSpPr txBox="1"/>
          <p:nvPr/>
        </p:nvSpPr>
        <p:spPr>
          <a:xfrm>
            <a:off x="9703613" y="5248656"/>
            <a:ext cx="1773936" cy="896112"/>
          </a:xfrm>
          <a:prstGeom prst="rect">
            <a:avLst/>
          </a:prstGeom>
          <a:noFill/>
          <a:ln/>
        </p:spPr>
        <p:txBody>
          <a:bodyPr wrap="square" lIns="0" tIns="0" rIns="0" bIns="0" rtlCol="0" anchor="t"/>
          <a:lstStyle/>
          <a:p>
            <a:pPr indent="0" marL="0">
              <a:buNone/>
            </a:pPr>
            <a:r>
              <a:rPr lang="en-US" sz="1100" dirty="0">
                <a:solidFill>
                  <a:srgbClr val="98A3B3"/>
                </a:solidFill>
                <a:latin typeface="Arial" pitchFamily="34" charset="0"/>
                <a:ea typeface="Arial" pitchFamily="34" charset="-122"/>
                <a:cs typeface="Arial" pitchFamily="34" charset="-120"/>
              </a:rPr>
              <a:t>Less load per lap: early one-stops, but hot Barcelona overheated tyres.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RULE CHANGES AND THE TYRE  ·  MEASURED</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What the eras did to degradation, in our own data</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Dry races outside the sealed holdout (2023: 15, 2024: 15, 2025: 16, 2026: 10); 2022 is not in our lap data</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12</a:t>
            </a:r>
            <a:endParaRPr lang="en-US" sz="900" dirty="0"/>
          </a:p>
        </p:txBody>
      </p:sp>
      <p:pic>
        <p:nvPicPr>
          <p:cNvPr id="8" name="Image 0" descr="/Users/samuelmorningstar/Trackshift/proto/deck_src/assets/chart_deg_season.png">    </p:cNvPr>
          <p:cNvPicPr>
            <a:picLocks noChangeAspect="1"/>
          </p:cNvPicPr>
          <p:nvPr/>
        </p:nvPicPr>
        <p:blipFill>
          <a:blip r:embed="rId1"/>
          <a:stretch>
            <a:fillRect/>
          </a:stretch>
        </p:blipFill>
        <p:spPr>
          <a:xfrm>
            <a:off x="548640" y="1691640"/>
            <a:ext cx="5486400" cy="3154680"/>
          </a:xfrm>
          <a:prstGeom prst="rect">
            <a:avLst/>
          </a:prstGeom>
        </p:spPr>
      </p:pic>
      <p:pic>
        <p:nvPicPr>
          <p:cNvPr id="9" name="Image 1" descr="/Users/samuelmorningstar/Trackshift/proto/deck_src/assets/chart_stint_season.png">    </p:cNvPr>
          <p:cNvPicPr>
            <a:picLocks noChangeAspect="1"/>
          </p:cNvPicPr>
          <p:nvPr/>
        </p:nvPicPr>
        <p:blipFill>
          <a:blip r:embed="rId2"/>
          <a:stretch>
            <a:fillRect/>
          </a:stretch>
        </p:blipFill>
        <p:spPr>
          <a:xfrm>
            <a:off x="6153912" y="1691640"/>
            <a:ext cx="5486400" cy="3154680"/>
          </a:xfrm>
          <a:prstGeom prst="rect">
            <a:avLst/>
          </a:prstGeom>
        </p:spPr>
      </p:pic>
      <p:sp>
        <p:nvSpPr>
          <p:cNvPr id="10" name="Shape 5"/>
          <p:cNvSpPr/>
          <p:nvPr/>
        </p:nvSpPr>
        <p:spPr>
          <a:xfrm>
            <a:off x="548640" y="4983480"/>
            <a:ext cx="1874520" cy="1234440"/>
          </a:xfrm>
          <a:prstGeom prst="roundRect">
            <a:avLst>
              <a:gd name="adj" fmla="val 5926"/>
            </a:avLst>
          </a:prstGeom>
          <a:solidFill>
            <a:srgbClr val="11161E"/>
          </a:solidFill>
          <a:ln w="9525">
            <a:solidFill>
              <a:srgbClr val="272F3B"/>
            </a:solidFill>
            <a:prstDash val="solid"/>
          </a:ln>
        </p:spPr>
      </p:sp>
      <p:sp>
        <p:nvSpPr>
          <p:cNvPr id="11" name="Text 6"/>
          <p:cNvSpPr txBox="1"/>
          <p:nvPr/>
        </p:nvSpPr>
        <p:spPr>
          <a:xfrm>
            <a:off x="685800" y="5074920"/>
            <a:ext cx="1645920" cy="256032"/>
          </a:xfrm>
          <a:prstGeom prst="rect">
            <a:avLst/>
          </a:prstGeom>
          <a:noFill/>
          <a:ln/>
        </p:spPr>
        <p:txBody>
          <a:bodyPr wrap="square" lIns="0" tIns="0" rIns="0" bIns="0" rtlCol="0" anchor="t"/>
          <a:lstStyle/>
          <a:p>
            <a:pPr indent="0" marL="0">
              <a:buNone/>
            </a:pPr>
            <a:r>
              <a:rPr lang="en-US" sz="1200" b="1" dirty="0">
                <a:solidFill>
                  <a:srgbClr val="98A3B3"/>
                </a:solidFill>
                <a:latin typeface="Arial" pitchFamily="34" charset="0"/>
                <a:ea typeface="Arial" pitchFamily="34" charset="-122"/>
                <a:cs typeface="Arial" pitchFamily="34" charset="-120"/>
              </a:rPr>
              <a:t>2023</a:t>
            </a:r>
            <a:endParaRPr lang="en-US" sz="1200" dirty="0"/>
          </a:p>
        </p:txBody>
      </p:sp>
      <p:sp>
        <p:nvSpPr>
          <p:cNvPr id="12" name="Text 7"/>
          <p:cNvSpPr txBox="1"/>
          <p:nvPr/>
        </p:nvSpPr>
        <p:spPr>
          <a:xfrm>
            <a:off x="685800" y="5330952"/>
            <a:ext cx="914400" cy="457200"/>
          </a:xfrm>
          <a:prstGeom prst="rect">
            <a:avLst/>
          </a:prstGeom>
          <a:noFill/>
          <a:ln/>
        </p:spPr>
        <p:txBody>
          <a:bodyPr wrap="square" lIns="0" tIns="0" rIns="0" bIns="0" rtlCol="0" anchor="t"/>
          <a:lstStyle/>
          <a:p>
            <a:pPr indent="0" marL="0">
              <a:buNone/>
            </a:pPr>
            <a:r>
              <a:rPr lang="en-US" sz="2600" b="1" dirty="0">
                <a:solidFill>
                  <a:srgbClr val="F3F6FA"/>
                </a:solidFill>
                <a:latin typeface="Arial" pitchFamily="34" charset="0"/>
                <a:ea typeface="Arial" pitchFamily="34" charset="-122"/>
                <a:cs typeface="Arial" pitchFamily="34" charset="-120"/>
              </a:rPr>
              <a:t>1.73</a:t>
            </a:r>
            <a:endParaRPr lang="en-US" sz="2600" dirty="0"/>
          </a:p>
        </p:txBody>
      </p:sp>
      <p:sp>
        <p:nvSpPr>
          <p:cNvPr id="13" name="Text 8"/>
          <p:cNvSpPr txBox="1"/>
          <p:nvPr/>
        </p:nvSpPr>
        <p:spPr>
          <a:xfrm>
            <a:off x="685800" y="5788152"/>
            <a:ext cx="1691640" cy="384048"/>
          </a:xfrm>
          <a:prstGeom prst="rect">
            <a:avLst/>
          </a:prstGeom>
          <a:noFill/>
          <a:ln/>
        </p:spPr>
        <p:txBody>
          <a:bodyPr wrap="square" lIns="0" tIns="0" rIns="0" bIns="0" rtlCol="0" anchor="t"/>
          <a:lstStyle/>
          <a:p>
            <a:pPr indent="0" marL="0">
              <a:buNone/>
            </a:pPr>
            <a:r>
              <a:rPr lang="en-US" sz="1000" dirty="0">
                <a:solidFill>
                  <a:srgbClr val="98A3B3"/>
                </a:solidFill>
                <a:latin typeface="Arial" pitchFamily="34" charset="0"/>
                <a:ea typeface="Arial" pitchFamily="34" charset="-122"/>
                <a:cs typeface="Arial" pitchFamily="34" charset="-120"/>
              </a:rPr>
              <a:t>stops per finisher · 37% one‑stop</a:t>
            </a:r>
            <a:endParaRPr lang="en-US" sz="1000" dirty="0"/>
          </a:p>
        </p:txBody>
      </p:sp>
      <p:sp>
        <p:nvSpPr>
          <p:cNvPr id="14" name="Shape 9"/>
          <p:cNvSpPr/>
          <p:nvPr/>
        </p:nvSpPr>
        <p:spPr>
          <a:xfrm>
            <a:off x="2560320" y="4983480"/>
            <a:ext cx="1874520" cy="1234440"/>
          </a:xfrm>
          <a:prstGeom prst="roundRect">
            <a:avLst>
              <a:gd name="adj" fmla="val 5926"/>
            </a:avLst>
          </a:prstGeom>
          <a:solidFill>
            <a:srgbClr val="11161E"/>
          </a:solidFill>
          <a:ln w="9525">
            <a:solidFill>
              <a:srgbClr val="272F3B"/>
            </a:solidFill>
            <a:prstDash val="solid"/>
          </a:ln>
        </p:spPr>
      </p:sp>
      <p:sp>
        <p:nvSpPr>
          <p:cNvPr id="15" name="Text 10"/>
          <p:cNvSpPr txBox="1"/>
          <p:nvPr/>
        </p:nvSpPr>
        <p:spPr>
          <a:xfrm>
            <a:off x="2697480" y="5074920"/>
            <a:ext cx="1645920" cy="256032"/>
          </a:xfrm>
          <a:prstGeom prst="rect">
            <a:avLst/>
          </a:prstGeom>
          <a:noFill/>
          <a:ln/>
        </p:spPr>
        <p:txBody>
          <a:bodyPr wrap="square" lIns="0" tIns="0" rIns="0" bIns="0" rtlCol="0" anchor="t"/>
          <a:lstStyle/>
          <a:p>
            <a:pPr indent="0" marL="0">
              <a:buNone/>
            </a:pPr>
            <a:r>
              <a:rPr lang="en-US" sz="1200" b="1" dirty="0">
                <a:solidFill>
                  <a:srgbClr val="98A3B3"/>
                </a:solidFill>
                <a:latin typeface="Arial" pitchFamily="34" charset="0"/>
                <a:ea typeface="Arial" pitchFamily="34" charset="-122"/>
                <a:cs typeface="Arial" pitchFamily="34" charset="-120"/>
              </a:rPr>
              <a:t>2024</a:t>
            </a:r>
            <a:endParaRPr lang="en-US" sz="1200" dirty="0"/>
          </a:p>
        </p:txBody>
      </p:sp>
      <p:sp>
        <p:nvSpPr>
          <p:cNvPr id="16" name="Text 11"/>
          <p:cNvSpPr txBox="1"/>
          <p:nvPr/>
        </p:nvSpPr>
        <p:spPr>
          <a:xfrm>
            <a:off x="2697480" y="5330952"/>
            <a:ext cx="914400" cy="457200"/>
          </a:xfrm>
          <a:prstGeom prst="rect">
            <a:avLst/>
          </a:prstGeom>
          <a:noFill/>
          <a:ln/>
        </p:spPr>
        <p:txBody>
          <a:bodyPr wrap="square" lIns="0" tIns="0" rIns="0" bIns="0" rtlCol="0" anchor="t"/>
          <a:lstStyle/>
          <a:p>
            <a:pPr indent="0" marL="0">
              <a:buNone/>
            </a:pPr>
            <a:r>
              <a:rPr lang="en-US" sz="2600" b="1" dirty="0">
                <a:solidFill>
                  <a:srgbClr val="F3F6FA"/>
                </a:solidFill>
                <a:latin typeface="Arial" pitchFamily="34" charset="0"/>
                <a:ea typeface="Arial" pitchFamily="34" charset="-122"/>
                <a:cs typeface="Arial" pitchFamily="34" charset="-120"/>
              </a:rPr>
              <a:t>1.71</a:t>
            </a:r>
            <a:endParaRPr lang="en-US" sz="2600" dirty="0"/>
          </a:p>
        </p:txBody>
      </p:sp>
      <p:sp>
        <p:nvSpPr>
          <p:cNvPr id="17" name="Text 12"/>
          <p:cNvSpPr txBox="1"/>
          <p:nvPr/>
        </p:nvSpPr>
        <p:spPr>
          <a:xfrm>
            <a:off x="2697480" y="5788152"/>
            <a:ext cx="1691640" cy="384048"/>
          </a:xfrm>
          <a:prstGeom prst="rect">
            <a:avLst/>
          </a:prstGeom>
          <a:noFill/>
          <a:ln/>
        </p:spPr>
        <p:txBody>
          <a:bodyPr wrap="square" lIns="0" tIns="0" rIns="0" bIns="0" rtlCol="0" anchor="t"/>
          <a:lstStyle/>
          <a:p>
            <a:pPr indent="0" marL="0">
              <a:buNone/>
            </a:pPr>
            <a:r>
              <a:rPr lang="en-US" sz="1000" dirty="0">
                <a:solidFill>
                  <a:srgbClr val="98A3B3"/>
                </a:solidFill>
                <a:latin typeface="Arial" pitchFamily="34" charset="0"/>
                <a:ea typeface="Arial" pitchFamily="34" charset="-122"/>
                <a:cs typeface="Arial" pitchFamily="34" charset="-120"/>
              </a:rPr>
              <a:t>stops per finisher · 47% one‑stop</a:t>
            </a:r>
            <a:endParaRPr lang="en-US" sz="1000" dirty="0"/>
          </a:p>
        </p:txBody>
      </p:sp>
      <p:sp>
        <p:nvSpPr>
          <p:cNvPr id="18" name="Shape 13"/>
          <p:cNvSpPr/>
          <p:nvPr/>
        </p:nvSpPr>
        <p:spPr>
          <a:xfrm>
            <a:off x="4572000" y="4983480"/>
            <a:ext cx="1874520" cy="1234440"/>
          </a:xfrm>
          <a:prstGeom prst="roundRect">
            <a:avLst>
              <a:gd name="adj" fmla="val 5926"/>
            </a:avLst>
          </a:prstGeom>
          <a:solidFill>
            <a:srgbClr val="11161E"/>
          </a:solidFill>
          <a:ln w="9525">
            <a:solidFill>
              <a:srgbClr val="272F3B"/>
            </a:solidFill>
            <a:prstDash val="solid"/>
          </a:ln>
        </p:spPr>
      </p:sp>
      <p:sp>
        <p:nvSpPr>
          <p:cNvPr id="19" name="Text 14"/>
          <p:cNvSpPr txBox="1"/>
          <p:nvPr/>
        </p:nvSpPr>
        <p:spPr>
          <a:xfrm>
            <a:off x="4709160" y="5074920"/>
            <a:ext cx="1645920" cy="256032"/>
          </a:xfrm>
          <a:prstGeom prst="rect">
            <a:avLst/>
          </a:prstGeom>
          <a:noFill/>
          <a:ln/>
        </p:spPr>
        <p:txBody>
          <a:bodyPr wrap="square" lIns="0" tIns="0" rIns="0" bIns="0" rtlCol="0" anchor="t"/>
          <a:lstStyle/>
          <a:p>
            <a:pPr indent="0" marL="0">
              <a:buNone/>
            </a:pPr>
            <a:r>
              <a:rPr lang="en-US" sz="1200" b="1" dirty="0">
                <a:solidFill>
                  <a:srgbClr val="98A3B3"/>
                </a:solidFill>
                <a:latin typeface="Arial" pitchFamily="34" charset="0"/>
                <a:ea typeface="Arial" pitchFamily="34" charset="-122"/>
                <a:cs typeface="Arial" pitchFamily="34" charset="-120"/>
              </a:rPr>
              <a:t>2025</a:t>
            </a:r>
            <a:endParaRPr lang="en-US" sz="1200" dirty="0"/>
          </a:p>
        </p:txBody>
      </p:sp>
      <p:sp>
        <p:nvSpPr>
          <p:cNvPr id="20" name="Text 15"/>
          <p:cNvSpPr txBox="1"/>
          <p:nvPr/>
        </p:nvSpPr>
        <p:spPr>
          <a:xfrm>
            <a:off x="4709160" y="5330952"/>
            <a:ext cx="914400" cy="457200"/>
          </a:xfrm>
          <a:prstGeom prst="rect">
            <a:avLst/>
          </a:prstGeom>
          <a:noFill/>
          <a:ln/>
        </p:spPr>
        <p:txBody>
          <a:bodyPr wrap="square" lIns="0" tIns="0" rIns="0" bIns="0" rtlCol="0" anchor="t"/>
          <a:lstStyle/>
          <a:p>
            <a:pPr indent="0" marL="0">
              <a:buNone/>
            </a:pPr>
            <a:r>
              <a:rPr lang="en-US" sz="2600" b="1" dirty="0">
                <a:solidFill>
                  <a:srgbClr val="F3F6FA"/>
                </a:solidFill>
                <a:latin typeface="Arial" pitchFamily="34" charset="0"/>
                <a:ea typeface="Arial" pitchFamily="34" charset="-122"/>
                <a:cs typeface="Arial" pitchFamily="34" charset="-120"/>
              </a:rPr>
              <a:t>1.64</a:t>
            </a:r>
            <a:endParaRPr lang="en-US" sz="2600" dirty="0"/>
          </a:p>
        </p:txBody>
      </p:sp>
      <p:sp>
        <p:nvSpPr>
          <p:cNvPr id="21" name="Text 16"/>
          <p:cNvSpPr txBox="1"/>
          <p:nvPr/>
        </p:nvSpPr>
        <p:spPr>
          <a:xfrm>
            <a:off x="4709160" y="5788152"/>
            <a:ext cx="1691640" cy="384048"/>
          </a:xfrm>
          <a:prstGeom prst="rect">
            <a:avLst/>
          </a:prstGeom>
          <a:noFill/>
          <a:ln/>
        </p:spPr>
        <p:txBody>
          <a:bodyPr wrap="square" lIns="0" tIns="0" rIns="0" bIns="0" rtlCol="0" anchor="t"/>
          <a:lstStyle/>
          <a:p>
            <a:pPr indent="0" marL="0">
              <a:buNone/>
            </a:pPr>
            <a:r>
              <a:rPr lang="en-US" sz="1000" dirty="0">
                <a:solidFill>
                  <a:srgbClr val="98A3B3"/>
                </a:solidFill>
                <a:latin typeface="Arial" pitchFamily="34" charset="0"/>
                <a:ea typeface="Arial" pitchFamily="34" charset="-122"/>
                <a:cs typeface="Arial" pitchFamily="34" charset="-120"/>
              </a:rPr>
              <a:t>stops per finisher · 47% one‑stop</a:t>
            </a:r>
            <a:endParaRPr lang="en-US" sz="1000" dirty="0"/>
          </a:p>
        </p:txBody>
      </p:sp>
      <p:sp>
        <p:nvSpPr>
          <p:cNvPr id="22" name="Shape 17"/>
          <p:cNvSpPr/>
          <p:nvPr/>
        </p:nvSpPr>
        <p:spPr>
          <a:xfrm>
            <a:off x="6583680" y="4983480"/>
            <a:ext cx="1874520" cy="1234440"/>
          </a:xfrm>
          <a:prstGeom prst="roundRect">
            <a:avLst>
              <a:gd name="adj" fmla="val 5926"/>
            </a:avLst>
          </a:prstGeom>
          <a:solidFill>
            <a:srgbClr val="11161E"/>
          </a:solidFill>
          <a:ln w="9525">
            <a:solidFill>
              <a:srgbClr val="272F3B"/>
            </a:solidFill>
            <a:prstDash val="solid"/>
          </a:ln>
        </p:spPr>
      </p:sp>
      <p:sp>
        <p:nvSpPr>
          <p:cNvPr id="23" name="Text 18"/>
          <p:cNvSpPr txBox="1"/>
          <p:nvPr/>
        </p:nvSpPr>
        <p:spPr>
          <a:xfrm>
            <a:off x="6720840" y="5074920"/>
            <a:ext cx="1645920" cy="256032"/>
          </a:xfrm>
          <a:prstGeom prst="rect">
            <a:avLst/>
          </a:prstGeom>
          <a:noFill/>
          <a:ln/>
        </p:spPr>
        <p:txBody>
          <a:bodyPr wrap="square" lIns="0" tIns="0" rIns="0" bIns="0" rtlCol="0" anchor="t"/>
          <a:lstStyle/>
          <a:p>
            <a:pPr indent="0" marL="0">
              <a:buNone/>
            </a:pPr>
            <a:r>
              <a:rPr lang="en-US" sz="1200" b="1" dirty="0">
                <a:solidFill>
                  <a:srgbClr val="98A3B3"/>
                </a:solidFill>
                <a:latin typeface="Arial" pitchFamily="34" charset="0"/>
                <a:ea typeface="Arial" pitchFamily="34" charset="-122"/>
                <a:cs typeface="Arial" pitchFamily="34" charset="-120"/>
              </a:rPr>
              <a:t>2026</a:t>
            </a:r>
            <a:endParaRPr lang="en-US" sz="1200" dirty="0"/>
          </a:p>
        </p:txBody>
      </p:sp>
      <p:sp>
        <p:nvSpPr>
          <p:cNvPr id="24" name="Text 19"/>
          <p:cNvSpPr txBox="1"/>
          <p:nvPr/>
        </p:nvSpPr>
        <p:spPr>
          <a:xfrm>
            <a:off x="6720840" y="5330952"/>
            <a:ext cx="914400" cy="457200"/>
          </a:xfrm>
          <a:prstGeom prst="rect">
            <a:avLst/>
          </a:prstGeom>
          <a:noFill/>
          <a:ln/>
        </p:spPr>
        <p:txBody>
          <a:bodyPr wrap="square" lIns="0" tIns="0" rIns="0" bIns="0" rtlCol="0" anchor="t"/>
          <a:lstStyle/>
          <a:p>
            <a:pPr indent="0" marL="0">
              <a:buNone/>
            </a:pPr>
            <a:r>
              <a:rPr lang="en-US" sz="2600" b="1" dirty="0">
                <a:solidFill>
                  <a:srgbClr val="F3F6FA"/>
                </a:solidFill>
                <a:latin typeface="Arial" pitchFamily="34" charset="0"/>
                <a:ea typeface="Arial" pitchFamily="34" charset="-122"/>
                <a:cs typeface="Arial" pitchFamily="34" charset="-120"/>
              </a:rPr>
              <a:t>1.59</a:t>
            </a:r>
            <a:endParaRPr lang="en-US" sz="2600" dirty="0"/>
          </a:p>
        </p:txBody>
      </p:sp>
      <p:sp>
        <p:nvSpPr>
          <p:cNvPr id="25" name="Text 20"/>
          <p:cNvSpPr txBox="1"/>
          <p:nvPr/>
        </p:nvSpPr>
        <p:spPr>
          <a:xfrm>
            <a:off x="6720840" y="5788152"/>
            <a:ext cx="1691640" cy="384048"/>
          </a:xfrm>
          <a:prstGeom prst="rect">
            <a:avLst/>
          </a:prstGeom>
          <a:noFill/>
          <a:ln/>
        </p:spPr>
        <p:txBody>
          <a:bodyPr wrap="square" lIns="0" tIns="0" rIns="0" bIns="0" rtlCol="0" anchor="t"/>
          <a:lstStyle/>
          <a:p>
            <a:pPr indent="0" marL="0">
              <a:buNone/>
            </a:pPr>
            <a:r>
              <a:rPr lang="en-US" sz="1000" dirty="0">
                <a:solidFill>
                  <a:srgbClr val="98A3B3"/>
                </a:solidFill>
                <a:latin typeface="Arial" pitchFamily="34" charset="0"/>
                <a:ea typeface="Arial" pitchFamily="34" charset="-122"/>
                <a:cs typeface="Arial" pitchFamily="34" charset="-120"/>
              </a:rPr>
              <a:t>stops per finisher · 41% one‑stop</a:t>
            </a:r>
            <a:endParaRPr lang="en-US" sz="1000" dirty="0"/>
          </a:p>
        </p:txBody>
      </p:sp>
      <p:sp>
        <p:nvSpPr>
          <p:cNvPr id="26" name="Shape 21"/>
          <p:cNvSpPr/>
          <p:nvPr/>
        </p:nvSpPr>
        <p:spPr>
          <a:xfrm>
            <a:off x="8595360" y="4983480"/>
            <a:ext cx="3044952" cy="1234440"/>
          </a:xfrm>
          <a:prstGeom prst="roundRect">
            <a:avLst>
              <a:gd name="adj" fmla="val 5926"/>
            </a:avLst>
          </a:prstGeom>
          <a:solidFill>
            <a:srgbClr val="11161E"/>
          </a:solidFill>
          <a:ln w="9525">
            <a:solidFill>
              <a:srgbClr val="272F3B"/>
            </a:solidFill>
            <a:prstDash val="solid"/>
          </a:ln>
        </p:spPr>
      </p:sp>
      <p:sp>
        <p:nvSpPr>
          <p:cNvPr id="27" name="Text 22"/>
          <p:cNvSpPr txBox="1"/>
          <p:nvPr/>
        </p:nvSpPr>
        <p:spPr>
          <a:xfrm>
            <a:off x="8759952" y="5074920"/>
            <a:ext cx="2743200" cy="1078992"/>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2026 against 2025, fuel-corrected: soft 0.064 vs 0.064, medium 0.042 vs 0.058, hard 0.050 vs 0.045. Calendars differ: same circuits next.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RULE CHANGES AND THE TYRE  ·  FUEL</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Less fuel in 2026: the tyre shows through</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A lighter start hides less tyre wear in the lap times, and a lighter car loads the tyre less</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13</a:t>
            </a:r>
            <a:endParaRPr lang="en-US" sz="900" dirty="0"/>
          </a:p>
        </p:txBody>
      </p:sp>
      <p:sp>
        <p:nvSpPr>
          <p:cNvPr id="8" name="Shape 5"/>
          <p:cNvSpPr/>
          <p:nvPr/>
        </p:nvSpPr>
        <p:spPr>
          <a:xfrm>
            <a:off x="548640" y="1783080"/>
            <a:ext cx="2743200" cy="1463040"/>
          </a:xfrm>
          <a:prstGeom prst="roundRect">
            <a:avLst>
              <a:gd name="adj" fmla="val 5000"/>
            </a:avLst>
          </a:prstGeom>
          <a:solidFill>
            <a:srgbClr val="11161E"/>
          </a:solidFill>
          <a:ln w="9525">
            <a:solidFill>
              <a:srgbClr val="272F3B"/>
            </a:solidFill>
            <a:prstDash val="solid"/>
          </a:ln>
        </p:spPr>
      </p:sp>
      <p:sp>
        <p:nvSpPr>
          <p:cNvPr id="9" name="Text 6"/>
          <p:cNvSpPr txBox="1"/>
          <p:nvPr/>
        </p:nvSpPr>
        <p:spPr>
          <a:xfrm>
            <a:off x="713232" y="1911096"/>
            <a:ext cx="2414016" cy="464820"/>
          </a:xfrm>
          <a:prstGeom prst="rect">
            <a:avLst/>
          </a:prstGeom>
          <a:noFill/>
          <a:ln/>
        </p:spPr>
        <p:txBody>
          <a:bodyPr wrap="square" lIns="0" tIns="0" rIns="0" bIns="0" rtlCol="0" anchor="b"/>
          <a:lstStyle/>
          <a:p>
            <a:pPr indent="0" marL="0">
              <a:buNone/>
            </a:pPr>
            <a:r>
              <a:rPr lang="en-US" sz="3000" b="1" dirty="0">
                <a:solidFill>
                  <a:srgbClr val="F3F6FA"/>
                </a:solidFill>
                <a:latin typeface="Arial" pitchFamily="34" charset="0"/>
                <a:ea typeface="Arial" pitchFamily="34" charset="-122"/>
                <a:cs typeface="Arial" pitchFamily="34" charset="-120"/>
              </a:rPr>
              <a:t>100 → 70 kg</a:t>
            </a:r>
            <a:endParaRPr lang="en-US" sz="3000" dirty="0"/>
          </a:p>
        </p:txBody>
      </p:sp>
      <p:sp>
        <p:nvSpPr>
          <p:cNvPr id="10" name="Text 7"/>
          <p:cNvSpPr txBox="1"/>
          <p:nvPr/>
        </p:nvSpPr>
        <p:spPr>
          <a:xfrm>
            <a:off x="713232" y="2412492"/>
            <a:ext cx="241401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race fuel: about 100 kg in 2020; 70 kg is the 2026 target, not a rule</a:t>
            </a:r>
            <a:endParaRPr lang="en-US" sz="1200" dirty="0"/>
          </a:p>
        </p:txBody>
      </p:sp>
      <p:sp>
        <p:nvSpPr>
          <p:cNvPr id="11" name="Shape 8"/>
          <p:cNvSpPr/>
          <p:nvPr/>
        </p:nvSpPr>
        <p:spPr>
          <a:xfrm>
            <a:off x="548640" y="3383280"/>
            <a:ext cx="2743200" cy="1463040"/>
          </a:xfrm>
          <a:prstGeom prst="roundRect">
            <a:avLst>
              <a:gd name="adj" fmla="val 5000"/>
            </a:avLst>
          </a:prstGeom>
          <a:solidFill>
            <a:srgbClr val="11161E"/>
          </a:solidFill>
          <a:ln w="9525">
            <a:solidFill>
              <a:srgbClr val="272F3B"/>
            </a:solidFill>
            <a:prstDash val="solid"/>
          </a:ln>
        </p:spPr>
      </p:sp>
      <p:sp>
        <p:nvSpPr>
          <p:cNvPr id="12" name="Text 9"/>
          <p:cNvSpPr txBox="1"/>
          <p:nvPr/>
        </p:nvSpPr>
        <p:spPr>
          <a:xfrm>
            <a:off x="713232" y="3511296"/>
            <a:ext cx="2414016" cy="371856"/>
          </a:xfrm>
          <a:prstGeom prst="rect">
            <a:avLst/>
          </a:prstGeom>
          <a:noFill/>
          <a:ln/>
        </p:spPr>
        <p:txBody>
          <a:bodyPr wrap="square" lIns="0" tIns="0" rIns="0" bIns="0" rtlCol="0" anchor="b"/>
          <a:lstStyle/>
          <a:p>
            <a:pPr indent="0" marL="0">
              <a:buNone/>
            </a:pPr>
            <a:r>
              <a:rPr lang="en-US" sz="2400" b="1" dirty="0">
                <a:solidFill>
                  <a:srgbClr val="39D0C3"/>
                </a:solidFill>
                <a:latin typeface="Arial" pitchFamily="34" charset="0"/>
                <a:ea typeface="Arial" pitchFamily="34" charset="-122"/>
                <a:cs typeface="Arial" pitchFamily="34" charset="-120"/>
              </a:rPr>
              <a:t>0.053 → 0.037 s</a:t>
            </a:r>
            <a:endParaRPr lang="en-US" sz="2400" dirty="0"/>
          </a:p>
        </p:txBody>
      </p:sp>
      <p:sp>
        <p:nvSpPr>
          <p:cNvPr id="13" name="Text 10"/>
          <p:cNvSpPr txBox="1"/>
          <p:nvPr/>
        </p:nvSpPr>
        <p:spPr>
          <a:xfrm>
            <a:off x="713232" y="3919728"/>
            <a:ext cx="241401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gained per lap as fuel burns (57-lap race): less wear hidden</a:t>
            </a:r>
            <a:endParaRPr lang="en-US" sz="1200" dirty="0"/>
          </a:p>
        </p:txBody>
      </p:sp>
      <p:sp>
        <p:nvSpPr>
          <p:cNvPr id="14" name="Shape 11"/>
          <p:cNvSpPr/>
          <p:nvPr/>
        </p:nvSpPr>
        <p:spPr>
          <a:xfrm>
            <a:off x="548640" y="4983480"/>
            <a:ext cx="2743200" cy="1234440"/>
          </a:xfrm>
          <a:prstGeom prst="roundRect">
            <a:avLst>
              <a:gd name="adj" fmla="val 5926"/>
            </a:avLst>
          </a:prstGeom>
          <a:solidFill>
            <a:srgbClr val="11161E"/>
          </a:solidFill>
          <a:ln w="9525">
            <a:solidFill>
              <a:srgbClr val="272F3B"/>
            </a:solidFill>
            <a:prstDash val="solid"/>
          </a:ln>
        </p:spPr>
      </p:sp>
      <p:sp>
        <p:nvSpPr>
          <p:cNvPr id="15" name="Text 12"/>
          <p:cNvSpPr txBox="1"/>
          <p:nvPr/>
        </p:nvSpPr>
        <p:spPr>
          <a:xfrm>
            <a:off x="713232" y="5111496"/>
            <a:ext cx="2414016" cy="402844"/>
          </a:xfrm>
          <a:prstGeom prst="rect">
            <a:avLst/>
          </a:prstGeom>
          <a:noFill/>
          <a:ln/>
        </p:spPr>
        <p:txBody>
          <a:bodyPr wrap="square" lIns="0" tIns="0" rIns="0" bIns="0" rtlCol="0" anchor="b"/>
          <a:lstStyle/>
          <a:p>
            <a:pPr indent="0" marL="0">
              <a:buNone/>
            </a:pPr>
            <a:r>
              <a:rPr lang="en-US" sz="2600" b="1" dirty="0">
                <a:solidFill>
                  <a:srgbClr val="F3F6FA"/>
                </a:solidFill>
                <a:latin typeface="Arial" pitchFamily="34" charset="0"/>
                <a:ea typeface="Arial" pitchFamily="34" charset="-122"/>
                <a:cs typeface="Arial" pitchFamily="34" charset="-120"/>
              </a:rPr>
              <a:t>1.05 → 0.74 s</a:t>
            </a:r>
            <a:endParaRPr lang="en-US" sz="2600" dirty="0"/>
          </a:p>
        </p:txBody>
      </p:sp>
      <p:sp>
        <p:nvSpPr>
          <p:cNvPr id="16" name="Text 13"/>
          <p:cNvSpPr txBox="1"/>
          <p:nvPr/>
        </p:nvSpPr>
        <p:spPr>
          <a:xfrm>
            <a:off x="713232" y="5550916"/>
            <a:ext cx="241401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of tyre loss hidden over a 20-lap stint</a:t>
            </a:r>
            <a:endParaRPr lang="en-US" sz="1200" dirty="0"/>
          </a:p>
        </p:txBody>
      </p:sp>
      <p:pic>
        <p:nvPicPr>
          <p:cNvPr id="17" name="Image 0" descr="/Users/samuelmorningstar/Trackshift/proto/deck_src/assets/chart_fuel_pairs.png">    </p:cNvPr>
          <p:cNvPicPr>
            <a:picLocks noChangeAspect="1"/>
          </p:cNvPicPr>
          <p:nvPr/>
        </p:nvPicPr>
        <p:blipFill>
          <a:blip r:embed="rId1"/>
          <a:stretch>
            <a:fillRect/>
          </a:stretch>
        </p:blipFill>
        <p:spPr>
          <a:xfrm>
            <a:off x="3520440" y="1737360"/>
            <a:ext cx="4754880" cy="4526280"/>
          </a:xfrm>
          <a:prstGeom prst="rect">
            <a:avLst/>
          </a:prstGeom>
        </p:spPr>
      </p:pic>
      <p:sp>
        <p:nvSpPr>
          <p:cNvPr id="18" name="Shape 14"/>
          <p:cNvSpPr/>
          <p:nvPr/>
        </p:nvSpPr>
        <p:spPr>
          <a:xfrm>
            <a:off x="8503920" y="1783080"/>
            <a:ext cx="3136392" cy="2331720"/>
          </a:xfrm>
          <a:prstGeom prst="roundRect">
            <a:avLst>
              <a:gd name="adj" fmla="val 3137"/>
            </a:avLst>
          </a:prstGeom>
          <a:solidFill>
            <a:srgbClr val="11161E"/>
          </a:solidFill>
          <a:ln w="9525">
            <a:solidFill>
              <a:srgbClr val="272F3B"/>
            </a:solidFill>
            <a:prstDash val="solid"/>
          </a:ln>
        </p:spPr>
      </p:sp>
      <p:sp>
        <p:nvSpPr>
          <p:cNvPr id="19" name="Text 15"/>
          <p:cNvSpPr txBox="1"/>
          <p:nvPr/>
        </p:nvSpPr>
        <p:spPr>
          <a:xfrm>
            <a:off x="8686800" y="1938528"/>
            <a:ext cx="2743200" cy="219456"/>
          </a:xfrm>
          <a:prstGeom prst="rect">
            <a:avLst/>
          </a:prstGeom>
          <a:noFill/>
          <a:ln/>
        </p:spPr>
        <p:txBody>
          <a:bodyPr wrap="square" lIns="0" tIns="0" rIns="0" bIns="0" rtlCol="0" anchor="t"/>
          <a:lstStyle/>
          <a:p>
            <a:pPr indent="0" marL="0">
              <a:buNone/>
            </a:pPr>
            <a:r>
              <a:rPr lang="en-US" sz="1000" b="1" spc="150" kern="0" dirty="0">
                <a:solidFill>
                  <a:srgbClr val="F0B84B"/>
                </a:solidFill>
                <a:latin typeface="Arial" pitchFamily="34" charset="0"/>
                <a:ea typeface="Arial" pitchFamily="34" charset="-122"/>
                <a:cs typeface="Arial" pitchFamily="34" charset="-120"/>
              </a:rPr>
              <a:t>WHAT THE FUEL DID</a:t>
            </a:r>
            <a:endParaRPr lang="en-US" sz="1000" dirty="0"/>
          </a:p>
        </p:txBody>
      </p:sp>
      <p:sp>
        <p:nvSpPr>
          <p:cNvPr id="20" name="Text 16"/>
          <p:cNvSpPr txBox="1"/>
          <p:nvPr/>
        </p:nvSpPr>
        <p:spPr>
          <a:xfrm>
            <a:off x="8686800" y="2212848"/>
            <a:ext cx="2788920" cy="182880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On the same circuits degradation rose +0.019 to +0.026 s/lap per lap from 2025. Give 2025 its heavier start and 50% to 90% of that rise disappears. Pirelli also reports less tyre load from the lighter cars: the first 2026 races were one‑stops.</a:t>
            </a:r>
            <a:endParaRPr lang="en-US" sz="1200" dirty="0"/>
          </a:p>
        </p:txBody>
      </p:sp>
      <p:sp>
        <p:nvSpPr>
          <p:cNvPr id="21" name="Shape 17"/>
          <p:cNvSpPr/>
          <p:nvPr/>
        </p:nvSpPr>
        <p:spPr>
          <a:xfrm>
            <a:off x="8503920" y="4251960"/>
            <a:ext cx="3136392" cy="1965960"/>
          </a:xfrm>
          <a:prstGeom prst="roundRect">
            <a:avLst>
              <a:gd name="adj" fmla="val 3721"/>
            </a:avLst>
          </a:prstGeom>
          <a:solidFill>
            <a:srgbClr val="11161E"/>
          </a:solidFill>
          <a:ln w="9525">
            <a:solidFill>
              <a:srgbClr val="272F3B"/>
            </a:solidFill>
            <a:prstDash val="solid"/>
          </a:ln>
        </p:spPr>
      </p:sp>
      <p:sp>
        <p:nvSpPr>
          <p:cNvPr id="22" name="Text 18"/>
          <p:cNvSpPr txBox="1"/>
          <p:nvPr/>
        </p:nvSpPr>
        <p:spPr>
          <a:xfrm>
            <a:off x="8686800" y="4407408"/>
            <a:ext cx="2743200" cy="219456"/>
          </a:xfrm>
          <a:prstGeom prst="rect">
            <a:avLst/>
          </a:prstGeom>
          <a:noFill/>
          <a:ln/>
        </p:spPr>
        <p:txBody>
          <a:bodyPr wrap="square" lIns="0" tIns="0" rIns="0" bIns="0" rtlCol="0" anchor="t"/>
          <a:lstStyle/>
          <a:p>
            <a:pPr indent="0" marL="0">
              <a:buNone/>
            </a:pPr>
            <a:r>
              <a:rPr lang="en-US" sz="1000" b="1" spc="150" kern="0" dirty="0">
                <a:solidFill>
                  <a:srgbClr val="39D0C3"/>
                </a:solidFill>
                <a:latin typeface="Arial" pitchFamily="34" charset="0"/>
                <a:ea typeface="Arial" pitchFamily="34" charset="-122"/>
                <a:cs typeface="Arial" pitchFamily="34" charset="-120"/>
              </a:rPr>
              <a:t>WHAT IT MEANS FOR ORB</a:t>
            </a:r>
            <a:endParaRPr lang="en-US" sz="1000" dirty="0"/>
          </a:p>
        </p:txBody>
      </p:sp>
      <p:sp>
        <p:nvSpPr>
          <p:cNvPr id="23" name="Text 19"/>
          <p:cNvSpPr txBox="1"/>
          <p:nvPr/>
        </p:nvSpPr>
        <p:spPr>
          <a:xfrm>
            <a:off x="8686800" y="4681728"/>
            <a:ext cx="2788920" cy="146304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Our race reference subtracts 70 kg in every season, so pre-2026 slopes read about 0.016 s/lap low. Next: fuel by season.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PROSPECTIVE TEST</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Madrid: the frozen forecast</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FP1, FP2, FP3, Q in; published 21:33 IST. Hashed before the race, verifiable after the event.</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14</a:t>
            </a:r>
            <a:endParaRPr lang="en-US" sz="900" dirty="0"/>
          </a:p>
        </p:txBody>
      </p:sp>
      <p:sp>
        <p:nvSpPr>
          <p:cNvPr id="8" name="Shape 5"/>
          <p:cNvSpPr/>
          <p:nvPr/>
        </p:nvSpPr>
        <p:spPr>
          <a:xfrm>
            <a:off x="530352" y="1764792"/>
            <a:ext cx="6986016" cy="2642290"/>
          </a:xfrm>
          <a:prstGeom prst="rect">
            <a:avLst/>
          </a:prstGeom>
          <a:solidFill>
            <a:srgbClr val="272F3B"/>
          </a:solidFill>
          <a:ln w="12700">
            <a:solidFill>
              <a:srgbClr val="272F3B"/>
            </a:solidFill>
            <a:prstDash val="solid"/>
          </a:ln>
        </p:spPr>
      </p:sp>
      <p:pic>
        <p:nvPicPr>
          <p:cNvPr id="9" name="Image 0" descr="/Users/samuelmorningstar/Trackshift/proto/deck_src/assets/shot_prerace.png">    </p:cNvPr>
          <p:cNvPicPr>
            <a:picLocks noChangeAspect="1"/>
          </p:cNvPicPr>
          <p:nvPr/>
        </p:nvPicPr>
        <p:blipFill>
          <a:blip r:embed="rId1"/>
          <a:stretch>
            <a:fillRect/>
          </a:stretch>
        </p:blipFill>
        <p:spPr>
          <a:xfrm>
            <a:off x="548640" y="1783080"/>
            <a:ext cx="6949440" cy="2605714"/>
          </a:xfrm>
          <a:prstGeom prst="rect">
            <a:avLst/>
          </a:prstGeom>
        </p:spPr>
      </p:pic>
      <p:sp>
        <p:nvSpPr>
          <p:cNvPr id="10" name="Shape 6"/>
          <p:cNvSpPr/>
          <p:nvPr/>
        </p:nvSpPr>
        <p:spPr>
          <a:xfrm>
            <a:off x="7772400" y="1783080"/>
            <a:ext cx="3867912" cy="2606040"/>
          </a:xfrm>
          <a:prstGeom prst="roundRect">
            <a:avLst>
              <a:gd name="adj" fmla="val 2807"/>
            </a:avLst>
          </a:prstGeom>
          <a:solidFill>
            <a:srgbClr val="11161E"/>
          </a:solidFill>
          <a:ln w="9525">
            <a:solidFill>
              <a:srgbClr val="272F3B"/>
            </a:solidFill>
            <a:prstDash val="solid"/>
          </a:ln>
        </p:spPr>
      </p:sp>
      <p:sp>
        <p:nvSpPr>
          <p:cNvPr id="11" name="Shape 7"/>
          <p:cNvSpPr/>
          <p:nvPr/>
        </p:nvSpPr>
        <p:spPr>
          <a:xfrm>
            <a:off x="7955280" y="1975104"/>
            <a:ext cx="347472" cy="347472"/>
          </a:xfrm>
          <a:prstGeom prst="ellipse">
            <a:avLst/>
          </a:prstGeom>
          <a:solidFill>
            <a:srgbClr val="090C11"/>
          </a:solidFill>
          <a:ln w="31750">
            <a:solidFill>
              <a:srgbClr val="E10600"/>
            </a:solidFill>
            <a:prstDash val="solid"/>
          </a:ln>
        </p:spPr>
      </p:sp>
      <p:sp>
        <p:nvSpPr>
          <p:cNvPr id="12" name="Text 8"/>
          <p:cNvSpPr txBox="1"/>
          <p:nvPr/>
        </p:nvSpPr>
        <p:spPr>
          <a:xfrm>
            <a:off x="7955280" y="1975104"/>
            <a:ext cx="347472" cy="347472"/>
          </a:xfrm>
          <a:prstGeom prst="rect">
            <a:avLst/>
          </a:prstGeom>
          <a:noFill/>
          <a:ln/>
        </p:spPr>
        <p:txBody>
          <a:bodyPr wrap="square" lIns="0" tIns="0" rIns="0" bIns="0" rtlCol="0" anchor="ctr"/>
          <a:lstStyle/>
          <a:p>
            <a:pPr algn="ctr" indent="0" marL="0">
              <a:buNone/>
            </a:pPr>
            <a:r>
              <a:rPr lang="en-US" sz="1100" b="1" dirty="0">
                <a:solidFill>
                  <a:srgbClr val="F3F6FA"/>
                </a:solidFill>
                <a:latin typeface="Arial" pitchFamily="34" charset="0"/>
                <a:ea typeface="Arial" pitchFamily="34" charset="-122"/>
                <a:cs typeface="Arial" pitchFamily="34" charset="-120"/>
              </a:rPr>
              <a:t>S</a:t>
            </a:r>
            <a:endParaRPr lang="en-US" sz="1100" dirty="0"/>
          </a:p>
        </p:txBody>
      </p:sp>
      <p:sp>
        <p:nvSpPr>
          <p:cNvPr id="13" name="Text 9"/>
          <p:cNvSpPr txBox="1"/>
          <p:nvPr/>
        </p:nvSpPr>
        <p:spPr>
          <a:xfrm>
            <a:off x="8412480" y="1938528"/>
            <a:ext cx="3108960" cy="274320"/>
          </a:xfrm>
          <a:prstGeom prst="rect">
            <a:avLst/>
          </a:prstGeom>
          <a:noFill/>
          <a:ln/>
        </p:spPr>
        <p:txBody>
          <a:bodyPr wrap="square" lIns="0" tIns="0" rIns="0" bIns="0" rtlCol="0" anchor="t"/>
          <a:lstStyle/>
          <a:p>
            <a:pPr indent="0" marL="0">
              <a:buNone/>
            </a:pPr>
            <a:r>
              <a:rPr lang="en-US" sz="1500" b="1" dirty="0">
                <a:solidFill>
                  <a:srgbClr val="F3F6FA"/>
                </a:solidFill>
                <a:latin typeface="Arial" pitchFamily="34" charset="0"/>
                <a:ea typeface="Arial" pitchFamily="34" charset="-122"/>
                <a:cs typeface="Arial" pitchFamily="34" charset="-120"/>
              </a:rPr>
              <a:t>+0.068 s/lap</a:t>
            </a:r>
            <a:endParaRPr lang="en-US" sz="1500" dirty="0"/>
          </a:p>
        </p:txBody>
      </p:sp>
      <p:sp>
        <p:nvSpPr>
          <p:cNvPr id="14" name="Text 10"/>
          <p:cNvSpPr txBox="1"/>
          <p:nvPr/>
        </p:nvSpPr>
        <p:spPr>
          <a:xfrm>
            <a:off x="8412480" y="2212848"/>
            <a:ext cx="3108960" cy="411480"/>
          </a:xfrm>
          <a:prstGeom prst="rect">
            <a:avLst/>
          </a:prstGeom>
          <a:noFill/>
          <a:ln/>
        </p:spPr>
        <p:txBody>
          <a:bodyPr wrap="square" lIns="0" tIns="0" rIns="0" bIns="0" rtlCol="0" anchor="t"/>
          <a:lstStyle/>
          <a:p>
            <a:pPr indent="0" marL="0">
              <a:buNone/>
            </a:pPr>
            <a:r>
              <a:rPr lang="en-US" sz="1000" dirty="0">
                <a:solidFill>
                  <a:srgbClr val="98A3B3"/>
                </a:solidFill>
                <a:latin typeface="Arial" pitchFamily="34" charset="0"/>
                <a:ea typeface="Arial" pitchFamily="34" charset="-122"/>
                <a:cs typeface="Arial" pitchFamily="34" charset="-120"/>
              </a:rPr>
              <a:t>issued · 90% band −0.11 to +0.26 · 46 clean laps</a:t>
            </a:r>
            <a:endParaRPr lang="en-US" sz="1000" dirty="0"/>
          </a:p>
        </p:txBody>
      </p:sp>
      <p:sp>
        <p:nvSpPr>
          <p:cNvPr id="15" name="Shape 11"/>
          <p:cNvSpPr/>
          <p:nvPr/>
        </p:nvSpPr>
        <p:spPr>
          <a:xfrm>
            <a:off x="7955280" y="2706624"/>
            <a:ext cx="347472" cy="347472"/>
          </a:xfrm>
          <a:prstGeom prst="ellipse">
            <a:avLst/>
          </a:prstGeom>
          <a:solidFill>
            <a:srgbClr val="090C11"/>
          </a:solidFill>
          <a:ln w="31750">
            <a:solidFill>
              <a:srgbClr val="F2C230"/>
            </a:solidFill>
            <a:prstDash val="solid"/>
          </a:ln>
        </p:spPr>
      </p:sp>
      <p:sp>
        <p:nvSpPr>
          <p:cNvPr id="16" name="Text 12"/>
          <p:cNvSpPr txBox="1"/>
          <p:nvPr/>
        </p:nvSpPr>
        <p:spPr>
          <a:xfrm>
            <a:off x="7955280" y="2706624"/>
            <a:ext cx="347472" cy="347472"/>
          </a:xfrm>
          <a:prstGeom prst="rect">
            <a:avLst/>
          </a:prstGeom>
          <a:noFill/>
          <a:ln/>
        </p:spPr>
        <p:txBody>
          <a:bodyPr wrap="square" lIns="0" tIns="0" rIns="0" bIns="0" rtlCol="0" anchor="ctr"/>
          <a:lstStyle/>
          <a:p>
            <a:pPr algn="ctr" indent="0" marL="0">
              <a:buNone/>
            </a:pPr>
            <a:r>
              <a:rPr lang="en-US" sz="1100" b="1" dirty="0">
                <a:solidFill>
                  <a:srgbClr val="F3F6FA"/>
                </a:solidFill>
                <a:latin typeface="Arial" pitchFamily="34" charset="0"/>
                <a:ea typeface="Arial" pitchFamily="34" charset="-122"/>
                <a:cs typeface="Arial" pitchFamily="34" charset="-120"/>
              </a:rPr>
              <a:t>M</a:t>
            </a:r>
            <a:endParaRPr lang="en-US" sz="1100" dirty="0"/>
          </a:p>
        </p:txBody>
      </p:sp>
      <p:sp>
        <p:nvSpPr>
          <p:cNvPr id="17" name="Text 13"/>
          <p:cNvSpPr txBox="1"/>
          <p:nvPr/>
        </p:nvSpPr>
        <p:spPr>
          <a:xfrm>
            <a:off x="8412480" y="2670048"/>
            <a:ext cx="3108960" cy="274320"/>
          </a:xfrm>
          <a:prstGeom prst="rect">
            <a:avLst/>
          </a:prstGeom>
          <a:noFill/>
          <a:ln/>
        </p:spPr>
        <p:txBody>
          <a:bodyPr wrap="square" lIns="0" tIns="0" rIns="0" bIns="0" rtlCol="0" anchor="t"/>
          <a:lstStyle/>
          <a:p>
            <a:pPr indent="0" marL="0">
              <a:buNone/>
            </a:pPr>
            <a:r>
              <a:rPr lang="en-US" sz="1500" b="1" dirty="0">
                <a:solidFill>
                  <a:srgbClr val="F3F6FA"/>
                </a:solidFill>
                <a:latin typeface="Arial" pitchFamily="34" charset="0"/>
                <a:ea typeface="Arial" pitchFamily="34" charset="-122"/>
                <a:cs typeface="Arial" pitchFamily="34" charset="-120"/>
              </a:rPr>
              <a:t>+0.028 s/lap</a:t>
            </a:r>
            <a:endParaRPr lang="en-US" sz="1500" dirty="0"/>
          </a:p>
        </p:txBody>
      </p:sp>
      <p:sp>
        <p:nvSpPr>
          <p:cNvPr id="18" name="Text 14"/>
          <p:cNvSpPr txBox="1"/>
          <p:nvPr/>
        </p:nvSpPr>
        <p:spPr>
          <a:xfrm>
            <a:off x="8412480" y="2944368"/>
            <a:ext cx="3108960" cy="411480"/>
          </a:xfrm>
          <a:prstGeom prst="rect">
            <a:avLst/>
          </a:prstGeom>
          <a:noFill/>
          <a:ln/>
        </p:spPr>
        <p:txBody>
          <a:bodyPr wrap="square" lIns="0" tIns="0" rIns="0" bIns="0" rtlCol="0" anchor="t"/>
          <a:lstStyle/>
          <a:p>
            <a:pPr indent="0" marL="0">
              <a:buNone/>
            </a:pPr>
            <a:r>
              <a:rPr lang="en-US" sz="1000" dirty="0">
                <a:solidFill>
                  <a:srgbClr val="98A3B3"/>
                </a:solidFill>
                <a:latin typeface="Arial" pitchFamily="34" charset="0"/>
                <a:ea typeface="Arial" pitchFamily="34" charset="-122"/>
                <a:cs typeface="Arial" pitchFamily="34" charset="-120"/>
              </a:rPr>
              <a:t>withheld, fallback applies · 90% band −0.01 to +0.09 · 112 clean laps</a:t>
            </a:r>
            <a:endParaRPr lang="en-US" sz="1000" dirty="0"/>
          </a:p>
        </p:txBody>
      </p:sp>
      <p:sp>
        <p:nvSpPr>
          <p:cNvPr id="19" name="Shape 15"/>
          <p:cNvSpPr/>
          <p:nvPr/>
        </p:nvSpPr>
        <p:spPr>
          <a:xfrm>
            <a:off x="7955280" y="3438144"/>
            <a:ext cx="347472" cy="347472"/>
          </a:xfrm>
          <a:prstGeom prst="ellipse">
            <a:avLst/>
          </a:prstGeom>
          <a:solidFill>
            <a:srgbClr val="090C11"/>
          </a:solidFill>
          <a:ln w="31750">
            <a:solidFill>
              <a:srgbClr val="D9DEE5"/>
            </a:solidFill>
            <a:prstDash val="solid"/>
          </a:ln>
        </p:spPr>
      </p:sp>
      <p:sp>
        <p:nvSpPr>
          <p:cNvPr id="20" name="Text 16"/>
          <p:cNvSpPr txBox="1"/>
          <p:nvPr/>
        </p:nvSpPr>
        <p:spPr>
          <a:xfrm>
            <a:off x="7955280" y="3438144"/>
            <a:ext cx="347472" cy="347472"/>
          </a:xfrm>
          <a:prstGeom prst="rect">
            <a:avLst/>
          </a:prstGeom>
          <a:noFill/>
          <a:ln/>
        </p:spPr>
        <p:txBody>
          <a:bodyPr wrap="square" lIns="0" tIns="0" rIns="0" bIns="0" rtlCol="0" anchor="ctr"/>
          <a:lstStyle/>
          <a:p>
            <a:pPr algn="ctr" indent="0" marL="0">
              <a:buNone/>
            </a:pPr>
            <a:r>
              <a:rPr lang="en-US" sz="1100" b="1" dirty="0">
                <a:solidFill>
                  <a:srgbClr val="F3F6FA"/>
                </a:solidFill>
                <a:latin typeface="Arial" pitchFamily="34" charset="0"/>
                <a:ea typeface="Arial" pitchFamily="34" charset="-122"/>
                <a:cs typeface="Arial" pitchFamily="34" charset="-120"/>
              </a:rPr>
              <a:t>H</a:t>
            </a:r>
            <a:endParaRPr lang="en-US" sz="1100" dirty="0"/>
          </a:p>
        </p:txBody>
      </p:sp>
      <p:sp>
        <p:nvSpPr>
          <p:cNvPr id="21" name="Text 17"/>
          <p:cNvSpPr txBox="1"/>
          <p:nvPr/>
        </p:nvSpPr>
        <p:spPr>
          <a:xfrm>
            <a:off x="8412480" y="3401568"/>
            <a:ext cx="3108960" cy="274320"/>
          </a:xfrm>
          <a:prstGeom prst="rect">
            <a:avLst/>
          </a:prstGeom>
          <a:noFill/>
          <a:ln/>
        </p:spPr>
        <p:txBody>
          <a:bodyPr wrap="square" lIns="0" tIns="0" rIns="0" bIns="0" rtlCol="0" anchor="t"/>
          <a:lstStyle/>
          <a:p>
            <a:pPr indent="0" marL="0">
              <a:buNone/>
            </a:pPr>
            <a:r>
              <a:rPr lang="en-US" sz="1500" b="1" dirty="0">
                <a:solidFill>
                  <a:srgbClr val="F3F6FA"/>
                </a:solidFill>
                <a:latin typeface="Arial" pitchFamily="34" charset="0"/>
                <a:ea typeface="Arial" pitchFamily="34" charset="-122"/>
                <a:cs typeface="Arial" pitchFamily="34" charset="-120"/>
              </a:rPr>
              <a:t>no curve</a:t>
            </a:r>
            <a:endParaRPr lang="en-US" sz="1500" dirty="0"/>
          </a:p>
        </p:txBody>
      </p:sp>
      <p:sp>
        <p:nvSpPr>
          <p:cNvPr id="22" name="Text 18"/>
          <p:cNvSpPr txBox="1"/>
          <p:nvPr/>
        </p:nvSpPr>
        <p:spPr>
          <a:xfrm>
            <a:off x="8412480" y="3675888"/>
            <a:ext cx="3108960" cy="411480"/>
          </a:xfrm>
          <a:prstGeom prst="rect">
            <a:avLst/>
          </a:prstGeom>
          <a:noFill/>
          <a:ln/>
        </p:spPr>
        <p:txBody>
          <a:bodyPr wrap="square" lIns="0" tIns="0" rIns="0" bIns="0" rtlCol="0" anchor="t"/>
          <a:lstStyle/>
          <a:p>
            <a:pPr indent="0" marL="0">
              <a:buNone/>
            </a:pPr>
            <a:r>
              <a:rPr lang="en-US" sz="1000" dirty="0">
                <a:solidFill>
                  <a:srgbClr val="98A3B3"/>
                </a:solidFill>
                <a:latin typeface="Arial" pitchFamily="34" charset="0"/>
                <a:ea typeface="Arial" pitchFamily="34" charset="-122"/>
                <a:cs typeface="Arial" pitchFamily="34" charset="-120"/>
              </a:rPr>
              <a:t>too few clean practice laps; not in the frozen forecast</a:t>
            </a:r>
            <a:endParaRPr lang="en-US" sz="1000" dirty="0"/>
          </a:p>
        </p:txBody>
      </p:sp>
      <p:sp>
        <p:nvSpPr>
          <p:cNvPr id="23" name="Text 19"/>
          <p:cNvSpPr txBox="1"/>
          <p:nvPr/>
        </p:nvSpPr>
        <p:spPr>
          <a:xfrm>
            <a:off x="7955280" y="4114800"/>
            <a:ext cx="3566160" cy="237744"/>
          </a:xfrm>
          <a:prstGeom prst="rect">
            <a:avLst/>
          </a:prstGeom>
          <a:noFill/>
          <a:ln/>
        </p:spPr>
        <p:txBody>
          <a:bodyPr wrap="square" lIns="0" tIns="0" rIns="0" bIns="0" rtlCol="0" anchor="t"/>
          <a:lstStyle/>
          <a:p>
            <a:pPr indent="0" marL="0">
              <a:buNone/>
            </a:pPr>
            <a:r>
              <a:rPr lang="en-US" sz="1100" dirty="0">
                <a:solidFill>
                  <a:srgbClr val="F3F6FA"/>
                </a:solidFill>
                <a:latin typeface="Arial" pitchFamily="34" charset="0"/>
                <a:ea typeface="Arial" pitchFamily="34" charset="-122"/>
                <a:cs typeface="Arial" pitchFamily="34" charset="-120"/>
              </a:rPr>
              <a:t>Plan S-M 22/34 · band-high plan S-M-M · pit loss 21 s</a:t>
            </a:r>
            <a:endParaRPr lang="en-US" sz="1100" dirty="0"/>
          </a:p>
        </p:txBody>
      </p:sp>
      <p:sp>
        <p:nvSpPr>
          <p:cNvPr id="24" name="Text 20"/>
          <p:cNvSpPr txBox="1"/>
          <p:nvPr/>
        </p:nvSpPr>
        <p:spPr>
          <a:xfrm>
            <a:off x="548640" y="4572000"/>
            <a:ext cx="3657600" cy="219456"/>
          </a:xfrm>
          <a:prstGeom prst="rect">
            <a:avLst/>
          </a:prstGeom>
          <a:noFill/>
          <a:ln/>
        </p:spPr>
        <p:txBody>
          <a:bodyPr wrap="square" lIns="0" tIns="0" rIns="0" bIns="0" rtlCol="0" anchor="t"/>
          <a:lstStyle/>
          <a:p>
            <a:pPr indent="0" marL="0">
              <a:buNone/>
            </a:pPr>
            <a:r>
              <a:rPr lang="en-US" sz="1000" b="1" spc="150" kern="0" dirty="0">
                <a:solidFill>
                  <a:srgbClr val="98A3B3"/>
                </a:solidFill>
                <a:latin typeface="Arial" pitchFamily="34" charset="0"/>
                <a:ea typeface="Arial" pitchFamily="34" charset="-122"/>
                <a:cs typeface="Arial" pitchFamily="34" charset="-120"/>
              </a:rPr>
              <a:t>PROVENANCE</a:t>
            </a:r>
            <a:endParaRPr lang="en-US" sz="1000" dirty="0"/>
          </a:p>
        </p:txBody>
      </p:sp>
      <p:sp>
        <p:nvSpPr>
          <p:cNvPr id="25" name="Text 21"/>
          <p:cNvSpPr txBox="1"/>
          <p:nvPr/>
        </p:nvSpPr>
        <p:spPr>
          <a:xfrm>
            <a:off x="548640" y="4846320"/>
            <a:ext cx="11094415" cy="237744"/>
          </a:xfrm>
          <a:prstGeom prst="rect">
            <a:avLst/>
          </a:prstGeom>
          <a:noFill/>
          <a:ln/>
        </p:spPr>
        <p:txBody>
          <a:bodyPr wrap="square" lIns="0" tIns="0" rIns="0" bIns="0" rtlCol="0" anchor="t"/>
          <a:lstStyle/>
          <a:p>
            <a:pPr indent="0" marL="0">
              <a:buNone/>
            </a:pPr>
            <a:r>
              <a:rPr lang="en-US" sz="1000" dirty="0">
                <a:solidFill>
                  <a:srgbClr val="98A3B3"/>
                </a:solidFill>
                <a:latin typeface="Courier New" pitchFamily="34" charset="0"/>
                <a:ea typeface="Courier New" pitchFamily="34" charset="-122"/>
                <a:cs typeface="Courier New" pitchFamily="34" charset="-120"/>
              </a:rPr>
              <a:t>forecast JSON  sha256 8e5489d5824ae066945225457d0198531db8a8fc246cd6f65d82787f550626ce</a:t>
            </a:r>
            <a:endParaRPr lang="en-US" sz="1000" dirty="0"/>
          </a:p>
        </p:txBody>
      </p:sp>
      <p:sp>
        <p:nvSpPr>
          <p:cNvPr id="26" name="Text 22"/>
          <p:cNvSpPr txBox="1"/>
          <p:nvPr/>
        </p:nvSpPr>
        <p:spPr>
          <a:xfrm>
            <a:off x="548640" y="5120640"/>
            <a:ext cx="11094415" cy="237744"/>
          </a:xfrm>
          <a:prstGeom prst="rect">
            <a:avLst/>
          </a:prstGeom>
          <a:noFill/>
          <a:ln/>
        </p:spPr>
        <p:txBody>
          <a:bodyPr wrap="square" lIns="0" tIns="0" rIns="0" bIns="0" rtlCol="0" anchor="t"/>
          <a:lstStyle/>
          <a:p>
            <a:pPr indent="0" marL="0">
              <a:buNone/>
            </a:pPr>
            <a:r>
              <a:rPr lang="en-US" sz="1000" dirty="0">
                <a:solidFill>
                  <a:srgbClr val="98A3B3"/>
                </a:solidFill>
                <a:latin typeface="Courier New" pitchFamily="34" charset="0"/>
                <a:ea typeface="Courier New" pitchFamily="34" charset="-122"/>
                <a:cs typeface="Courier New" pitchFamily="34" charset="-120"/>
              </a:rPr>
              <a:t>forecast PDF   sha256 ead466275dddd7c23538e8920405e3042dc47ceade621e47b7a7b3c5e19f40a1</a:t>
            </a:r>
            <a:endParaRPr lang="en-US" sz="1000" dirty="0"/>
          </a:p>
        </p:txBody>
      </p:sp>
      <p:sp>
        <p:nvSpPr>
          <p:cNvPr id="27" name="Text 23"/>
          <p:cNvSpPr txBox="1"/>
          <p:nvPr/>
        </p:nvSpPr>
        <p:spPr>
          <a:xfrm>
            <a:off x="548640" y="5394960"/>
            <a:ext cx="11094415" cy="237744"/>
          </a:xfrm>
          <a:prstGeom prst="rect">
            <a:avLst/>
          </a:prstGeom>
          <a:noFill/>
          <a:ln/>
        </p:spPr>
        <p:txBody>
          <a:bodyPr wrap="square" lIns="0" tIns="0" rIns="0" bIns="0" rtlCol="0" anchor="t"/>
          <a:lstStyle/>
          <a:p>
            <a:pPr indent="0" marL="0">
              <a:buNone/>
            </a:pPr>
            <a:r>
              <a:rPr lang="en-US" sz="1000" dirty="0">
                <a:solidFill>
                  <a:srgbClr val="98A3B3"/>
                </a:solidFill>
                <a:latin typeface="Courier New" pitchFamily="34" charset="0"/>
                <a:ea typeface="Courier New" pitchFamily="34" charset="-122"/>
                <a:cs typeface="Courier New" pitchFamily="34" charset="-120"/>
              </a:rPr>
              <a:t>sidecar        sha256 30a5f06786fc332faf7934d0ed70cadd3bcba697f538939dfa5c8e905afe2c3c</a:t>
            </a:r>
            <a:endParaRPr lang="en-US" sz="1000" dirty="0"/>
          </a:p>
        </p:txBody>
      </p:sp>
      <p:sp>
        <p:nvSpPr>
          <p:cNvPr id="28" name="Text 24"/>
          <p:cNvSpPr txBox="1"/>
          <p:nvPr/>
        </p:nvSpPr>
        <p:spPr>
          <a:xfrm>
            <a:off x="548640" y="5669280"/>
            <a:ext cx="11094415" cy="237744"/>
          </a:xfrm>
          <a:prstGeom prst="rect">
            <a:avLst/>
          </a:prstGeom>
          <a:noFill/>
          <a:ln/>
        </p:spPr>
        <p:txBody>
          <a:bodyPr wrap="square" lIns="0" tIns="0" rIns="0" bIns="0" rtlCol="0" anchor="t"/>
          <a:lstStyle/>
          <a:p>
            <a:pPr indent="0" marL="0">
              <a:buNone/>
            </a:pPr>
            <a:r>
              <a:rPr lang="en-US" sz="1000" dirty="0">
                <a:solidFill>
                  <a:srgbClr val="98A3B3"/>
                </a:solidFill>
                <a:latin typeface="Courier New" pitchFamily="34" charset="0"/>
                <a:ea typeface="Courier New" pitchFamily="34" charset="-122"/>
                <a:cs typeface="Courier New" pitchFamily="34" charset="-120"/>
              </a:rPr>
              <a:t>lock v2 forecast_hash  66e3201e860b19efc410cac30073d6c12bd7d4f9cb894cd70a445747d3d0451a</a:t>
            </a:r>
            <a:endParaRPr lang="en-US" sz="1000" dirty="0"/>
          </a:p>
        </p:txBody>
      </p:sp>
      <p:sp>
        <p:nvSpPr>
          <p:cNvPr id="29" name="Text 25"/>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200" i="1" dirty="0">
                <a:solidFill>
                  <a:srgbClr val="8FE9DC"/>
                </a:solidFill>
                <a:latin typeface="Arial" pitchFamily="34" charset="0"/>
                <a:ea typeface="Arial" pitchFamily="34" charset="-122"/>
                <a:cs typeface="Arial" pitchFamily="34" charset="-120"/>
              </a:rPr>
              <a:t>The race is scored after it is run, against this file, whatever it says.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THE PRODUCT</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Five destinations, two modes, one locked core</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Streamlit dashboard, runs offline; every number traces to the lock, a hashed sidecar or a labelled placeholder</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15</a:t>
            </a:r>
            <a:endParaRPr lang="en-US" sz="900" dirty="0"/>
          </a:p>
        </p:txBody>
      </p:sp>
      <p:sp>
        <p:nvSpPr>
          <p:cNvPr id="8" name="Shape 5"/>
          <p:cNvSpPr/>
          <p:nvPr/>
        </p:nvSpPr>
        <p:spPr>
          <a:xfrm>
            <a:off x="530352" y="1764792"/>
            <a:ext cx="6894576" cy="3338454"/>
          </a:xfrm>
          <a:prstGeom prst="rect">
            <a:avLst/>
          </a:prstGeom>
          <a:solidFill>
            <a:srgbClr val="272F3B"/>
          </a:solidFill>
          <a:ln w="12700">
            <a:solidFill>
              <a:srgbClr val="272F3B"/>
            </a:solidFill>
            <a:prstDash val="solid"/>
          </a:ln>
        </p:spPr>
      </p:sp>
      <p:pic>
        <p:nvPicPr>
          <p:cNvPr id="9" name="Image 0" descr="/Users/samuelmorningstar/Trackshift/proto/deck_src/assets/shot_landing.png">    </p:cNvPr>
          <p:cNvPicPr>
            <a:picLocks noChangeAspect="1"/>
          </p:cNvPicPr>
          <p:nvPr/>
        </p:nvPicPr>
        <p:blipFill>
          <a:blip r:embed="rId1"/>
          <a:stretch>
            <a:fillRect/>
          </a:stretch>
        </p:blipFill>
        <p:spPr>
          <a:xfrm>
            <a:off x="548640" y="1783080"/>
            <a:ext cx="6858000" cy="3301878"/>
          </a:xfrm>
          <a:prstGeom prst="rect">
            <a:avLst/>
          </a:prstGeom>
        </p:spPr>
      </p:pic>
      <p:sp>
        <p:nvSpPr>
          <p:cNvPr id="10" name="Shape 6"/>
          <p:cNvSpPr/>
          <p:nvPr/>
        </p:nvSpPr>
        <p:spPr>
          <a:xfrm>
            <a:off x="7726680" y="1819656"/>
            <a:ext cx="310896" cy="310896"/>
          </a:xfrm>
          <a:prstGeom prst="ellipse">
            <a:avLst/>
          </a:prstGeom>
          <a:solidFill>
            <a:srgbClr val="39D0C3"/>
          </a:solidFill>
          <a:ln w="12700">
            <a:solidFill>
              <a:srgbClr val="39D0C3"/>
            </a:solidFill>
            <a:prstDash val="solid"/>
          </a:ln>
        </p:spPr>
      </p:sp>
      <p:sp>
        <p:nvSpPr>
          <p:cNvPr id="11" name="Text 7"/>
          <p:cNvSpPr txBox="1"/>
          <p:nvPr/>
        </p:nvSpPr>
        <p:spPr>
          <a:xfrm>
            <a:off x="7726680" y="1819656"/>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1</a:t>
            </a:r>
            <a:endParaRPr lang="en-US" sz="1200" dirty="0"/>
          </a:p>
        </p:txBody>
      </p:sp>
      <p:sp>
        <p:nvSpPr>
          <p:cNvPr id="12" name="Text 8"/>
          <p:cNvSpPr txBox="1"/>
          <p:nvPr/>
        </p:nvSpPr>
        <p:spPr>
          <a:xfrm>
            <a:off x="8183880" y="1783080"/>
            <a:ext cx="3474720" cy="274320"/>
          </a:xfrm>
          <a:prstGeom prst="rect">
            <a:avLst/>
          </a:prstGeom>
          <a:noFill/>
          <a:ln/>
        </p:spPr>
        <p:txBody>
          <a:bodyPr wrap="square" lIns="0" tIns="0" rIns="0" bIns="0" rtlCol="0" anchor="t"/>
          <a:lstStyle/>
          <a:p>
            <a:pPr indent="0" marL="0">
              <a:buNone/>
            </a:pPr>
            <a:r>
              <a:rPr lang="en-US" sz="1500" b="1" dirty="0">
                <a:solidFill>
                  <a:srgbClr val="F3F6FA"/>
                </a:solidFill>
                <a:latin typeface="Arial" pitchFamily="34" charset="0"/>
                <a:ea typeface="Arial" pitchFamily="34" charset="-122"/>
                <a:cs typeface="Arial" pitchFamily="34" charset="-120"/>
              </a:rPr>
              <a:t>Overview</a:t>
            </a:r>
            <a:endParaRPr lang="en-US" sz="1500" dirty="0"/>
          </a:p>
        </p:txBody>
      </p:sp>
      <p:sp>
        <p:nvSpPr>
          <p:cNvPr id="13" name="Text 9"/>
          <p:cNvSpPr txBox="1"/>
          <p:nvPr/>
        </p:nvSpPr>
        <p:spPr>
          <a:xfrm>
            <a:off x="8183880" y="2057400"/>
            <a:ext cx="3474720" cy="310896"/>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the two modes and the frozen Madrid forecast</a:t>
            </a:r>
            <a:endParaRPr lang="en-US" sz="1200" dirty="0"/>
          </a:p>
        </p:txBody>
      </p:sp>
      <p:sp>
        <p:nvSpPr>
          <p:cNvPr id="14" name="Shape 10"/>
          <p:cNvSpPr/>
          <p:nvPr/>
        </p:nvSpPr>
        <p:spPr>
          <a:xfrm>
            <a:off x="7726680" y="2487168"/>
            <a:ext cx="310896" cy="310896"/>
          </a:xfrm>
          <a:prstGeom prst="ellipse">
            <a:avLst/>
          </a:prstGeom>
          <a:solidFill>
            <a:srgbClr val="39D0C3"/>
          </a:solidFill>
          <a:ln w="12700">
            <a:solidFill>
              <a:srgbClr val="39D0C3"/>
            </a:solidFill>
            <a:prstDash val="solid"/>
          </a:ln>
        </p:spPr>
      </p:sp>
      <p:sp>
        <p:nvSpPr>
          <p:cNvPr id="15" name="Text 11"/>
          <p:cNvSpPr txBox="1"/>
          <p:nvPr/>
        </p:nvSpPr>
        <p:spPr>
          <a:xfrm>
            <a:off x="7726680" y="2487168"/>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2</a:t>
            </a:r>
            <a:endParaRPr lang="en-US" sz="1200" dirty="0"/>
          </a:p>
        </p:txBody>
      </p:sp>
      <p:sp>
        <p:nvSpPr>
          <p:cNvPr id="16" name="Text 12"/>
          <p:cNvSpPr txBox="1"/>
          <p:nvPr/>
        </p:nvSpPr>
        <p:spPr>
          <a:xfrm>
            <a:off x="8183880" y="2450592"/>
            <a:ext cx="3474720" cy="274320"/>
          </a:xfrm>
          <a:prstGeom prst="rect">
            <a:avLst/>
          </a:prstGeom>
          <a:noFill/>
          <a:ln/>
        </p:spPr>
        <p:txBody>
          <a:bodyPr wrap="square" lIns="0" tIns="0" rIns="0" bIns="0" rtlCol="0" anchor="t"/>
          <a:lstStyle/>
          <a:p>
            <a:pPr indent="0" marL="0">
              <a:buNone/>
            </a:pPr>
            <a:r>
              <a:rPr lang="en-US" sz="1500" b="1" dirty="0">
                <a:solidFill>
                  <a:srgbClr val="F3F6FA"/>
                </a:solidFill>
                <a:latin typeface="Arial" pitchFamily="34" charset="0"/>
                <a:ea typeface="Arial" pitchFamily="34" charset="-122"/>
                <a:cs typeface="Arial" pitchFamily="34" charset="-120"/>
              </a:rPr>
              <a:t>Forecast</a:t>
            </a:r>
            <a:endParaRPr lang="en-US" sz="1500" dirty="0"/>
          </a:p>
        </p:txBody>
      </p:sp>
      <p:sp>
        <p:nvSpPr>
          <p:cNvPr id="17" name="Text 13"/>
          <p:cNvSpPr txBox="1"/>
          <p:nvPr/>
        </p:nvSpPr>
        <p:spPr>
          <a:xfrm>
            <a:off x="8183880" y="2724912"/>
            <a:ext cx="3474720" cy="310896"/>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pre-race curves, bands and the suggested plan</a:t>
            </a:r>
            <a:endParaRPr lang="en-US" sz="1200" dirty="0"/>
          </a:p>
        </p:txBody>
      </p:sp>
      <p:sp>
        <p:nvSpPr>
          <p:cNvPr id="18" name="Shape 14"/>
          <p:cNvSpPr/>
          <p:nvPr/>
        </p:nvSpPr>
        <p:spPr>
          <a:xfrm>
            <a:off x="7726680" y="3154680"/>
            <a:ext cx="310896" cy="310896"/>
          </a:xfrm>
          <a:prstGeom prst="ellipse">
            <a:avLst/>
          </a:prstGeom>
          <a:solidFill>
            <a:srgbClr val="39D0C3"/>
          </a:solidFill>
          <a:ln w="12700">
            <a:solidFill>
              <a:srgbClr val="39D0C3"/>
            </a:solidFill>
            <a:prstDash val="solid"/>
          </a:ln>
        </p:spPr>
      </p:sp>
      <p:sp>
        <p:nvSpPr>
          <p:cNvPr id="19" name="Text 15"/>
          <p:cNvSpPr txBox="1"/>
          <p:nvPr/>
        </p:nvSpPr>
        <p:spPr>
          <a:xfrm>
            <a:off x="7726680" y="3154680"/>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3</a:t>
            </a:r>
            <a:endParaRPr lang="en-US" sz="1200" dirty="0"/>
          </a:p>
        </p:txBody>
      </p:sp>
      <p:sp>
        <p:nvSpPr>
          <p:cNvPr id="20" name="Text 16"/>
          <p:cNvSpPr txBox="1"/>
          <p:nvPr/>
        </p:nvSpPr>
        <p:spPr>
          <a:xfrm>
            <a:off x="8183880" y="3118104"/>
            <a:ext cx="3474720" cy="274320"/>
          </a:xfrm>
          <a:prstGeom prst="rect">
            <a:avLst/>
          </a:prstGeom>
          <a:noFill/>
          <a:ln/>
        </p:spPr>
        <p:txBody>
          <a:bodyPr wrap="square" lIns="0" tIns="0" rIns="0" bIns="0" rtlCol="0" anchor="t"/>
          <a:lstStyle/>
          <a:p>
            <a:pPr indent="0" marL="0">
              <a:buNone/>
            </a:pPr>
            <a:r>
              <a:rPr lang="en-US" sz="1500" b="1" dirty="0">
                <a:solidFill>
                  <a:srgbClr val="F3F6FA"/>
                </a:solidFill>
                <a:latin typeface="Arial" pitchFamily="34" charset="0"/>
                <a:ea typeface="Arial" pitchFamily="34" charset="-122"/>
                <a:cs typeface="Arial" pitchFamily="34" charset="-120"/>
              </a:rPr>
              <a:t>Live Predictor</a:t>
            </a:r>
            <a:endParaRPr lang="en-US" sz="1500" dirty="0"/>
          </a:p>
        </p:txBody>
      </p:sp>
      <p:sp>
        <p:nvSpPr>
          <p:cNvPr id="21" name="Text 17"/>
          <p:cNvSpPr txBox="1"/>
          <p:nvPr/>
        </p:nvSpPr>
        <p:spPr>
          <a:xfrm>
            <a:off x="8183880" y="3392424"/>
            <a:ext cx="3474720" cy="310896"/>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lap-by-lap tyre state and the ranked pit call</a:t>
            </a:r>
            <a:endParaRPr lang="en-US" sz="1200" dirty="0"/>
          </a:p>
        </p:txBody>
      </p:sp>
      <p:sp>
        <p:nvSpPr>
          <p:cNvPr id="22" name="Shape 18"/>
          <p:cNvSpPr/>
          <p:nvPr/>
        </p:nvSpPr>
        <p:spPr>
          <a:xfrm>
            <a:off x="7726680" y="3822192"/>
            <a:ext cx="310896" cy="310896"/>
          </a:xfrm>
          <a:prstGeom prst="ellipse">
            <a:avLst/>
          </a:prstGeom>
          <a:solidFill>
            <a:srgbClr val="39D0C3"/>
          </a:solidFill>
          <a:ln w="12700">
            <a:solidFill>
              <a:srgbClr val="39D0C3"/>
            </a:solidFill>
            <a:prstDash val="solid"/>
          </a:ln>
        </p:spPr>
      </p:sp>
      <p:sp>
        <p:nvSpPr>
          <p:cNvPr id="23" name="Text 19"/>
          <p:cNvSpPr txBox="1"/>
          <p:nvPr/>
        </p:nvSpPr>
        <p:spPr>
          <a:xfrm>
            <a:off x="7726680" y="3822192"/>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4</a:t>
            </a:r>
            <a:endParaRPr lang="en-US" sz="1200" dirty="0"/>
          </a:p>
        </p:txBody>
      </p:sp>
      <p:sp>
        <p:nvSpPr>
          <p:cNvPr id="24" name="Text 20"/>
          <p:cNvSpPr txBox="1"/>
          <p:nvPr/>
        </p:nvSpPr>
        <p:spPr>
          <a:xfrm>
            <a:off x="8183880" y="3785616"/>
            <a:ext cx="3474720" cy="274320"/>
          </a:xfrm>
          <a:prstGeom prst="rect">
            <a:avLst/>
          </a:prstGeom>
          <a:noFill/>
          <a:ln/>
        </p:spPr>
        <p:txBody>
          <a:bodyPr wrap="square" lIns="0" tIns="0" rIns="0" bIns="0" rtlCol="0" anchor="t"/>
          <a:lstStyle/>
          <a:p>
            <a:pPr indent="0" marL="0">
              <a:buNone/>
            </a:pPr>
            <a:r>
              <a:rPr lang="en-US" sz="1500" b="1" dirty="0">
                <a:solidFill>
                  <a:srgbClr val="F3F6FA"/>
                </a:solidFill>
                <a:latin typeface="Arial" pitchFamily="34" charset="0"/>
                <a:ea typeface="Arial" pitchFamily="34" charset="-122"/>
                <a:cs typeface="Arial" pitchFamily="34" charset="-120"/>
              </a:rPr>
              <a:t>Ghost Strategy</a:t>
            </a:r>
            <a:endParaRPr lang="en-US" sz="1500" dirty="0"/>
          </a:p>
        </p:txBody>
      </p:sp>
      <p:sp>
        <p:nvSpPr>
          <p:cNvPr id="25" name="Text 21"/>
          <p:cNvSpPr txBox="1"/>
          <p:nvPr/>
        </p:nvSpPr>
        <p:spPr>
          <a:xfrm>
            <a:off x="8183880" y="4059936"/>
            <a:ext cx="3474720" cy="310896"/>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change the stop, replay it on the 3D Race Twin</a:t>
            </a:r>
            <a:endParaRPr lang="en-US" sz="1200" dirty="0"/>
          </a:p>
        </p:txBody>
      </p:sp>
      <p:sp>
        <p:nvSpPr>
          <p:cNvPr id="26" name="Shape 22"/>
          <p:cNvSpPr/>
          <p:nvPr/>
        </p:nvSpPr>
        <p:spPr>
          <a:xfrm>
            <a:off x="7726680" y="4489704"/>
            <a:ext cx="310896" cy="310896"/>
          </a:xfrm>
          <a:prstGeom prst="ellipse">
            <a:avLst/>
          </a:prstGeom>
          <a:solidFill>
            <a:srgbClr val="39D0C3"/>
          </a:solidFill>
          <a:ln w="12700">
            <a:solidFill>
              <a:srgbClr val="39D0C3"/>
            </a:solidFill>
            <a:prstDash val="solid"/>
          </a:ln>
        </p:spPr>
      </p:sp>
      <p:sp>
        <p:nvSpPr>
          <p:cNvPr id="27" name="Text 23"/>
          <p:cNvSpPr txBox="1"/>
          <p:nvPr/>
        </p:nvSpPr>
        <p:spPr>
          <a:xfrm>
            <a:off x="7726680" y="4489704"/>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5</a:t>
            </a:r>
            <a:endParaRPr lang="en-US" sz="1200" dirty="0"/>
          </a:p>
        </p:txBody>
      </p:sp>
      <p:sp>
        <p:nvSpPr>
          <p:cNvPr id="28" name="Text 24"/>
          <p:cNvSpPr txBox="1"/>
          <p:nvPr/>
        </p:nvSpPr>
        <p:spPr>
          <a:xfrm>
            <a:off x="8183880" y="4453128"/>
            <a:ext cx="3474720" cy="274320"/>
          </a:xfrm>
          <a:prstGeom prst="rect">
            <a:avLst/>
          </a:prstGeom>
          <a:noFill/>
          <a:ln/>
        </p:spPr>
        <p:txBody>
          <a:bodyPr wrap="square" lIns="0" tIns="0" rIns="0" bIns="0" rtlCol="0" anchor="t"/>
          <a:lstStyle/>
          <a:p>
            <a:pPr indent="0" marL="0">
              <a:buNone/>
            </a:pPr>
            <a:r>
              <a:rPr lang="en-US" sz="1500" b="1" dirty="0">
                <a:solidFill>
                  <a:srgbClr val="F3F6FA"/>
                </a:solidFill>
                <a:latin typeface="Arial" pitchFamily="34" charset="0"/>
                <a:ea typeface="Arial" pitchFamily="34" charset="-122"/>
                <a:cs typeface="Arial" pitchFamily="34" charset="-120"/>
              </a:rPr>
              <a:t>Guided demo</a:t>
            </a:r>
            <a:endParaRPr lang="en-US" sz="1500" dirty="0"/>
          </a:p>
        </p:txBody>
      </p:sp>
      <p:sp>
        <p:nvSpPr>
          <p:cNvPr id="29" name="Text 25"/>
          <p:cNvSpPr txBox="1"/>
          <p:nvPr/>
        </p:nvSpPr>
        <p:spPr>
          <a:xfrm>
            <a:off x="8183880" y="4727448"/>
            <a:ext cx="3474720" cy="310896"/>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five steps from a lap to a tyre decision</a:t>
            </a:r>
            <a:endParaRPr lang="en-US" sz="1200" dirty="0"/>
          </a:p>
        </p:txBody>
      </p:sp>
      <p:sp>
        <p:nvSpPr>
          <p:cNvPr id="30" name="Text 26"/>
          <p:cNvSpPr txBox="1"/>
          <p:nvPr/>
        </p:nvSpPr>
        <p:spPr>
          <a:xfrm>
            <a:off x="7726680" y="5138928"/>
            <a:ext cx="3913632" cy="274320"/>
          </a:xfrm>
          <a:prstGeom prst="rect">
            <a:avLst/>
          </a:prstGeom>
          <a:noFill/>
          <a:ln/>
        </p:spPr>
        <p:txBody>
          <a:bodyPr wrap="square" lIns="0" tIns="0" rIns="0" bIns="0" rtlCol="0" anchor="t"/>
          <a:lstStyle/>
          <a:p>
            <a:pPr indent="0" marL="0">
              <a:buNone/>
            </a:pPr>
            <a:r>
              <a:rPr lang="en-US" sz="1100" dirty="0">
                <a:solidFill>
                  <a:srgbClr val="6B7585"/>
                </a:solidFill>
                <a:latin typeface="Arial" pitchFamily="34" charset="0"/>
                <a:ea typeface="Arial" pitchFamily="34" charset="-122"/>
                <a:cs typeface="Arial" pitchFamily="34" charset="-120"/>
              </a:rPr>
              <a:t>More tools: Decision board · Driver feedback · Validation · Generalisation</a:t>
            </a:r>
            <a:endParaRPr lang="en-US" sz="1100" dirty="0"/>
          </a:p>
        </p:txBody>
      </p:sp>
      <p:sp>
        <p:nvSpPr>
          <p:cNvPr id="31" name="Shape 27"/>
          <p:cNvSpPr/>
          <p:nvPr/>
        </p:nvSpPr>
        <p:spPr>
          <a:xfrm>
            <a:off x="548640" y="5440680"/>
            <a:ext cx="2194560" cy="777240"/>
          </a:xfrm>
          <a:prstGeom prst="roundRect">
            <a:avLst>
              <a:gd name="adj" fmla="val 9412"/>
            </a:avLst>
          </a:prstGeom>
          <a:solidFill>
            <a:srgbClr val="11161E"/>
          </a:solidFill>
          <a:ln w="9525">
            <a:solidFill>
              <a:srgbClr val="272F3B"/>
            </a:solidFill>
            <a:prstDash val="solid"/>
          </a:ln>
        </p:spPr>
      </p:sp>
      <p:sp>
        <p:nvSpPr>
          <p:cNvPr id="32" name="Text 28"/>
          <p:cNvSpPr txBox="1"/>
          <p:nvPr/>
        </p:nvSpPr>
        <p:spPr>
          <a:xfrm>
            <a:off x="685800" y="5504688"/>
            <a:ext cx="1965960" cy="274320"/>
          </a:xfrm>
          <a:prstGeom prst="rect">
            <a:avLst/>
          </a:prstGeom>
          <a:noFill/>
          <a:ln/>
        </p:spPr>
        <p:txBody>
          <a:bodyPr wrap="square" lIns="0" tIns="0" rIns="0" bIns="0" rtlCol="0" anchor="t"/>
          <a:lstStyle/>
          <a:p>
            <a:pPr indent="0" marL="0">
              <a:buNone/>
            </a:pPr>
            <a:r>
              <a:rPr lang="en-US" sz="1200" b="1" dirty="0">
                <a:solidFill>
                  <a:srgbClr val="8FE9DC"/>
                </a:solidFill>
                <a:latin typeface="Arial" pitchFamily="34" charset="0"/>
                <a:ea typeface="Arial" pitchFamily="34" charset="-122"/>
                <a:cs typeface="Arial" pitchFamily="34" charset="-120"/>
              </a:rPr>
              <a:t>30 routes · 3,933 numbers</a:t>
            </a:r>
            <a:endParaRPr lang="en-US" sz="1200" dirty="0"/>
          </a:p>
        </p:txBody>
      </p:sp>
      <p:sp>
        <p:nvSpPr>
          <p:cNvPr id="33" name="Text 29"/>
          <p:cNvSpPr txBox="1"/>
          <p:nvPr/>
        </p:nvSpPr>
        <p:spPr>
          <a:xfrm>
            <a:off x="685800" y="5788152"/>
            <a:ext cx="1965960" cy="384048"/>
          </a:xfrm>
          <a:prstGeom prst="rect">
            <a:avLst/>
          </a:prstGeom>
          <a:noFill/>
          <a:ln/>
        </p:spPr>
        <p:txBody>
          <a:bodyPr wrap="square" lIns="0" tIns="0" rIns="0" bIns="0" rtlCol="0" anchor="t"/>
          <a:lstStyle/>
          <a:p>
            <a:pPr indent="0" marL="0">
              <a:buNone/>
            </a:pPr>
            <a:r>
              <a:rPr lang="en-US" sz="1000" dirty="0">
                <a:solidFill>
                  <a:srgbClr val="98A3B3"/>
                </a:solidFill>
                <a:latin typeface="Arial" pitchFamily="34" charset="0"/>
                <a:ea typeface="Arial" pitchFamily="34" charset="-122"/>
                <a:cs typeface="Arial" pitchFamily="34" charset="-120"/>
              </a:rPr>
              <a:t>checked against the lock, 0 mismatches</a:t>
            </a:r>
            <a:endParaRPr lang="en-US" sz="1000" dirty="0"/>
          </a:p>
        </p:txBody>
      </p:sp>
      <p:sp>
        <p:nvSpPr>
          <p:cNvPr id="34" name="Shape 30"/>
          <p:cNvSpPr/>
          <p:nvPr/>
        </p:nvSpPr>
        <p:spPr>
          <a:xfrm>
            <a:off x="2880360" y="5440680"/>
            <a:ext cx="2194560" cy="777240"/>
          </a:xfrm>
          <a:prstGeom prst="roundRect">
            <a:avLst>
              <a:gd name="adj" fmla="val 9412"/>
            </a:avLst>
          </a:prstGeom>
          <a:solidFill>
            <a:srgbClr val="11161E"/>
          </a:solidFill>
          <a:ln w="9525">
            <a:solidFill>
              <a:srgbClr val="272F3B"/>
            </a:solidFill>
            <a:prstDash val="solid"/>
          </a:ln>
        </p:spPr>
      </p:sp>
      <p:sp>
        <p:nvSpPr>
          <p:cNvPr id="35" name="Text 31"/>
          <p:cNvSpPr txBox="1"/>
          <p:nvPr/>
        </p:nvSpPr>
        <p:spPr>
          <a:xfrm>
            <a:off x="3017520" y="5504688"/>
            <a:ext cx="1965960" cy="274320"/>
          </a:xfrm>
          <a:prstGeom prst="rect">
            <a:avLst/>
          </a:prstGeom>
          <a:noFill/>
          <a:ln/>
        </p:spPr>
        <p:txBody>
          <a:bodyPr wrap="square" lIns="0" tIns="0" rIns="0" bIns="0" rtlCol="0" anchor="t"/>
          <a:lstStyle/>
          <a:p>
            <a:pPr indent="0" marL="0">
              <a:buNone/>
            </a:pPr>
            <a:r>
              <a:rPr lang="en-US" sz="1200" b="1" dirty="0">
                <a:solidFill>
                  <a:srgbClr val="8FE9DC"/>
                </a:solidFill>
                <a:latin typeface="Arial" pitchFamily="34" charset="0"/>
                <a:ea typeface="Arial" pitchFamily="34" charset="-122"/>
                <a:cs typeface="Arial" pitchFamily="34" charset="-120"/>
              </a:rPr>
              <a:t>12/12 rehearsal steps</a:t>
            </a:r>
            <a:endParaRPr lang="en-US" sz="1200" dirty="0"/>
          </a:p>
        </p:txBody>
      </p:sp>
      <p:sp>
        <p:nvSpPr>
          <p:cNvPr id="36" name="Text 32"/>
          <p:cNvSpPr txBox="1"/>
          <p:nvPr/>
        </p:nvSpPr>
        <p:spPr>
          <a:xfrm>
            <a:off x="3017520" y="5788152"/>
            <a:ext cx="1965960" cy="384048"/>
          </a:xfrm>
          <a:prstGeom prst="rect">
            <a:avLst/>
          </a:prstGeom>
          <a:noFill/>
          <a:ln/>
        </p:spPr>
        <p:txBody>
          <a:bodyPr wrap="square" lIns="0" tIns="0" rIns="0" bIns="0" rtlCol="0" anchor="t"/>
          <a:lstStyle/>
          <a:p>
            <a:pPr indent="0" marL="0">
              <a:buNone/>
            </a:pPr>
            <a:r>
              <a:rPr lang="en-US" sz="1000" dirty="0">
                <a:solidFill>
                  <a:srgbClr val="98A3B3"/>
                </a:solidFill>
                <a:latin typeface="Arial" pitchFamily="34" charset="0"/>
                <a:ea typeface="Arial" pitchFamily="34" charset="-122"/>
                <a:cs typeface="Arial" pitchFamily="34" charset="-120"/>
              </a:rPr>
              <a:t>five-minute run in 303 s, no external requests</a:t>
            </a:r>
            <a:endParaRPr lang="en-US" sz="1000" dirty="0"/>
          </a:p>
        </p:txBody>
      </p:sp>
      <p:sp>
        <p:nvSpPr>
          <p:cNvPr id="37" name="Shape 33"/>
          <p:cNvSpPr/>
          <p:nvPr/>
        </p:nvSpPr>
        <p:spPr>
          <a:xfrm>
            <a:off x="5212080" y="5440680"/>
            <a:ext cx="2194560" cy="777240"/>
          </a:xfrm>
          <a:prstGeom prst="roundRect">
            <a:avLst>
              <a:gd name="adj" fmla="val 9412"/>
            </a:avLst>
          </a:prstGeom>
          <a:solidFill>
            <a:srgbClr val="11161E"/>
          </a:solidFill>
          <a:ln w="9525">
            <a:solidFill>
              <a:srgbClr val="272F3B"/>
            </a:solidFill>
            <a:prstDash val="solid"/>
          </a:ln>
        </p:spPr>
      </p:sp>
      <p:sp>
        <p:nvSpPr>
          <p:cNvPr id="38" name="Text 34"/>
          <p:cNvSpPr txBox="1"/>
          <p:nvPr/>
        </p:nvSpPr>
        <p:spPr>
          <a:xfrm>
            <a:off x="5349240" y="5504688"/>
            <a:ext cx="1965960" cy="274320"/>
          </a:xfrm>
          <a:prstGeom prst="rect">
            <a:avLst/>
          </a:prstGeom>
          <a:noFill/>
          <a:ln/>
        </p:spPr>
        <p:txBody>
          <a:bodyPr wrap="square" lIns="0" tIns="0" rIns="0" bIns="0" rtlCol="0" anchor="t"/>
          <a:lstStyle/>
          <a:p>
            <a:pPr indent="0" marL="0">
              <a:buNone/>
            </a:pPr>
            <a:r>
              <a:rPr lang="en-US" sz="1200" b="1" dirty="0">
                <a:solidFill>
                  <a:srgbClr val="8FE9DC"/>
                </a:solidFill>
                <a:latin typeface="Arial" pitchFamily="34" charset="0"/>
                <a:ea typeface="Arial" pitchFamily="34" charset="-122"/>
                <a:cs typeface="Arial" pitchFamily="34" charset="-120"/>
              </a:rPr>
              <a:t>Offline</a:t>
            </a:r>
            <a:endParaRPr lang="en-US" sz="1200" dirty="0"/>
          </a:p>
        </p:txBody>
      </p:sp>
      <p:sp>
        <p:nvSpPr>
          <p:cNvPr id="39" name="Text 35"/>
          <p:cNvSpPr txBox="1"/>
          <p:nvPr/>
        </p:nvSpPr>
        <p:spPr>
          <a:xfrm>
            <a:off x="5349240" y="5788152"/>
            <a:ext cx="1965960" cy="384048"/>
          </a:xfrm>
          <a:prstGeom prst="rect">
            <a:avLst/>
          </a:prstGeom>
          <a:noFill/>
          <a:ln/>
        </p:spPr>
        <p:txBody>
          <a:bodyPr wrap="square" lIns="0" tIns="0" rIns="0" bIns="0" rtlCol="0" anchor="t"/>
          <a:lstStyle/>
          <a:p>
            <a:pPr indent="0" marL="0">
              <a:buNone/>
            </a:pPr>
            <a:r>
              <a:rPr lang="en-US" sz="1000" dirty="0">
                <a:solidFill>
                  <a:srgbClr val="98A3B3"/>
                </a:solidFill>
                <a:latin typeface="Arial" pitchFamily="34" charset="0"/>
                <a:ea typeface="Arial" pitchFamily="34" charset="-122"/>
                <a:cs typeface="Arial" pitchFamily="34" charset="-120"/>
              </a:rPr>
              <a:t>recorded races replay locally; no CDN, no live feed needed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LIVE PREDICTOR</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The call during the race, from laps already run</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Monza 2026, Norris, lap 30 of 53, recorded replay</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16</a:t>
            </a:r>
            <a:endParaRPr lang="en-US" sz="900" dirty="0"/>
          </a:p>
        </p:txBody>
      </p:sp>
      <p:sp>
        <p:nvSpPr>
          <p:cNvPr id="8" name="Shape 5"/>
          <p:cNvSpPr/>
          <p:nvPr/>
        </p:nvSpPr>
        <p:spPr>
          <a:xfrm>
            <a:off x="530352" y="1764792"/>
            <a:ext cx="7077456" cy="3819961"/>
          </a:xfrm>
          <a:prstGeom prst="rect">
            <a:avLst/>
          </a:prstGeom>
          <a:solidFill>
            <a:srgbClr val="272F3B"/>
          </a:solidFill>
          <a:ln w="12700">
            <a:solidFill>
              <a:srgbClr val="272F3B"/>
            </a:solidFill>
            <a:prstDash val="solid"/>
          </a:ln>
        </p:spPr>
      </p:sp>
      <p:pic>
        <p:nvPicPr>
          <p:cNvPr id="9" name="Image 0" descr="/Users/samuelmorningstar/Trackshift/proto/deck_src/assets/shot_live.png">    </p:cNvPr>
          <p:cNvPicPr>
            <a:picLocks noChangeAspect="1"/>
          </p:cNvPicPr>
          <p:nvPr/>
        </p:nvPicPr>
        <p:blipFill>
          <a:blip r:embed="rId1"/>
          <a:stretch>
            <a:fillRect/>
          </a:stretch>
        </p:blipFill>
        <p:spPr>
          <a:xfrm>
            <a:off x="548640" y="1783080"/>
            <a:ext cx="7040880" cy="3783385"/>
          </a:xfrm>
          <a:prstGeom prst="rect">
            <a:avLst/>
          </a:prstGeom>
        </p:spPr>
      </p:pic>
      <p:sp>
        <p:nvSpPr>
          <p:cNvPr id="10" name="Shape 6"/>
          <p:cNvSpPr/>
          <p:nvPr/>
        </p:nvSpPr>
        <p:spPr>
          <a:xfrm>
            <a:off x="7863840" y="1783080"/>
            <a:ext cx="1828800" cy="1371600"/>
          </a:xfrm>
          <a:prstGeom prst="roundRect">
            <a:avLst>
              <a:gd name="adj" fmla="val 5333"/>
            </a:avLst>
          </a:prstGeom>
          <a:solidFill>
            <a:srgbClr val="11161E"/>
          </a:solidFill>
          <a:ln w="9525">
            <a:solidFill>
              <a:srgbClr val="272F3B"/>
            </a:solidFill>
            <a:prstDash val="solid"/>
          </a:ln>
        </p:spPr>
      </p:sp>
      <p:sp>
        <p:nvSpPr>
          <p:cNvPr id="11" name="Text 7"/>
          <p:cNvSpPr txBox="1"/>
          <p:nvPr/>
        </p:nvSpPr>
        <p:spPr>
          <a:xfrm>
            <a:off x="8028432" y="1911096"/>
            <a:ext cx="1499616" cy="371856"/>
          </a:xfrm>
          <a:prstGeom prst="rect">
            <a:avLst/>
          </a:prstGeom>
          <a:noFill/>
          <a:ln/>
        </p:spPr>
        <p:txBody>
          <a:bodyPr wrap="square" lIns="0" tIns="0" rIns="0" bIns="0" rtlCol="0" anchor="b"/>
          <a:lstStyle/>
          <a:p>
            <a:pPr indent="0" marL="0">
              <a:buNone/>
            </a:pPr>
            <a:r>
              <a:rPr lang="en-US" sz="2400" b="1" dirty="0">
                <a:solidFill>
                  <a:srgbClr val="39D0C3"/>
                </a:solidFill>
                <a:latin typeface="Arial" pitchFamily="34" charset="0"/>
                <a:ea typeface="Arial" pitchFamily="34" charset="-122"/>
                <a:cs typeface="Arial" pitchFamily="34" charset="-120"/>
              </a:rPr>
              <a:t>0.380 s</a:t>
            </a:r>
            <a:endParaRPr lang="en-US" sz="2400" dirty="0"/>
          </a:p>
        </p:txBody>
      </p:sp>
      <p:sp>
        <p:nvSpPr>
          <p:cNvPr id="12" name="Text 8"/>
          <p:cNvSpPr txBox="1"/>
          <p:nvPr/>
        </p:nvSpPr>
        <p:spPr>
          <a:xfrm>
            <a:off x="8028432" y="2319528"/>
            <a:ext cx="149961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next-lap error, against 0.426 s for the prior alone</a:t>
            </a:r>
            <a:endParaRPr lang="en-US" sz="1200" dirty="0"/>
          </a:p>
        </p:txBody>
      </p:sp>
      <p:sp>
        <p:nvSpPr>
          <p:cNvPr id="13" name="Shape 9"/>
          <p:cNvSpPr/>
          <p:nvPr/>
        </p:nvSpPr>
        <p:spPr>
          <a:xfrm>
            <a:off x="9802368" y="1783080"/>
            <a:ext cx="1828800" cy="1371600"/>
          </a:xfrm>
          <a:prstGeom prst="roundRect">
            <a:avLst>
              <a:gd name="adj" fmla="val 5333"/>
            </a:avLst>
          </a:prstGeom>
          <a:solidFill>
            <a:srgbClr val="11161E"/>
          </a:solidFill>
          <a:ln w="9525">
            <a:solidFill>
              <a:srgbClr val="272F3B"/>
            </a:solidFill>
            <a:prstDash val="solid"/>
          </a:ln>
        </p:spPr>
      </p:sp>
      <p:sp>
        <p:nvSpPr>
          <p:cNvPr id="14" name="Text 10"/>
          <p:cNvSpPr txBox="1"/>
          <p:nvPr/>
        </p:nvSpPr>
        <p:spPr>
          <a:xfrm>
            <a:off x="9966960" y="1911096"/>
            <a:ext cx="1499616" cy="371856"/>
          </a:xfrm>
          <a:prstGeom prst="rect">
            <a:avLst/>
          </a:prstGeom>
          <a:noFill/>
          <a:ln/>
        </p:spPr>
        <p:txBody>
          <a:bodyPr wrap="square" lIns="0" tIns="0" rIns="0" bIns="0" rtlCol="0" anchor="b"/>
          <a:lstStyle/>
          <a:p>
            <a:pPr indent="0" marL="0">
              <a:buNone/>
            </a:pPr>
            <a:r>
              <a:rPr lang="en-US" sz="2400" b="1" dirty="0">
                <a:solidFill>
                  <a:srgbClr val="F3F6FA"/>
                </a:solidFill>
                <a:latin typeface="Arial" pitchFamily="34" charset="0"/>
                <a:ea typeface="Arial" pitchFamily="34" charset="-122"/>
                <a:cs typeface="Arial" pitchFamily="34" charset="-120"/>
              </a:rPr>
              <a:t>89%</a:t>
            </a:r>
            <a:endParaRPr lang="en-US" sz="2400" dirty="0"/>
          </a:p>
        </p:txBody>
      </p:sp>
      <p:sp>
        <p:nvSpPr>
          <p:cNvPr id="15" name="Text 11"/>
          <p:cNvSpPr txBox="1"/>
          <p:nvPr/>
        </p:nvSpPr>
        <p:spPr>
          <a:xfrm>
            <a:off x="9966960" y="2319528"/>
            <a:ext cx="149961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of next laps inside the 90% band</a:t>
            </a:r>
            <a:endParaRPr lang="en-US" sz="1200" dirty="0"/>
          </a:p>
        </p:txBody>
      </p:sp>
      <p:sp>
        <p:nvSpPr>
          <p:cNvPr id="16" name="Shape 12"/>
          <p:cNvSpPr/>
          <p:nvPr/>
        </p:nvSpPr>
        <p:spPr>
          <a:xfrm>
            <a:off x="7863840" y="3264408"/>
            <a:ext cx="1828800" cy="1371600"/>
          </a:xfrm>
          <a:prstGeom prst="roundRect">
            <a:avLst>
              <a:gd name="adj" fmla="val 5333"/>
            </a:avLst>
          </a:prstGeom>
          <a:solidFill>
            <a:srgbClr val="11161E"/>
          </a:solidFill>
          <a:ln w="9525">
            <a:solidFill>
              <a:srgbClr val="272F3B"/>
            </a:solidFill>
            <a:prstDash val="solid"/>
          </a:ln>
        </p:spPr>
      </p:sp>
      <p:sp>
        <p:nvSpPr>
          <p:cNvPr id="17" name="Text 13"/>
          <p:cNvSpPr txBox="1"/>
          <p:nvPr/>
        </p:nvSpPr>
        <p:spPr>
          <a:xfrm>
            <a:off x="8028432" y="3392424"/>
            <a:ext cx="1499616" cy="371856"/>
          </a:xfrm>
          <a:prstGeom prst="rect">
            <a:avLst/>
          </a:prstGeom>
          <a:noFill/>
          <a:ln/>
        </p:spPr>
        <p:txBody>
          <a:bodyPr wrap="square" lIns="0" tIns="0" rIns="0" bIns="0" rtlCol="0" anchor="b"/>
          <a:lstStyle/>
          <a:p>
            <a:pPr indent="0" marL="0">
              <a:buNone/>
            </a:pPr>
            <a:r>
              <a:rPr lang="en-US" sz="2400" b="1" dirty="0">
                <a:solidFill>
                  <a:srgbClr val="F3F6FA"/>
                </a:solidFill>
                <a:latin typeface="Arial" pitchFamily="34" charset="0"/>
                <a:ea typeface="Arial" pitchFamily="34" charset="-122"/>
                <a:cs typeface="Arial" pitchFamily="34" charset="-120"/>
              </a:rPr>
              <a:t>8.5 laps</a:t>
            </a:r>
            <a:endParaRPr lang="en-US" sz="2400" dirty="0"/>
          </a:p>
        </p:txBody>
      </p:sp>
      <p:sp>
        <p:nvSpPr>
          <p:cNvPr id="18" name="Text 14"/>
          <p:cNvSpPr txBox="1"/>
          <p:nvPr/>
        </p:nvSpPr>
        <p:spPr>
          <a:xfrm>
            <a:off x="8028432" y="3800856"/>
            <a:ext cx="149961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median warning before a detected cliff</a:t>
            </a:r>
            <a:endParaRPr lang="en-US" sz="1200" dirty="0"/>
          </a:p>
        </p:txBody>
      </p:sp>
      <p:sp>
        <p:nvSpPr>
          <p:cNvPr id="19" name="Shape 15"/>
          <p:cNvSpPr/>
          <p:nvPr/>
        </p:nvSpPr>
        <p:spPr>
          <a:xfrm>
            <a:off x="9802368" y="3264408"/>
            <a:ext cx="1828800" cy="1371600"/>
          </a:xfrm>
          <a:prstGeom prst="roundRect">
            <a:avLst>
              <a:gd name="adj" fmla="val 5333"/>
            </a:avLst>
          </a:prstGeom>
          <a:solidFill>
            <a:srgbClr val="11161E"/>
          </a:solidFill>
          <a:ln w="9525">
            <a:solidFill>
              <a:srgbClr val="272F3B"/>
            </a:solidFill>
            <a:prstDash val="solid"/>
          </a:ln>
        </p:spPr>
      </p:sp>
      <p:sp>
        <p:nvSpPr>
          <p:cNvPr id="20" name="Text 16"/>
          <p:cNvSpPr txBox="1"/>
          <p:nvPr/>
        </p:nvSpPr>
        <p:spPr>
          <a:xfrm>
            <a:off x="9966960" y="3392424"/>
            <a:ext cx="1499616" cy="371856"/>
          </a:xfrm>
          <a:prstGeom prst="rect">
            <a:avLst/>
          </a:prstGeom>
          <a:noFill/>
          <a:ln/>
        </p:spPr>
        <p:txBody>
          <a:bodyPr wrap="square" lIns="0" tIns="0" rIns="0" bIns="0" rtlCol="0" anchor="b"/>
          <a:lstStyle/>
          <a:p>
            <a:pPr indent="0" marL="0">
              <a:buNone/>
            </a:pPr>
            <a:r>
              <a:rPr lang="en-US" sz="2400" b="1" dirty="0">
                <a:solidFill>
                  <a:srgbClr val="F3F6FA"/>
                </a:solidFill>
                <a:latin typeface="Arial" pitchFamily="34" charset="0"/>
                <a:ea typeface="Arial" pitchFamily="34" charset="-122"/>
                <a:cs typeface="Arial" pitchFamily="34" charset="-120"/>
              </a:rPr>
              <a:t>0.08</a:t>
            </a:r>
            <a:endParaRPr lang="en-US" sz="2400" dirty="0"/>
          </a:p>
        </p:txBody>
      </p:sp>
      <p:sp>
        <p:nvSpPr>
          <p:cNvPr id="21" name="Text 17"/>
          <p:cNvSpPr txBox="1"/>
          <p:nvPr/>
        </p:nvSpPr>
        <p:spPr>
          <a:xfrm>
            <a:off x="9966960" y="3800856"/>
            <a:ext cx="149961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false alert episodes per stint</a:t>
            </a:r>
            <a:endParaRPr lang="en-US" sz="1200" dirty="0"/>
          </a:p>
        </p:txBody>
      </p:sp>
      <p:sp>
        <p:nvSpPr>
          <p:cNvPr id="22" name="Shape 18"/>
          <p:cNvSpPr/>
          <p:nvPr/>
        </p:nvSpPr>
        <p:spPr>
          <a:xfrm>
            <a:off x="7863840" y="4800600"/>
            <a:ext cx="3776472" cy="1417320"/>
          </a:xfrm>
          <a:prstGeom prst="roundRect">
            <a:avLst>
              <a:gd name="adj" fmla="val 5161"/>
            </a:avLst>
          </a:prstGeom>
          <a:solidFill>
            <a:srgbClr val="11161E"/>
          </a:solidFill>
          <a:ln w="9525">
            <a:solidFill>
              <a:srgbClr val="272F3B"/>
            </a:solidFill>
            <a:prstDash val="solid"/>
          </a:ln>
        </p:spPr>
      </p:sp>
      <p:sp>
        <p:nvSpPr>
          <p:cNvPr id="23" name="Text 19"/>
          <p:cNvSpPr txBox="1"/>
          <p:nvPr/>
        </p:nvSpPr>
        <p:spPr>
          <a:xfrm>
            <a:off x="8046720" y="4937760"/>
            <a:ext cx="3383280" cy="219456"/>
          </a:xfrm>
          <a:prstGeom prst="rect">
            <a:avLst/>
          </a:prstGeom>
          <a:noFill/>
          <a:ln/>
        </p:spPr>
        <p:txBody>
          <a:bodyPr wrap="square" lIns="0" tIns="0" rIns="0" bIns="0" rtlCol="0" anchor="t"/>
          <a:lstStyle/>
          <a:p>
            <a:pPr indent="0" marL="0">
              <a:buNone/>
            </a:pPr>
            <a:r>
              <a:rPr lang="en-US" sz="1000" b="1" spc="150" kern="0" dirty="0">
                <a:solidFill>
                  <a:srgbClr val="F16464"/>
                </a:solidFill>
                <a:latin typeface="Arial" pitchFamily="34" charset="0"/>
                <a:ea typeface="Arial" pitchFamily="34" charset="-122"/>
                <a:cs typeface="Arial" pitchFamily="34" charset="-120"/>
              </a:rPr>
              <a:t>HONEST LIMIT</a:t>
            </a:r>
            <a:endParaRPr lang="en-US" sz="1000" dirty="0"/>
          </a:p>
        </p:txBody>
      </p:sp>
      <p:sp>
        <p:nvSpPr>
          <p:cNvPr id="24" name="Text 20"/>
          <p:cNvSpPr txBox="1"/>
          <p:nvPr/>
        </p:nvSpPr>
        <p:spPr>
          <a:xfrm>
            <a:off x="8046720" y="5193792"/>
            <a:ext cx="3429000" cy="9601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Cliff warnings are worse than a constant base rate (Brier 0.195 against 0.126). Scored on three replayed races.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GHOST STRATEGY</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2600" b="1" dirty="0">
                <a:solidFill>
                  <a:srgbClr val="F3F6FA"/>
                </a:solidFill>
                <a:latin typeface="Arial" pitchFamily="34" charset="0"/>
                <a:ea typeface="Arial" pitchFamily="34" charset="-122"/>
                <a:cs typeface="Arial" pitchFamily="34" charset="-120"/>
              </a:rPr>
              <a:t>Change the stop, see the difference, on the real circuit</a:t>
            </a:r>
            <a:endParaRPr lang="en-US" sz="26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Monza 2026, Norris: a new medium after lap 24, replayed against the recorded race</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17</a:t>
            </a:r>
            <a:endParaRPr lang="en-US" sz="900" dirty="0"/>
          </a:p>
        </p:txBody>
      </p:sp>
      <p:sp>
        <p:nvSpPr>
          <p:cNvPr id="8" name="Shape 5"/>
          <p:cNvSpPr/>
          <p:nvPr/>
        </p:nvSpPr>
        <p:spPr>
          <a:xfrm>
            <a:off x="530352" y="1764792"/>
            <a:ext cx="7077456" cy="1066547"/>
          </a:xfrm>
          <a:prstGeom prst="rect">
            <a:avLst/>
          </a:prstGeom>
          <a:solidFill>
            <a:srgbClr val="272F3B"/>
          </a:solidFill>
          <a:ln w="12700">
            <a:solidFill>
              <a:srgbClr val="272F3B"/>
            </a:solidFill>
            <a:prstDash val="solid"/>
          </a:ln>
        </p:spPr>
      </p:sp>
      <p:pic>
        <p:nvPicPr>
          <p:cNvPr id="9" name="Image 0" descr="/Users/samuelmorningstar/Trackshift/proto/deck_src/assets/shot_ghost_change.png">    </p:cNvPr>
          <p:cNvPicPr>
            <a:picLocks noChangeAspect="1"/>
          </p:cNvPicPr>
          <p:nvPr/>
        </p:nvPicPr>
        <p:blipFill>
          <a:blip r:embed="rId1"/>
          <a:stretch>
            <a:fillRect/>
          </a:stretch>
        </p:blipFill>
        <p:spPr>
          <a:xfrm>
            <a:off x="548640" y="1783080"/>
            <a:ext cx="7040880" cy="1029971"/>
          </a:xfrm>
          <a:prstGeom prst="rect">
            <a:avLst/>
          </a:prstGeom>
        </p:spPr>
      </p:pic>
      <p:sp>
        <p:nvSpPr>
          <p:cNvPr id="10" name="Shape 6"/>
          <p:cNvSpPr/>
          <p:nvPr/>
        </p:nvSpPr>
        <p:spPr>
          <a:xfrm>
            <a:off x="530352" y="2926080"/>
            <a:ext cx="7077456" cy="2928108"/>
          </a:xfrm>
          <a:prstGeom prst="rect">
            <a:avLst/>
          </a:prstGeom>
          <a:solidFill>
            <a:srgbClr val="272F3B"/>
          </a:solidFill>
          <a:ln w="12700">
            <a:solidFill>
              <a:srgbClr val="272F3B"/>
            </a:solidFill>
            <a:prstDash val="solid"/>
          </a:ln>
        </p:spPr>
      </p:sp>
      <p:pic>
        <p:nvPicPr>
          <p:cNvPr id="11" name="Image 1" descr="/Users/samuelmorningstar/Trackshift/proto/deck_src/assets/shot_ghost.png">    </p:cNvPr>
          <p:cNvPicPr>
            <a:picLocks noChangeAspect="1"/>
          </p:cNvPicPr>
          <p:nvPr/>
        </p:nvPicPr>
        <p:blipFill>
          <a:blip r:embed="rId2"/>
          <a:stretch>
            <a:fillRect/>
          </a:stretch>
        </p:blipFill>
        <p:spPr>
          <a:xfrm>
            <a:off x="548640" y="2944368"/>
            <a:ext cx="7040880" cy="2891532"/>
          </a:xfrm>
          <a:prstGeom prst="rect">
            <a:avLst/>
          </a:prstGeom>
        </p:spPr>
      </p:pic>
      <p:sp>
        <p:nvSpPr>
          <p:cNvPr id="12" name="Text 7"/>
          <p:cNvSpPr txBox="1"/>
          <p:nvPr/>
        </p:nvSpPr>
        <p:spPr>
          <a:xfrm>
            <a:off x="548640" y="5961888"/>
            <a:ext cx="7040880" cy="274320"/>
          </a:xfrm>
          <a:prstGeom prst="rect">
            <a:avLst/>
          </a:prstGeom>
          <a:noFill/>
          <a:ln/>
        </p:spPr>
        <p:txBody>
          <a:bodyPr wrap="square" lIns="0" tIns="0" rIns="0" bIns="0" rtlCol="0" anchor="t"/>
          <a:lstStyle/>
          <a:p>
            <a:pPr indent="0" marL="0">
              <a:buNone/>
            </a:pPr>
            <a:r>
              <a:rPr lang="en-US" sz="1100" dirty="0">
                <a:solidFill>
                  <a:srgbClr val="6B7585"/>
                </a:solidFill>
                <a:latin typeface="Arial" pitchFamily="34" charset="0"/>
                <a:ea typeface="Arial" pitchFamily="34" charset="-122"/>
                <a:cs typeface="Arial" pitchFamily="34" charset="-120"/>
              </a:rPr>
              <a:t>Actual = recorded car · Ghost = changed plan. Modelled tyre time, not rival positions.</a:t>
            </a:r>
            <a:endParaRPr lang="en-US" sz="1100" dirty="0"/>
          </a:p>
        </p:txBody>
      </p:sp>
      <p:sp>
        <p:nvSpPr>
          <p:cNvPr id="13" name="Shape 8"/>
          <p:cNvSpPr/>
          <p:nvPr/>
        </p:nvSpPr>
        <p:spPr>
          <a:xfrm>
            <a:off x="7863840" y="1783080"/>
            <a:ext cx="3776472" cy="1371600"/>
          </a:xfrm>
          <a:prstGeom prst="roundRect">
            <a:avLst>
              <a:gd name="adj" fmla="val 5333"/>
            </a:avLst>
          </a:prstGeom>
          <a:solidFill>
            <a:srgbClr val="11161E"/>
          </a:solidFill>
          <a:ln w="9525">
            <a:solidFill>
              <a:srgbClr val="272F3B"/>
            </a:solidFill>
            <a:prstDash val="solid"/>
          </a:ln>
        </p:spPr>
      </p:sp>
      <p:sp>
        <p:nvSpPr>
          <p:cNvPr id="14" name="Text 9"/>
          <p:cNvSpPr txBox="1"/>
          <p:nvPr/>
        </p:nvSpPr>
        <p:spPr>
          <a:xfrm>
            <a:off x="8028432" y="1911096"/>
            <a:ext cx="3447288" cy="464820"/>
          </a:xfrm>
          <a:prstGeom prst="rect">
            <a:avLst/>
          </a:prstGeom>
          <a:noFill/>
          <a:ln/>
        </p:spPr>
        <p:txBody>
          <a:bodyPr wrap="square" lIns="0" tIns="0" rIns="0" bIns="0" rtlCol="0" anchor="b"/>
          <a:lstStyle/>
          <a:p>
            <a:pPr indent="0" marL="0">
              <a:buNone/>
            </a:pPr>
            <a:r>
              <a:rPr lang="en-US" sz="3000" b="1" dirty="0">
                <a:solidFill>
                  <a:srgbClr val="39D0C3"/>
                </a:solidFill>
                <a:latin typeface="Arial" pitchFamily="34" charset="0"/>
                <a:ea typeface="Arial" pitchFamily="34" charset="-122"/>
                <a:cs typeface="Arial" pitchFamily="34" charset="-120"/>
              </a:rPr>
              <a:t>483</a:t>
            </a:r>
            <a:endParaRPr lang="en-US" sz="3000" dirty="0"/>
          </a:p>
        </p:txBody>
      </p:sp>
      <p:sp>
        <p:nvSpPr>
          <p:cNvPr id="15" name="Text 10"/>
          <p:cNvSpPr txBox="1"/>
          <p:nvPr/>
        </p:nvSpPr>
        <p:spPr>
          <a:xfrm>
            <a:off x="8028432" y="2412492"/>
            <a:ext cx="3447288"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prepared simulations across ten races, historical and pre-race curves</a:t>
            </a:r>
            <a:endParaRPr lang="en-US" sz="1200" dirty="0"/>
          </a:p>
        </p:txBody>
      </p:sp>
      <p:sp>
        <p:nvSpPr>
          <p:cNvPr id="16" name="Shape 11"/>
          <p:cNvSpPr/>
          <p:nvPr/>
        </p:nvSpPr>
        <p:spPr>
          <a:xfrm>
            <a:off x="7863840" y="3291840"/>
            <a:ext cx="3776472" cy="1371600"/>
          </a:xfrm>
          <a:prstGeom prst="roundRect">
            <a:avLst>
              <a:gd name="adj" fmla="val 5333"/>
            </a:avLst>
          </a:prstGeom>
          <a:solidFill>
            <a:srgbClr val="11161E"/>
          </a:solidFill>
          <a:ln w="9525">
            <a:solidFill>
              <a:srgbClr val="272F3B"/>
            </a:solidFill>
            <a:prstDash val="solid"/>
          </a:ln>
        </p:spPr>
      </p:sp>
      <p:sp>
        <p:nvSpPr>
          <p:cNvPr id="17" name="Text 12"/>
          <p:cNvSpPr txBox="1"/>
          <p:nvPr/>
        </p:nvSpPr>
        <p:spPr>
          <a:xfrm>
            <a:off x="8028432" y="3419856"/>
            <a:ext cx="3447288" cy="464820"/>
          </a:xfrm>
          <a:prstGeom prst="rect">
            <a:avLst/>
          </a:prstGeom>
          <a:noFill/>
          <a:ln/>
        </p:spPr>
        <p:txBody>
          <a:bodyPr wrap="square" lIns="0" tIns="0" rIns="0" bIns="0" rtlCol="0" anchor="b"/>
          <a:lstStyle/>
          <a:p>
            <a:pPr indent="0" marL="0">
              <a:buNone/>
            </a:pPr>
            <a:r>
              <a:rPr lang="en-US" sz="3000" b="1" dirty="0">
                <a:solidFill>
                  <a:srgbClr val="F3F6FA"/>
                </a:solidFill>
                <a:latin typeface="Arial" pitchFamily="34" charset="0"/>
                <a:ea typeface="Arial" pitchFamily="34" charset="-122"/>
                <a:cs typeface="Arial" pitchFamily="34" charset="-120"/>
              </a:rPr>
              <a:t>518 / 0</a:t>
            </a:r>
            <a:endParaRPr lang="en-US" sz="3000" dirty="0"/>
          </a:p>
        </p:txBody>
      </p:sp>
      <p:sp>
        <p:nvSpPr>
          <p:cNvPr id="18" name="Text 13"/>
          <p:cNvSpPr txBox="1"/>
          <p:nvPr/>
        </p:nvSpPr>
        <p:spPr>
          <a:xfrm>
            <a:off x="8028432" y="3921252"/>
            <a:ext cx="3447288"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identity checks passed / failed; a failing scenario is refused, never written</a:t>
            </a:r>
            <a:endParaRPr lang="en-US" sz="1200" dirty="0"/>
          </a:p>
        </p:txBody>
      </p:sp>
      <p:sp>
        <p:nvSpPr>
          <p:cNvPr id="19" name="Shape 14"/>
          <p:cNvSpPr/>
          <p:nvPr/>
        </p:nvSpPr>
        <p:spPr>
          <a:xfrm>
            <a:off x="7863840" y="4800600"/>
            <a:ext cx="3776472" cy="1417320"/>
          </a:xfrm>
          <a:prstGeom prst="roundRect">
            <a:avLst>
              <a:gd name="adj" fmla="val 5161"/>
            </a:avLst>
          </a:prstGeom>
          <a:solidFill>
            <a:srgbClr val="11161E"/>
          </a:solidFill>
          <a:ln w="9525">
            <a:solidFill>
              <a:srgbClr val="272F3B"/>
            </a:solidFill>
            <a:prstDash val="solid"/>
          </a:ln>
        </p:spPr>
      </p:sp>
      <p:sp>
        <p:nvSpPr>
          <p:cNvPr id="20" name="Text 15"/>
          <p:cNvSpPr txBox="1"/>
          <p:nvPr/>
        </p:nvSpPr>
        <p:spPr>
          <a:xfrm>
            <a:off x="8028432" y="4928616"/>
            <a:ext cx="3447288" cy="402844"/>
          </a:xfrm>
          <a:prstGeom prst="rect">
            <a:avLst/>
          </a:prstGeom>
          <a:noFill/>
          <a:ln/>
        </p:spPr>
        <p:txBody>
          <a:bodyPr wrap="square" lIns="0" tIns="0" rIns="0" bIns="0" rtlCol="0" anchor="b"/>
          <a:lstStyle/>
          <a:p>
            <a:pPr indent="0" marL="0">
              <a:buNone/>
            </a:pPr>
            <a:r>
              <a:rPr lang="en-US" sz="2600" b="1" dirty="0">
                <a:solidFill>
                  <a:srgbClr val="F3F6FA"/>
                </a:solidFill>
                <a:latin typeface="Arial" pitchFamily="34" charset="0"/>
                <a:ea typeface="Arial" pitchFamily="34" charset="-122"/>
                <a:cs typeface="Arial" pitchFamily="34" charset="-120"/>
              </a:rPr>
              <a:t>1.12 vs 1.44 s</a:t>
            </a:r>
            <a:endParaRPr lang="en-US" sz="2600" dirty="0"/>
          </a:p>
        </p:txBody>
      </p:sp>
      <p:sp>
        <p:nvSpPr>
          <p:cNvPr id="21" name="Text 16"/>
          <p:cNvSpPr txBox="1"/>
          <p:nvPr/>
        </p:nvSpPr>
        <p:spPr>
          <a:xfrm>
            <a:off x="8028432" y="5368036"/>
            <a:ext cx="3447288"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next lap after a hidden real stop, against naive; 984 stops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THE LEARNED MODEL</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2600" b="1" dirty="0">
                <a:solidFill>
                  <a:srgbClr val="F3F6FA"/>
                </a:solidFill>
                <a:latin typeface="Arial" pitchFamily="34" charset="0"/>
                <a:ea typeface="Arial" pitchFamily="34" charset="-122"/>
                <a:cs typeface="Arial" pitchFamily="34" charset="-120"/>
              </a:rPr>
              <a:t>Orb TyreFormer: a learned forecast, scored head to head</a:t>
            </a:r>
            <a:endParaRPr lang="en-US" sz="26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Transformer over the lap sequence plus gradient-boosted experts, against the Orb v1 live estimator on identical origins</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18</a:t>
            </a:r>
            <a:endParaRPr lang="en-US" sz="900" dirty="0"/>
          </a:p>
        </p:txBody>
      </p:sp>
      <p:pic>
        <p:nvPicPr>
          <p:cNvPr id="8" name="Image 0" descr="/Users/samuelmorningstar/Trackshift/proto/out/tyreformer/fig_tyreformer_horizon.png">    </p:cNvPr>
          <p:cNvPicPr>
            <a:picLocks noChangeAspect="1"/>
          </p:cNvPicPr>
          <p:nvPr/>
        </p:nvPicPr>
        <p:blipFill>
          <a:blip r:embed="rId1"/>
          <a:stretch>
            <a:fillRect/>
          </a:stretch>
        </p:blipFill>
        <p:spPr>
          <a:xfrm>
            <a:off x="548640" y="1783080"/>
            <a:ext cx="6400800" cy="3680736"/>
          </a:xfrm>
          <a:prstGeom prst="rect">
            <a:avLst/>
          </a:prstGeom>
        </p:spPr>
      </p:pic>
      <p:sp>
        <p:nvSpPr>
          <p:cNvPr id="9" name="Text 5"/>
          <p:cNvSpPr txBox="1"/>
          <p:nvPr/>
        </p:nvSpPr>
        <p:spPr>
          <a:xfrm>
            <a:off x="548640" y="5532120"/>
            <a:ext cx="6400800" cy="45720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47,186 forecast origins from 2023 to 2025 for training and selection, 11,383 from 2026 for testing. Frozen before any sealed weekend was opened.</a:t>
            </a:r>
            <a:endParaRPr lang="en-US" sz="1200" dirty="0"/>
          </a:p>
        </p:txBody>
      </p:sp>
      <p:sp>
        <p:nvSpPr>
          <p:cNvPr id="10" name="Shape 6"/>
          <p:cNvSpPr/>
          <p:nvPr/>
        </p:nvSpPr>
        <p:spPr>
          <a:xfrm>
            <a:off x="7223760" y="1783080"/>
            <a:ext cx="4416552" cy="1188720"/>
          </a:xfrm>
          <a:prstGeom prst="roundRect">
            <a:avLst>
              <a:gd name="adj" fmla="val 6154"/>
            </a:avLst>
          </a:prstGeom>
          <a:solidFill>
            <a:srgbClr val="11161E"/>
          </a:solidFill>
          <a:ln w="9525">
            <a:solidFill>
              <a:srgbClr val="272F3B"/>
            </a:solidFill>
            <a:prstDash val="solid"/>
          </a:ln>
        </p:spPr>
      </p:sp>
      <p:sp>
        <p:nvSpPr>
          <p:cNvPr id="11" name="Text 7"/>
          <p:cNvSpPr txBox="1"/>
          <p:nvPr/>
        </p:nvSpPr>
        <p:spPr>
          <a:xfrm>
            <a:off x="7406640" y="1892808"/>
            <a:ext cx="4050792" cy="502920"/>
          </a:xfrm>
          <a:prstGeom prst="rect">
            <a:avLst/>
          </a:prstGeom>
          <a:noFill/>
          <a:ln/>
        </p:spPr>
        <p:txBody>
          <a:bodyPr wrap="square" lIns="0" tIns="0" rIns="0" bIns="0" rtlCol="0" anchor="t"/>
          <a:lstStyle/>
          <a:p>
            <a:pPr indent="0" marL="0">
              <a:buNone/>
            </a:pPr>
            <a:r>
              <a:rPr lang="en-US" sz="2600" b="1" dirty="0">
                <a:solidFill>
                  <a:srgbClr val="6B7585"/>
                </a:solidFill>
                <a:latin typeface="Arial" pitchFamily="34" charset="0"/>
                <a:ea typeface="Arial" pitchFamily="34" charset="-122"/>
                <a:cs typeface="Arial" pitchFamily="34" charset="-120"/>
              </a:rPr>
              <a:t>0.421</a:t>
            </a:r>
            <a:pPr indent="0" marL="0">
              <a:buNone/>
            </a:pPr>
            <a:r>
              <a:rPr lang="en-US" sz="2600" b="1" dirty="0">
                <a:solidFill>
                  <a:srgbClr val="6B7585"/>
                </a:solidFill>
                <a:latin typeface="Arial" pitchFamily="34" charset="0"/>
                <a:ea typeface="Arial" pitchFamily="34" charset="-122"/>
                <a:cs typeface="Arial" pitchFamily="34" charset="-120"/>
              </a:rPr>
              <a:t>  →  </a:t>
            </a:r>
            <a:pPr indent="0" marL="0">
              <a:buNone/>
            </a:pPr>
            <a:r>
              <a:rPr lang="en-US" sz="2600" b="1" dirty="0">
                <a:solidFill>
                  <a:srgbClr val="8FE9DC"/>
                </a:solidFill>
                <a:latin typeface="Arial" pitchFamily="34" charset="0"/>
                <a:ea typeface="Arial" pitchFamily="34" charset="-122"/>
                <a:cs typeface="Arial" pitchFamily="34" charset="-120"/>
              </a:rPr>
              <a:t>0.351 s</a:t>
            </a:r>
            <a:endParaRPr lang="en-US" sz="2600" dirty="0"/>
          </a:p>
        </p:txBody>
      </p:sp>
      <p:sp>
        <p:nvSpPr>
          <p:cNvPr id="12" name="Text 8"/>
          <p:cNvSpPr txBox="1"/>
          <p:nvPr/>
        </p:nvSpPr>
        <p:spPr>
          <a:xfrm>
            <a:off x="7406640" y="2423160"/>
            <a:ext cx="4050792" cy="45720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next-lap error, every 2026 race, deployment protocol, identical origins; better on 12 of 12 races</a:t>
            </a:r>
            <a:endParaRPr lang="en-US" sz="1200" dirty="0"/>
          </a:p>
        </p:txBody>
      </p:sp>
      <p:sp>
        <p:nvSpPr>
          <p:cNvPr id="13" name="Shape 9"/>
          <p:cNvSpPr/>
          <p:nvPr/>
        </p:nvSpPr>
        <p:spPr>
          <a:xfrm>
            <a:off x="7223760" y="3090672"/>
            <a:ext cx="4416552" cy="1188720"/>
          </a:xfrm>
          <a:prstGeom prst="roundRect">
            <a:avLst>
              <a:gd name="adj" fmla="val 6154"/>
            </a:avLst>
          </a:prstGeom>
          <a:solidFill>
            <a:srgbClr val="11161E"/>
          </a:solidFill>
          <a:ln w="9525">
            <a:solidFill>
              <a:srgbClr val="272F3B"/>
            </a:solidFill>
            <a:prstDash val="solid"/>
          </a:ln>
        </p:spPr>
      </p:sp>
      <p:sp>
        <p:nvSpPr>
          <p:cNvPr id="14" name="Text 10"/>
          <p:cNvSpPr txBox="1"/>
          <p:nvPr/>
        </p:nvSpPr>
        <p:spPr>
          <a:xfrm>
            <a:off x="7406640" y="3200400"/>
            <a:ext cx="4050792" cy="502920"/>
          </a:xfrm>
          <a:prstGeom prst="rect">
            <a:avLst/>
          </a:prstGeom>
          <a:noFill/>
          <a:ln/>
        </p:spPr>
        <p:txBody>
          <a:bodyPr wrap="square" lIns="0" tIns="0" rIns="0" bIns="0" rtlCol="0" anchor="t"/>
          <a:lstStyle/>
          <a:p>
            <a:pPr indent="0" marL="0">
              <a:buNone/>
            </a:pPr>
            <a:r>
              <a:rPr lang="en-US" sz="2600" b="1" dirty="0">
                <a:solidFill>
                  <a:srgbClr val="6B7585"/>
                </a:solidFill>
                <a:latin typeface="Arial" pitchFamily="34" charset="0"/>
                <a:ea typeface="Arial" pitchFamily="34" charset="-122"/>
                <a:cs typeface="Arial" pitchFamily="34" charset="-120"/>
              </a:rPr>
              <a:t>0.289</a:t>
            </a:r>
            <a:pPr indent="0" marL="0">
              <a:buNone/>
            </a:pPr>
            <a:r>
              <a:rPr lang="en-US" sz="2600" b="1" dirty="0">
                <a:solidFill>
                  <a:srgbClr val="6B7585"/>
                </a:solidFill>
                <a:latin typeface="Arial" pitchFamily="34" charset="0"/>
                <a:ea typeface="Arial" pitchFamily="34" charset="-122"/>
                <a:cs typeface="Arial" pitchFamily="34" charset="-120"/>
              </a:rPr>
              <a:t>  →  </a:t>
            </a:r>
            <a:pPr indent="0" marL="0">
              <a:buNone/>
            </a:pPr>
            <a:r>
              <a:rPr lang="en-US" sz="2600" b="1" dirty="0">
                <a:solidFill>
                  <a:srgbClr val="8FE9DC"/>
                </a:solidFill>
                <a:latin typeface="Arial" pitchFamily="34" charset="0"/>
                <a:ea typeface="Arial" pitchFamily="34" charset="-122"/>
                <a:cs typeface="Arial" pitchFamily="34" charset="-120"/>
              </a:rPr>
              <a:t>0.243 s</a:t>
            </a:r>
            <a:endParaRPr lang="en-US" sz="2600" dirty="0"/>
          </a:p>
        </p:txBody>
      </p:sp>
      <p:sp>
        <p:nvSpPr>
          <p:cNvPr id="15" name="Text 11"/>
          <p:cNvSpPr txBox="1"/>
          <p:nvPr/>
        </p:nvSpPr>
        <p:spPr>
          <a:xfrm>
            <a:off x="7406640" y="3730752"/>
            <a:ext cx="4050792" cy="45720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next-lap error, sealed holdout, aggregate only; better on 5 of 5 weekends</a:t>
            </a:r>
            <a:endParaRPr lang="en-US" sz="1200" dirty="0"/>
          </a:p>
        </p:txBody>
      </p:sp>
      <p:sp>
        <p:nvSpPr>
          <p:cNvPr id="16" name="Shape 12"/>
          <p:cNvSpPr/>
          <p:nvPr/>
        </p:nvSpPr>
        <p:spPr>
          <a:xfrm>
            <a:off x="7223760" y="4398264"/>
            <a:ext cx="4416552" cy="1005840"/>
          </a:xfrm>
          <a:prstGeom prst="roundRect">
            <a:avLst>
              <a:gd name="adj" fmla="val 7273"/>
            </a:avLst>
          </a:prstGeom>
          <a:solidFill>
            <a:srgbClr val="11161E"/>
          </a:solidFill>
          <a:ln w="9525">
            <a:solidFill>
              <a:srgbClr val="272F3B"/>
            </a:solidFill>
            <a:prstDash val="solid"/>
          </a:ln>
        </p:spPr>
      </p:sp>
      <p:sp>
        <p:nvSpPr>
          <p:cNvPr id="17" name="Text 13"/>
          <p:cNvSpPr txBox="1"/>
          <p:nvPr/>
        </p:nvSpPr>
        <p:spPr>
          <a:xfrm>
            <a:off x="7406640" y="4507992"/>
            <a:ext cx="4050792" cy="502920"/>
          </a:xfrm>
          <a:prstGeom prst="rect">
            <a:avLst/>
          </a:prstGeom>
          <a:noFill/>
          <a:ln/>
        </p:spPr>
        <p:txBody>
          <a:bodyPr wrap="square" lIns="0" tIns="0" rIns="0" bIns="0" rtlCol="0" anchor="t"/>
          <a:lstStyle/>
          <a:p>
            <a:pPr indent="0" marL="0">
              <a:buNone/>
            </a:pPr>
            <a:r>
              <a:rPr lang="en-US" sz="2600" b="1" dirty="0">
                <a:solidFill>
                  <a:srgbClr val="6B7585"/>
                </a:solidFill>
                <a:latin typeface="Arial" pitchFamily="34" charset="0"/>
                <a:ea typeface="Arial" pitchFamily="34" charset="-122"/>
                <a:cs typeface="Arial" pitchFamily="34" charset="-120"/>
              </a:rPr>
              <a:t>0.593</a:t>
            </a:r>
            <a:pPr indent="0" marL="0">
              <a:buNone/>
            </a:pPr>
            <a:r>
              <a:rPr lang="en-US" sz="2600" b="1" dirty="0">
                <a:solidFill>
                  <a:srgbClr val="6B7585"/>
                </a:solidFill>
                <a:latin typeface="Arial" pitchFamily="34" charset="0"/>
                <a:ea typeface="Arial" pitchFamily="34" charset="-122"/>
                <a:cs typeface="Arial" pitchFamily="34" charset="-120"/>
              </a:rPr>
              <a:t>  →  </a:t>
            </a:r>
            <a:pPr indent="0" marL="0">
              <a:buNone/>
            </a:pPr>
            <a:r>
              <a:rPr lang="en-US" sz="2600" b="1" dirty="0">
                <a:solidFill>
                  <a:srgbClr val="8FE9DC"/>
                </a:solidFill>
                <a:latin typeface="Arial" pitchFamily="34" charset="0"/>
                <a:ea typeface="Arial" pitchFamily="34" charset="-122"/>
                <a:cs typeface="Arial" pitchFamily="34" charset="-120"/>
              </a:rPr>
              <a:t>0.453 s</a:t>
            </a:r>
            <a:endParaRPr lang="en-US" sz="2600" dirty="0"/>
          </a:p>
        </p:txBody>
      </p:sp>
      <p:sp>
        <p:nvSpPr>
          <p:cNvPr id="18" name="Text 14"/>
          <p:cNvSpPr txBox="1"/>
          <p:nvPr/>
        </p:nvSpPr>
        <p:spPr>
          <a:xfrm>
            <a:off x="7406640" y="5038344"/>
            <a:ext cx="4050792" cy="2743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five laps ahead, every 2026 race</a:t>
            </a:r>
            <a:endParaRPr lang="en-US" sz="1200" dirty="0"/>
          </a:p>
        </p:txBody>
      </p:sp>
      <p:sp>
        <p:nvSpPr>
          <p:cNvPr id="19" name="Shape 15"/>
          <p:cNvSpPr/>
          <p:nvPr/>
        </p:nvSpPr>
        <p:spPr>
          <a:xfrm>
            <a:off x="7223760" y="5522976"/>
            <a:ext cx="4416552" cy="713232"/>
          </a:xfrm>
          <a:prstGeom prst="roundRect">
            <a:avLst>
              <a:gd name="adj" fmla="val 10256"/>
            </a:avLst>
          </a:prstGeom>
          <a:solidFill>
            <a:srgbClr val="11161E"/>
          </a:solidFill>
          <a:ln w="9525">
            <a:solidFill>
              <a:srgbClr val="272F3B"/>
            </a:solidFill>
            <a:prstDash val="solid"/>
          </a:ln>
        </p:spPr>
      </p:sp>
      <p:sp>
        <p:nvSpPr>
          <p:cNvPr id="20" name="Text 16"/>
          <p:cNvSpPr txBox="1"/>
          <p:nvPr/>
        </p:nvSpPr>
        <p:spPr>
          <a:xfrm>
            <a:off x="7406640" y="5577840"/>
            <a:ext cx="4069080" cy="603504"/>
          </a:xfrm>
          <a:prstGeom prst="rect">
            <a:avLst/>
          </a:prstGeom>
          <a:noFill/>
          <a:ln/>
        </p:spPr>
        <p:txBody>
          <a:bodyPr wrap="square" lIns="0" tIns="0" rIns="0" bIns="0" rtlCol="0" anchor="t"/>
          <a:lstStyle/>
          <a:p>
            <a:pPr indent="0" marL="0">
              <a:buNone/>
            </a:pPr>
            <a:r>
              <a:rPr lang="en-US" sz="1100" dirty="0">
                <a:solidFill>
                  <a:srgbClr val="98A3B3"/>
                </a:solidFill>
                <a:latin typeface="Arial" pitchFamily="34" charset="0"/>
                <a:ea typeface="Arial" pitchFamily="34" charset="-122"/>
                <a:cs typeface="Arial" pitchFamily="34" charset="-120"/>
              </a:rPr>
              <a:t>Limit: cliff risk is calibrated but barely beats the base rate (Brier 0.114 vs 0.120). Not yet in the dashboard.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VALIDATION DISCIPLINE</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How we kept ourselves honest</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Splits fixed before tuning, freezes before reveals, and automated gates at every checkpoint</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19</a:t>
            </a:r>
            <a:endParaRPr lang="en-US" sz="900" dirty="0"/>
          </a:p>
        </p:txBody>
      </p:sp>
      <p:sp>
        <p:nvSpPr>
          <p:cNvPr id="8" name="Shape 5"/>
          <p:cNvSpPr/>
          <p:nvPr/>
        </p:nvSpPr>
        <p:spPr>
          <a:xfrm>
            <a:off x="548640" y="1783080"/>
            <a:ext cx="5394960" cy="987552"/>
          </a:xfrm>
          <a:prstGeom prst="roundRect">
            <a:avLst>
              <a:gd name="adj" fmla="val 7407"/>
            </a:avLst>
          </a:prstGeom>
          <a:solidFill>
            <a:srgbClr val="11161E"/>
          </a:solidFill>
          <a:ln w="9525">
            <a:solidFill>
              <a:srgbClr val="272F3B"/>
            </a:solidFill>
            <a:prstDash val="solid"/>
          </a:ln>
        </p:spPr>
      </p:sp>
      <p:sp>
        <p:nvSpPr>
          <p:cNvPr id="9" name="Text 6"/>
          <p:cNvSpPr txBox="1"/>
          <p:nvPr/>
        </p:nvSpPr>
        <p:spPr>
          <a:xfrm>
            <a:off x="749808" y="1892808"/>
            <a:ext cx="5029200" cy="292608"/>
          </a:xfrm>
          <a:prstGeom prst="rect">
            <a:avLst/>
          </a:prstGeom>
          <a:noFill/>
          <a:ln/>
        </p:spPr>
        <p:txBody>
          <a:bodyPr wrap="square" lIns="0" tIns="0" rIns="0" bIns="0" rtlCol="0" anchor="t"/>
          <a:lstStyle/>
          <a:p>
            <a:pPr indent="0" marL="0">
              <a:buNone/>
            </a:pPr>
            <a:r>
              <a:rPr lang="en-US" sz="1500" b="1" dirty="0">
                <a:solidFill>
                  <a:srgbClr val="98A3B3"/>
                </a:solidFill>
                <a:latin typeface="Arial" pitchFamily="34" charset="0"/>
                <a:ea typeface="Arial" pitchFamily="34" charset="-122"/>
                <a:cs typeface="Arial" pitchFamily="34" charset="-120"/>
              </a:rPr>
              <a:t>Development pool</a:t>
            </a:r>
            <a:endParaRPr lang="en-US" sz="1500" dirty="0"/>
          </a:p>
        </p:txBody>
      </p:sp>
      <p:sp>
        <p:nvSpPr>
          <p:cNvPr id="10" name="Text 7"/>
          <p:cNvSpPr txBox="1"/>
          <p:nvPr/>
        </p:nvSpPr>
        <p:spPr>
          <a:xfrm>
            <a:off x="749808" y="2203704"/>
            <a:ext cx="5029200" cy="5029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64 weekends of 2023 to 2026, each forecast with itself left out</a:t>
            </a:r>
            <a:endParaRPr lang="en-US" sz="1200" dirty="0"/>
          </a:p>
        </p:txBody>
      </p:sp>
      <p:sp>
        <p:nvSpPr>
          <p:cNvPr id="11" name="Shape 8"/>
          <p:cNvSpPr/>
          <p:nvPr/>
        </p:nvSpPr>
        <p:spPr>
          <a:xfrm>
            <a:off x="548640" y="2898648"/>
            <a:ext cx="5394960" cy="987552"/>
          </a:xfrm>
          <a:prstGeom prst="roundRect">
            <a:avLst>
              <a:gd name="adj" fmla="val 7407"/>
            </a:avLst>
          </a:prstGeom>
          <a:solidFill>
            <a:srgbClr val="11161E"/>
          </a:solidFill>
          <a:ln w="9525">
            <a:solidFill>
              <a:srgbClr val="272F3B"/>
            </a:solidFill>
            <a:prstDash val="solid"/>
          </a:ln>
        </p:spPr>
      </p:sp>
      <p:sp>
        <p:nvSpPr>
          <p:cNvPr id="12" name="Text 9"/>
          <p:cNvSpPr txBox="1"/>
          <p:nvPr/>
        </p:nvSpPr>
        <p:spPr>
          <a:xfrm>
            <a:off x="749808" y="3008376"/>
            <a:ext cx="5029200" cy="292608"/>
          </a:xfrm>
          <a:prstGeom prst="rect">
            <a:avLst/>
          </a:prstGeom>
          <a:noFill/>
          <a:ln/>
        </p:spPr>
        <p:txBody>
          <a:bodyPr wrap="square" lIns="0" tIns="0" rIns="0" bIns="0" rtlCol="0" anchor="t"/>
          <a:lstStyle/>
          <a:p>
            <a:pPr indent="0" marL="0">
              <a:buNone/>
            </a:pPr>
            <a:r>
              <a:rPr lang="en-US" sz="1500" b="1" dirty="0">
                <a:solidFill>
                  <a:srgbClr val="98A3B3"/>
                </a:solidFill>
                <a:latin typeface="Arial" pitchFamily="34" charset="0"/>
                <a:ea typeface="Arial" pitchFamily="34" charset="-122"/>
                <a:cs typeface="Arial" pitchFamily="34" charset="-120"/>
              </a:rPr>
              <a:t>Rolling origin</a:t>
            </a:r>
            <a:endParaRPr lang="en-US" sz="1500" dirty="0"/>
          </a:p>
        </p:txBody>
      </p:sp>
      <p:sp>
        <p:nvSpPr>
          <p:cNvPr id="13" name="Text 10"/>
          <p:cNvSpPr txBox="1"/>
          <p:nvPr/>
        </p:nvSpPr>
        <p:spPr>
          <a:xfrm>
            <a:off x="749808" y="3319272"/>
            <a:ext cx="5029200" cy="5029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each 2026 race forecast only from the races before it</a:t>
            </a:r>
            <a:endParaRPr lang="en-US" sz="1200" dirty="0"/>
          </a:p>
        </p:txBody>
      </p:sp>
      <p:sp>
        <p:nvSpPr>
          <p:cNvPr id="14" name="Shape 11"/>
          <p:cNvSpPr/>
          <p:nvPr/>
        </p:nvSpPr>
        <p:spPr>
          <a:xfrm>
            <a:off x="548640" y="4014216"/>
            <a:ext cx="5394960" cy="987552"/>
          </a:xfrm>
          <a:prstGeom prst="roundRect">
            <a:avLst>
              <a:gd name="adj" fmla="val 7407"/>
            </a:avLst>
          </a:prstGeom>
          <a:solidFill>
            <a:srgbClr val="11161E"/>
          </a:solidFill>
          <a:ln w="9525">
            <a:solidFill>
              <a:srgbClr val="272F3B"/>
            </a:solidFill>
            <a:prstDash val="solid"/>
          </a:ln>
        </p:spPr>
      </p:sp>
      <p:sp>
        <p:nvSpPr>
          <p:cNvPr id="15" name="Text 12"/>
          <p:cNvSpPr txBox="1"/>
          <p:nvPr/>
        </p:nvSpPr>
        <p:spPr>
          <a:xfrm>
            <a:off x="749808" y="4123944"/>
            <a:ext cx="5029200" cy="292608"/>
          </a:xfrm>
          <a:prstGeom prst="rect">
            <a:avLst/>
          </a:prstGeom>
          <a:noFill/>
          <a:ln/>
        </p:spPr>
        <p:txBody>
          <a:bodyPr wrap="square" lIns="0" tIns="0" rIns="0" bIns="0" rtlCol="0" anchor="t"/>
          <a:lstStyle/>
          <a:p>
            <a:pPr indent="0" marL="0">
              <a:buNone/>
            </a:pPr>
            <a:r>
              <a:rPr lang="en-US" sz="1500" b="1" dirty="0">
                <a:solidFill>
                  <a:srgbClr val="F0B84B"/>
                </a:solidFill>
                <a:latin typeface="Arial" pitchFamily="34" charset="0"/>
                <a:ea typeface="Arial" pitchFamily="34" charset="-122"/>
                <a:cs typeface="Arial" pitchFamily="34" charset="-120"/>
              </a:rPr>
              <a:t>Sealed holdout</a:t>
            </a:r>
            <a:endParaRPr lang="en-US" sz="1500" dirty="0"/>
          </a:p>
        </p:txBody>
      </p:sp>
      <p:sp>
        <p:nvSpPr>
          <p:cNvPr id="16" name="Text 13"/>
          <p:cNvSpPr txBox="1"/>
          <p:nvPr/>
        </p:nvSpPr>
        <p:spPr>
          <a:xfrm>
            <a:off x="749808" y="4434840"/>
            <a:ext cx="5029200" cy="5029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6 whole weekends picked by a fixed rule before any tuning; opened once, aggregate only</a:t>
            </a:r>
            <a:endParaRPr lang="en-US" sz="1200" dirty="0"/>
          </a:p>
        </p:txBody>
      </p:sp>
      <p:sp>
        <p:nvSpPr>
          <p:cNvPr id="17" name="Shape 14"/>
          <p:cNvSpPr/>
          <p:nvPr/>
        </p:nvSpPr>
        <p:spPr>
          <a:xfrm>
            <a:off x="548640" y="5129784"/>
            <a:ext cx="5394960" cy="987552"/>
          </a:xfrm>
          <a:prstGeom prst="roundRect">
            <a:avLst>
              <a:gd name="adj" fmla="val 7407"/>
            </a:avLst>
          </a:prstGeom>
          <a:solidFill>
            <a:srgbClr val="11161E"/>
          </a:solidFill>
          <a:ln w="9525">
            <a:solidFill>
              <a:srgbClr val="272F3B"/>
            </a:solidFill>
            <a:prstDash val="solid"/>
          </a:ln>
        </p:spPr>
      </p:sp>
      <p:sp>
        <p:nvSpPr>
          <p:cNvPr id="18" name="Text 15"/>
          <p:cNvSpPr txBox="1"/>
          <p:nvPr/>
        </p:nvSpPr>
        <p:spPr>
          <a:xfrm>
            <a:off x="749808" y="5239512"/>
            <a:ext cx="5029200" cy="292608"/>
          </a:xfrm>
          <a:prstGeom prst="rect">
            <a:avLst/>
          </a:prstGeom>
          <a:noFill/>
          <a:ln/>
        </p:spPr>
        <p:txBody>
          <a:bodyPr wrap="square" lIns="0" tIns="0" rIns="0" bIns="0" rtlCol="0" anchor="t"/>
          <a:lstStyle/>
          <a:p>
            <a:pPr indent="0" marL="0">
              <a:buNone/>
            </a:pPr>
            <a:r>
              <a:rPr lang="en-US" sz="1500" b="1" dirty="0">
                <a:solidFill>
                  <a:srgbClr val="39D0C3"/>
                </a:solidFill>
                <a:latin typeface="Arial" pitchFamily="34" charset="0"/>
                <a:ea typeface="Arial" pitchFamily="34" charset="-122"/>
                <a:cs typeface="Arial" pitchFamily="34" charset="-120"/>
              </a:rPr>
              <a:t>Prospective</a:t>
            </a:r>
            <a:endParaRPr lang="en-US" sz="1500" dirty="0"/>
          </a:p>
        </p:txBody>
      </p:sp>
      <p:sp>
        <p:nvSpPr>
          <p:cNvPr id="19" name="Text 16"/>
          <p:cNvSpPr txBox="1"/>
          <p:nvPr/>
        </p:nvSpPr>
        <p:spPr>
          <a:xfrm>
            <a:off x="749808" y="5550408"/>
            <a:ext cx="5029200" cy="5029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Madrid, hashed before the race and scored after it</a:t>
            </a:r>
            <a:endParaRPr lang="en-US" sz="1200" dirty="0"/>
          </a:p>
        </p:txBody>
      </p:sp>
      <p:sp>
        <p:nvSpPr>
          <p:cNvPr id="20" name="Text 17"/>
          <p:cNvSpPr txBox="1"/>
          <p:nvPr/>
        </p:nvSpPr>
        <p:spPr>
          <a:xfrm>
            <a:off x="6217920" y="1783080"/>
            <a:ext cx="5394960" cy="219456"/>
          </a:xfrm>
          <a:prstGeom prst="rect">
            <a:avLst/>
          </a:prstGeom>
          <a:noFill/>
          <a:ln/>
        </p:spPr>
        <p:txBody>
          <a:bodyPr wrap="square" lIns="0" tIns="0" rIns="0" bIns="0" rtlCol="0" anchor="t"/>
          <a:lstStyle/>
          <a:p>
            <a:pPr indent="0" marL="0">
              <a:buNone/>
            </a:pPr>
            <a:r>
              <a:rPr lang="en-US" sz="1000" b="1" spc="150" kern="0" dirty="0">
                <a:solidFill>
                  <a:srgbClr val="98A3B3"/>
                </a:solidFill>
                <a:latin typeface="Arial" pitchFamily="34" charset="0"/>
                <a:ea typeface="Arial" pitchFamily="34" charset="-122"/>
                <a:cs typeface="Arial" pitchFamily="34" charset="-120"/>
              </a:rPr>
              <a:t>CHECKPOINTS, 12 TO 13 SEPTEMBER</a:t>
            </a:r>
            <a:endParaRPr lang="en-US" sz="1000" dirty="0"/>
          </a:p>
        </p:txBody>
      </p:sp>
      <p:sp>
        <p:nvSpPr>
          <p:cNvPr id="21" name="Shape 18"/>
          <p:cNvSpPr/>
          <p:nvPr/>
        </p:nvSpPr>
        <p:spPr>
          <a:xfrm>
            <a:off x="6327648" y="2103120"/>
            <a:ext cx="457200" cy="457200"/>
          </a:xfrm>
          <a:prstGeom prst="ellipse">
            <a:avLst/>
          </a:prstGeom>
          <a:solidFill>
            <a:srgbClr val="39D0C3"/>
          </a:solidFill>
          <a:ln w="12700">
            <a:solidFill>
              <a:srgbClr val="090C11"/>
            </a:solidFill>
            <a:prstDash val="solid"/>
          </a:ln>
        </p:spPr>
      </p:sp>
      <p:sp>
        <p:nvSpPr>
          <p:cNvPr id="22" name="Text 19"/>
          <p:cNvSpPr txBox="1"/>
          <p:nvPr/>
        </p:nvSpPr>
        <p:spPr>
          <a:xfrm>
            <a:off x="6327648" y="2103120"/>
            <a:ext cx="457200" cy="457200"/>
          </a:xfrm>
          <a:prstGeom prst="rect">
            <a:avLst/>
          </a:prstGeom>
          <a:noFill/>
          <a:ln/>
        </p:spPr>
        <p:txBody>
          <a:bodyPr wrap="square" lIns="0" tIns="0" rIns="0" bIns="0" rtlCol="0" anchor="ctr"/>
          <a:lstStyle/>
          <a:p>
            <a:pPr algn="ctr" indent="0" marL="0">
              <a:buNone/>
            </a:pPr>
            <a:r>
              <a:rPr lang="en-US" sz="1100" b="1" dirty="0">
                <a:solidFill>
                  <a:srgbClr val="090C11"/>
                </a:solidFill>
                <a:latin typeface="Arial" pitchFamily="34" charset="0"/>
                <a:ea typeface="Arial" pitchFamily="34" charset="-122"/>
                <a:cs typeface="Arial" pitchFamily="34" charset="-120"/>
              </a:rPr>
              <a:t>C0</a:t>
            </a:r>
            <a:endParaRPr lang="en-US" sz="1100" dirty="0"/>
          </a:p>
        </p:txBody>
      </p:sp>
      <p:sp>
        <p:nvSpPr>
          <p:cNvPr id="23" name="Text 20"/>
          <p:cNvSpPr txBox="1"/>
          <p:nvPr/>
        </p:nvSpPr>
        <p:spPr>
          <a:xfrm>
            <a:off x="6217920" y="2615184"/>
            <a:ext cx="676656" cy="237744"/>
          </a:xfrm>
          <a:prstGeom prst="rect">
            <a:avLst/>
          </a:prstGeom>
          <a:noFill/>
          <a:ln/>
        </p:spPr>
        <p:txBody>
          <a:bodyPr wrap="square" lIns="0" tIns="0" rIns="0" bIns="0" rtlCol="0" anchor="t"/>
          <a:lstStyle/>
          <a:p>
            <a:pPr algn="ctr" indent="0" marL="0">
              <a:buNone/>
            </a:pPr>
            <a:r>
              <a:rPr lang="en-US" sz="1000" b="1" dirty="0">
                <a:solidFill>
                  <a:srgbClr val="98A3B3"/>
                </a:solidFill>
                <a:latin typeface="Arial" pitchFamily="34" charset="0"/>
                <a:ea typeface="Arial" pitchFamily="34" charset="-122"/>
                <a:cs typeface="Arial" pitchFamily="34" charset="-120"/>
              </a:rPr>
              <a:t>GO</a:t>
            </a:r>
            <a:endParaRPr lang="en-US" sz="1000" dirty="0"/>
          </a:p>
        </p:txBody>
      </p:sp>
      <p:sp>
        <p:nvSpPr>
          <p:cNvPr id="24" name="Shape 21"/>
          <p:cNvSpPr/>
          <p:nvPr/>
        </p:nvSpPr>
        <p:spPr>
          <a:xfrm>
            <a:off x="7104888" y="2103120"/>
            <a:ext cx="457200" cy="457200"/>
          </a:xfrm>
          <a:prstGeom prst="ellipse">
            <a:avLst/>
          </a:prstGeom>
          <a:solidFill>
            <a:srgbClr val="39D0C3"/>
          </a:solidFill>
          <a:ln w="12700">
            <a:solidFill>
              <a:srgbClr val="090C11"/>
            </a:solidFill>
            <a:prstDash val="solid"/>
          </a:ln>
        </p:spPr>
      </p:sp>
      <p:sp>
        <p:nvSpPr>
          <p:cNvPr id="25" name="Text 22"/>
          <p:cNvSpPr txBox="1"/>
          <p:nvPr/>
        </p:nvSpPr>
        <p:spPr>
          <a:xfrm>
            <a:off x="7104888" y="2103120"/>
            <a:ext cx="457200" cy="457200"/>
          </a:xfrm>
          <a:prstGeom prst="rect">
            <a:avLst/>
          </a:prstGeom>
          <a:noFill/>
          <a:ln/>
        </p:spPr>
        <p:txBody>
          <a:bodyPr wrap="square" lIns="0" tIns="0" rIns="0" bIns="0" rtlCol="0" anchor="ctr"/>
          <a:lstStyle/>
          <a:p>
            <a:pPr algn="ctr" indent="0" marL="0">
              <a:buNone/>
            </a:pPr>
            <a:r>
              <a:rPr lang="en-US" sz="1100" b="1" dirty="0">
                <a:solidFill>
                  <a:srgbClr val="090C11"/>
                </a:solidFill>
                <a:latin typeface="Arial" pitchFamily="34" charset="0"/>
                <a:ea typeface="Arial" pitchFamily="34" charset="-122"/>
                <a:cs typeface="Arial" pitchFamily="34" charset="-120"/>
              </a:rPr>
              <a:t>C1</a:t>
            </a:r>
            <a:endParaRPr lang="en-US" sz="1100" dirty="0"/>
          </a:p>
        </p:txBody>
      </p:sp>
      <p:sp>
        <p:nvSpPr>
          <p:cNvPr id="26" name="Text 23"/>
          <p:cNvSpPr txBox="1"/>
          <p:nvPr/>
        </p:nvSpPr>
        <p:spPr>
          <a:xfrm>
            <a:off x="6995160" y="2615184"/>
            <a:ext cx="676656" cy="237744"/>
          </a:xfrm>
          <a:prstGeom prst="rect">
            <a:avLst/>
          </a:prstGeom>
          <a:noFill/>
          <a:ln/>
        </p:spPr>
        <p:txBody>
          <a:bodyPr wrap="square" lIns="0" tIns="0" rIns="0" bIns="0" rtlCol="0" anchor="t"/>
          <a:lstStyle/>
          <a:p>
            <a:pPr algn="ctr" indent="0" marL="0">
              <a:buNone/>
            </a:pPr>
            <a:r>
              <a:rPr lang="en-US" sz="1000" b="1" dirty="0">
                <a:solidFill>
                  <a:srgbClr val="98A3B3"/>
                </a:solidFill>
                <a:latin typeface="Arial" pitchFamily="34" charset="0"/>
                <a:ea typeface="Arial" pitchFamily="34" charset="-122"/>
                <a:cs typeface="Arial" pitchFamily="34" charset="-120"/>
              </a:rPr>
              <a:t>GO</a:t>
            </a:r>
            <a:endParaRPr lang="en-US" sz="1000" dirty="0"/>
          </a:p>
        </p:txBody>
      </p:sp>
      <p:sp>
        <p:nvSpPr>
          <p:cNvPr id="27" name="Shape 24"/>
          <p:cNvSpPr/>
          <p:nvPr/>
        </p:nvSpPr>
        <p:spPr>
          <a:xfrm>
            <a:off x="7882128" y="2103120"/>
            <a:ext cx="457200" cy="457200"/>
          </a:xfrm>
          <a:prstGeom prst="ellipse">
            <a:avLst/>
          </a:prstGeom>
          <a:solidFill>
            <a:srgbClr val="39D0C3"/>
          </a:solidFill>
          <a:ln w="12700">
            <a:solidFill>
              <a:srgbClr val="090C11"/>
            </a:solidFill>
            <a:prstDash val="solid"/>
          </a:ln>
        </p:spPr>
      </p:sp>
      <p:sp>
        <p:nvSpPr>
          <p:cNvPr id="28" name="Text 25"/>
          <p:cNvSpPr txBox="1"/>
          <p:nvPr/>
        </p:nvSpPr>
        <p:spPr>
          <a:xfrm>
            <a:off x="7882128" y="2103120"/>
            <a:ext cx="457200" cy="457200"/>
          </a:xfrm>
          <a:prstGeom prst="rect">
            <a:avLst/>
          </a:prstGeom>
          <a:noFill/>
          <a:ln/>
        </p:spPr>
        <p:txBody>
          <a:bodyPr wrap="square" lIns="0" tIns="0" rIns="0" bIns="0" rtlCol="0" anchor="ctr"/>
          <a:lstStyle/>
          <a:p>
            <a:pPr algn="ctr" indent="0" marL="0">
              <a:buNone/>
            </a:pPr>
            <a:r>
              <a:rPr lang="en-US" sz="1100" b="1" dirty="0">
                <a:solidFill>
                  <a:srgbClr val="090C11"/>
                </a:solidFill>
                <a:latin typeface="Arial" pitchFamily="34" charset="0"/>
                <a:ea typeface="Arial" pitchFamily="34" charset="-122"/>
                <a:cs typeface="Arial" pitchFamily="34" charset="-120"/>
              </a:rPr>
              <a:t>C2</a:t>
            </a:r>
            <a:endParaRPr lang="en-US" sz="1100" dirty="0"/>
          </a:p>
        </p:txBody>
      </p:sp>
      <p:sp>
        <p:nvSpPr>
          <p:cNvPr id="29" name="Text 26"/>
          <p:cNvSpPr txBox="1"/>
          <p:nvPr/>
        </p:nvSpPr>
        <p:spPr>
          <a:xfrm>
            <a:off x="7772400" y="2615184"/>
            <a:ext cx="676656" cy="237744"/>
          </a:xfrm>
          <a:prstGeom prst="rect">
            <a:avLst/>
          </a:prstGeom>
          <a:noFill/>
          <a:ln/>
        </p:spPr>
        <p:txBody>
          <a:bodyPr wrap="square" lIns="0" tIns="0" rIns="0" bIns="0" rtlCol="0" anchor="t"/>
          <a:lstStyle/>
          <a:p>
            <a:pPr algn="ctr" indent="0" marL="0">
              <a:buNone/>
            </a:pPr>
            <a:r>
              <a:rPr lang="en-US" sz="1000" b="1" dirty="0">
                <a:solidFill>
                  <a:srgbClr val="98A3B3"/>
                </a:solidFill>
                <a:latin typeface="Arial" pitchFamily="34" charset="0"/>
                <a:ea typeface="Arial" pitchFamily="34" charset="-122"/>
                <a:cs typeface="Arial" pitchFamily="34" charset="-120"/>
              </a:rPr>
              <a:t>GO</a:t>
            </a:r>
            <a:endParaRPr lang="en-US" sz="1000" dirty="0"/>
          </a:p>
        </p:txBody>
      </p:sp>
      <p:sp>
        <p:nvSpPr>
          <p:cNvPr id="30" name="Shape 27"/>
          <p:cNvSpPr/>
          <p:nvPr/>
        </p:nvSpPr>
        <p:spPr>
          <a:xfrm>
            <a:off x="8659368" y="2103120"/>
            <a:ext cx="457200" cy="457200"/>
          </a:xfrm>
          <a:prstGeom prst="ellipse">
            <a:avLst/>
          </a:prstGeom>
          <a:solidFill>
            <a:srgbClr val="39D0C3"/>
          </a:solidFill>
          <a:ln w="12700">
            <a:solidFill>
              <a:srgbClr val="090C11"/>
            </a:solidFill>
            <a:prstDash val="solid"/>
          </a:ln>
        </p:spPr>
      </p:sp>
      <p:sp>
        <p:nvSpPr>
          <p:cNvPr id="31" name="Text 28"/>
          <p:cNvSpPr txBox="1"/>
          <p:nvPr/>
        </p:nvSpPr>
        <p:spPr>
          <a:xfrm>
            <a:off x="8659368" y="2103120"/>
            <a:ext cx="457200" cy="457200"/>
          </a:xfrm>
          <a:prstGeom prst="rect">
            <a:avLst/>
          </a:prstGeom>
          <a:noFill/>
          <a:ln/>
        </p:spPr>
        <p:txBody>
          <a:bodyPr wrap="square" lIns="0" tIns="0" rIns="0" bIns="0" rtlCol="0" anchor="ctr"/>
          <a:lstStyle/>
          <a:p>
            <a:pPr algn="ctr" indent="0" marL="0">
              <a:buNone/>
            </a:pPr>
            <a:r>
              <a:rPr lang="en-US" sz="1100" b="1" dirty="0">
                <a:solidFill>
                  <a:srgbClr val="090C11"/>
                </a:solidFill>
                <a:latin typeface="Arial" pitchFamily="34" charset="0"/>
                <a:ea typeface="Arial" pitchFamily="34" charset="-122"/>
                <a:cs typeface="Arial" pitchFamily="34" charset="-120"/>
              </a:rPr>
              <a:t>C3</a:t>
            </a:r>
            <a:endParaRPr lang="en-US" sz="1100" dirty="0"/>
          </a:p>
        </p:txBody>
      </p:sp>
      <p:sp>
        <p:nvSpPr>
          <p:cNvPr id="32" name="Text 29"/>
          <p:cNvSpPr txBox="1"/>
          <p:nvPr/>
        </p:nvSpPr>
        <p:spPr>
          <a:xfrm>
            <a:off x="8549640" y="2615184"/>
            <a:ext cx="676656" cy="237744"/>
          </a:xfrm>
          <a:prstGeom prst="rect">
            <a:avLst/>
          </a:prstGeom>
          <a:noFill/>
          <a:ln/>
        </p:spPr>
        <p:txBody>
          <a:bodyPr wrap="square" lIns="0" tIns="0" rIns="0" bIns="0" rtlCol="0" anchor="t"/>
          <a:lstStyle/>
          <a:p>
            <a:pPr algn="ctr" indent="0" marL="0">
              <a:buNone/>
            </a:pPr>
            <a:r>
              <a:rPr lang="en-US" sz="1000" b="1" dirty="0">
                <a:solidFill>
                  <a:srgbClr val="98A3B3"/>
                </a:solidFill>
                <a:latin typeface="Arial" pitchFamily="34" charset="0"/>
                <a:ea typeface="Arial" pitchFamily="34" charset="-122"/>
                <a:cs typeface="Arial" pitchFamily="34" charset="-120"/>
              </a:rPr>
              <a:t>GO</a:t>
            </a:r>
            <a:endParaRPr lang="en-US" sz="1000" dirty="0"/>
          </a:p>
        </p:txBody>
      </p:sp>
      <p:sp>
        <p:nvSpPr>
          <p:cNvPr id="33" name="Shape 30"/>
          <p:cNvSpPr/>
          <p:nvPr/>
        </p:nvSpPr>
        <p:spPr>
          <a:xfrm>
            <a:off x="9436608" y="2103120"/>
            <a:ext cx="457200" cy="457200"/>
          </a:xfrm>
          <a:prstGeom prst="ellipse">
            <a:avLst/>
          </a:prstGeom>
          <a:solidFill>
            <a:srgbClr val="39D0C3"/>
          </a:solidFill>
          <a:ln w="12700">
            <a:solidFill>
              <a:srgbClr val="090C11"/>
            </a:solidFill>
            <a:prstDash val="solid"/>
          </a:ln>
        </p:spPr>
      </p:sp>
      <p:sp>
        <p:nvSpPr>
          <p:cNvPr id="34" name="Text 31"/>
          <p:cNvSpPr txBox="1"/>
          <p:nvPr/>
        </p:nvSpPr>
        <p:spPr>
          <a:xfrm>
            <a:off x="9436608" y="2103120"/>
            <a:ext cx="457200" cy="457200"/>
          </a:xfrm>
          <a:prstGeom prst="rect">
            <a:avLst/>
          </a:prstGeom>
          <a:noFill/>
          <a:ln/>
        </p:spPr>
        <p:txBody>
          <a:bodyPr wrap="square" lIns="0" tIns="0" rIns="0" bIns="0" rtlCol="0" anchor="ctr"/>
          <a:lstStyle/>
          <a:p>
            <a:pPr algn="ctr" indent="0" marL="0">
              <a:buNone/>
            </a:pPr>
            <a:r>
              <a:rPr lang="en-US" sz="1100" b="1" dirty="0">
                <a:solidFill>
                  <a:srgbClr val="090C11"/>
                </a:solidFill>
                <a:latin typeface="Arial" pitchFamily="34" charset="0"/>
                <a:ea typeface="Arial" pitchFamily="34" charset="-122"/>
                <a:cs typeface="Arial" pitchFamily="34" charset="-120"/>
              </a:rPr>
              <a:t>C4</a:t>
            </a:r>
            <a:endParaRPr lang="en-US" sz="1100" dirty="0"/>
          </a:p>
        </p:txBody>
      </p:sp>
      <p:sp>
        <p:nvSpPr>
          <p:cNvPr id="35" name="Text 32"/>
          <p:cNvSpPr txBox="1"/>
          <p:nvPr/>
        </p:nvSpPr>
        <p:spPr>
          <a:xfrm>
            <a:off x="9326880" y="2615184"/>
            <a:ext cx="676656" cy="237744"/>
          </a:xfrm>
          <a:prstGeom prst="rect">
            <a:avLst/>
          </a:prstGeom>
          <a:noFill/>
          <a:ln/>
        </p:spPr>
        <p:txBody>
          <a:bodyPr wrap="square" lIns="0" tIns="0" rIns="0" bIns="0" rtlCol="0" anchor="t"/>
          <a:lstStyle/>
          <a:p>
            <a:pPr algn="ctr" indent="0" marL="0">
              <a:buNone/>
            </a:pPr>
            <a:r>
              <a:rPr lang="en-US" sz="1000" b="1" dirty="0">
                <a:solidFill>
                  <a:srgbClr val="98A3B3"/>
                </a:solidFill>
                <a:latin typeface="Arial" pitchFamily="34" charset="0"/>
                <a:ea typeface="Arial" pitchFamily="34" charset="-122"/>
                <a:cs typeface="Arial" pitchFamily="34" charset="-120"/>
              </a:rPr>
              <a:t>GO</a:t>
            </a:r>
            <a:endParaRPr lang="en-US" sz="1000" dirty="0"/>
          </a:p>
        </p:txBody>
      </p:sp>
      <p:sp>
        <p:nvSpPr>
          <p:cNvPr id="36" name="Shape 33"/>
          <p:cNvSpPr/>
          <p:nvPr/>
        </p:nvSpPr>
        <p:spPr>
          <a:xfrm>
            <a:off x="10213848" y="2103120"/>
            <a:ext cx="457200" cy="457200"/>
          </a:xfrm>
          <a:prstGeom prst="ellipse">
            <a:avLst/>
          </a:prstGeom>
          <a:solidFill>
            <a:srgbClr val="39D0C3"/>
          </a:solidFill>
          <a:ln w="12700">
            <a:solidFill>
              <a:srgbClr val="090C11"/>
            </a:solidFill>
            <a:prstDash val="solid"/>
          </a:ln>
        </p:spPr>
      </p:sp>
      <p:sp>
        <p:nvSpPr>
          <p:cNvPr id="37" name="Text 34"/>
          <p:cNvSpPr txBox="1"/>
          <p:nvPr/>
        </p:nvSpPr>
        <p:spPr>
          <a:xfrm>
            <a:off x="10213848" y="2103120"/>
            <a:ext cx="457200" cy="457200"/>
          </a:xfrm>
          <a:prstGeom prst="rect">
            <a:avLst/>
          </a:prstGeom>
          <a:noFill/>
          <a:ln/>
        </p:spPr>
        <p:txBody>
          <a:bodyPr wrap="square" lIns="0" tIns="0" rIns="0" bIns="0" rtlCol="0" anchor="ctr"/>
          <a:lstStyle/>
          <a:p>
            <a:pPr algn="ctr" indent="0" marL="0">
              <a:buNone/>
            </a:pPr>
            <a:r>
              <a:rPr lang="en-US" sz="1100" b="1" dirty="0">
                <a:solidFill>
                  <a:srgbClr val="090C11"/>
                </a:solidFill>
                <a:latin typeface="Arial" pitchFamily="34" charset="0"/>
                <a:ea typeface="Arial" pitchFamily="34" charset="-122"/>
                <a:cs typeface="Arial" pitchFamily="34" charset="-120"/>
              </a:rPr>
              <a:t>C5</a:t>
            </a:r>
            <a:endParaRPr lang="en-US" sz="1100" dirty="0"/>
          </a:p>
        </p:txBody>
      </p:sp>
      <p:sp>
        <p:nvSpPr>
          <p:cNvPr id="38" name="Text 35"/>
          <p:cNvSpPr txBox="1"/>
          <p:nvPr/>
        </p:nvSpPr>
        <p:spPr>
          <a:xfrm>
            <a:off x="10104120" y="2615184"/>
            <a:ext cx="676656" cy="237744"/>
          </a:xfrm>
          <a:prstGeom prst="rect">
            <a:avLst/>
          </a:prstGeom>
          <a:noFill/>
          <a:ln/>
        </p:spPr>
        <p:txBody>
          <a:bodyPr wrap="square" lIns="0" tIns="0" rIns="0" bIns="0" rtlCol="0" anchor="t"/>
          <a:lstStyle/>
          <a:p>
            <a:pPr algn="ctr" indent="0" marL="0">
              <a:buNone/>
            </a:pPr>
            <a:r>
              <a:rPr lang="en-US" sz="1000" b="1" dirty="0">
                <a:solidFill>
                  <a:srgbClr val="98A3B3"/>
                </a:solidFill>
                <a:latin typeface="Arial" pitchFamily="34" charset="0"/>
                <a:ea typeface="Arial" pitchFamily="34" charset="-122"/>
                <a:cs typeface="Arial" pitchFamily="34" charset="-120"/>
              </a:rPr>
              <a:t>GO</a:t>
            </a:r>
            <a:endParaRPr lang="en-US" sz="1000" dirty="0"/>
          </a:p>
        </p:txBody>
      </p:sp>
      <p:sp>
        <p:nvSpPr>
          <p:cNvPr id="39" name="Shape 36"/>
          <p:cNvSpPr/>
          <p:nvPr/>
        </p:nvSpPr>
        <p:spPr>
          <a:xfrm>
            <a:off x="10991088" y="2103120"/>
            <a:ext cx="457200" cy="457200"/>
          </a:xfrm>
          <a:prstGeom prst="ellipse">
            <a:avLst/>
          </a:prstGeom>
          <a:solidFill>
            <a:srgbClr val="39D0C3"/>
          </a:solidFill>
          <a:ln w="12700">
            <a:solidFill>
              <a:srgbClr val="090C11"/>
            </a:solidFill>
            <a:prstDash val="solid"/>
          </a:ln>
        </p:spPr>
      </p:sp>
      <p:sp>
        <p:nvSpPr>
          <p:cNvPr id="40" name="Text 37"/>
          <p:cNvSpPr txBox="1"/>
          <p:nvPr/>
        </p:nvSpPr>
        <p:spPr>
          <a:xfrm>
            <a:off x="10991088" y="2103120"/>
            <a:ext cx="457200" cy="457200"/>
          </a:xfrm>
          <a:prstGeom prst="rect">
            <a:avLst/>
          </a:prstGeom>
          <a:noFill/>
          <a:ln/>
        </p:spPr>
        <p:txBody>
          <a:bodyPr wrap="square" lIns="0" tIns="0" rIns="0" bIns="0" rtlCol="0" anchor="ctr"/>
          <a:lstStyle/>
          <a:p>
            <a:pPr algn="ctr" indent="0" marL="0">
              <a:buNone/>
            </a:pPr>
            <a:r>
              <a:rPr lang="en-US" sz="1100" b="1" dirty="0">
                <a:solidFill>
                  <a:srgbClr val="090C11"/>
                </a:solidFill>
                <a:latin typeface="Arial" pitchFamily="34" charset="0"/>
                <a:ea typeface="Arial" pitchFamily="34" charset="-122"/>
                <a:cs typeface="Arial" pitchFamily="34" charset="-120"/>
              </a:rPr>
              <a:t>C6</a:t>
            </a:r>
            <a:endParaRPr lang="en-US" sz="1100" dirty="0"/>
          </a:p>
        </p:txBody>
      </p:sp>
      <p:sp>
        <p:nvSpPr>
          <p:cNvPr id="41" name="Text 38"/>
          <p:cNvSpPr txBox="1"/>
          <p:nvPr/>
        </p:nvSpPr>
        <p:spPr>
          <a:xfrm>
            <a:off x="10881360" y="2615184"/>
            <a:ext cx="676656" cy="237744"/>
          </a:xfrm>
          <a:prstGeom prst="rect">
            <a:avLst/>
          </a:prstGeom>
          <a:noFill/>
          <a:ln/>
        </p:spPr>
        <p:txBody>
          <a:bodyPr wrap="square" lIns="0" tIns="0" rIns="0" bIns="0" rtlCol="0" anchor="t"/>
          <a:lstStyle/>
          <a:p>
            <a:pPr algn="ctr" indent="0" marL="0">
              <a:buNone/>
            </a:pPr>
            <a:r>
              <a:rPr lang="en-US" sz="1000" b="1" dirty="0">
                <a:solidFill>
                  <a:srgbClr val="98A3B3"/>
                </a:solidFill>
                <a:latin typeface="Arial" pitchFamily="34" charset="0"/>
                <a:ea typeface="Arial" pitchFamily="34" charset="-122"/>
                <a:cs typeface="Arial" pitchFamily="34" charset="-120"/>
              </a:rPr>
              <a:t>GO</a:t>
            </a:r>
            <a:endParaRPr lang="en-US" sz="1000" dirty="0"/>
          </a:p>
        </p:txBody>
      </p:sp>
      <p:sp>
        <p:nvSpPr>
          <p:cNvPr id="42" name="Shape 39"/>
          <p:cNvSpPr/>
          <p:nvPr/>
        </p:nvSpPr>
        <p:spPr>
          <a:xfrm>
            <a:off x="6217920" y="3063240"/>
            <a:ext cx="1737360" cy="1463040"/>
          </a:xfrm>
          <a:prstGeom prst="roundRect">
            <a:avLst>
              <a:gd name="adj" fmla="val 5000"/>
            </a:avLst>
          </a:prstGeom>
          <a:solidFill>
            <a:srgbClr val="11161E"/>
          </a:solidFill>
          <a:ln w="9525">
            <a:solidFill>
              <a:srgbClr val="272F3B"/>
            </a:solidFill>
            <a:prstDash val="solid"/>
          </a:ln>
        </p:spPr>
      </p:sp>
      <p:sp>
        <p:nvSpPr>
          <p:cNvPr id="43" name="Text 40"/>
          <p:cNvSpPr txBox="1"/>
          <p:nvPr/>
        </p:nvSpPr>
        <p:spPr>
          <a:xfrm>
            <a:off x="6382512" y="3191256"/>
            <a:ext cx="1408176" cy="340868"/>
          </a:xfrm>
          <a:prstGeom prst="rect">
            <a:avLst/>
          </a:prstGeom>
          <a:noFill/>
          <a:ln/>
        </p:spPr>
        <p:txBody>
          <a:bodyPr wrap="square" lIns="0" tIns="0" rIns="0" bIns="0" rtlCol="0" anchor="b"/>
          <a:lstStyle/>
          <a:p>
            <a:pPr indent="0" marL="0">
              <a:buNone/>
            </a:pPr>
            <a:r>
              <a:rPr lang="en-US" sz="2200" b="1" dirty="0">
                <a:solidFill>
                  <a:srgbClr val="8FE9DC"/>
                </a:solidFill>
                <a:latin typeface="Arial" pitchFamily="34" charset="0"/>
                <a:ea typeface="Arial" pitchFamily="34" charset="-122"/>
                <a:cs typeface="Arial" pitchFamily="34" charset="-120"/>
              </a:rPr>
              <a:t>PASS</a:t>
            </a:r>
            <a:endParaRPr lang="en-US" sz="2200" dirty="0"/>
          </a:p>
        </p:txBody>
      </p:sp>
      <p:sp>
        <p:nvSpPr>
          <p:cNvPr id="44" name="Text 41"/>
          <p:cNvSpPr txBox="1"/>
          <p:nvPr/>
        </p:nvSpPr>
        <p:spPr>
          <a:xfrm>
            <a:off x="6382512" y="3568700"/>
            <a:ext cx="140817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leakage audit: the live path cannot import race outcomes</a:t>
            </a:r>
            <a:endParaRPr lang="en-US" sz="1200" dirty="0"/>
          </a:p>
        </p:txBody>
      </p:sp>
      <p:sp>
        <p:nvSpPr>
          <p:cNvPr id="45" name="Shape 42"/>
          <p:cNvSpPr/>
          <p:nvPr/>
        </p:nvSpPr>
        <p:spPr>
          <a:xfrm>
            <a:off x="8065008" y="3063240"/>
            <a:ext cx="1737360" cy="1463040"/>
          </a:xfrm>
          <a:prstGeom prst="roundRect">
            <a:avLst>
              <a:gd name="adj" fmla="val 5000"/>
            </a:avLst>
          </a:prstGeom>
          <a:solidFill>
            <a:srgbClr val="11161E"/>
          </a:solidFill>
          <a:ln w="9525">
            <a:solidFill>
              <a:srgbClr val="272F3B"/>
            </a:solidFill>
            <a:prstDash val="solid"/>
          </a:ln>
        </p:spPr>
      </p:sp>
      <p:sp>
        <p:nvSpPr>
          <p:cNvPr id="46" name="Text 43"/>
          <p:cNvSpPr txBox="1"/>
          <p:nvPr/>
        </p:nvSpPr>
        <p:spPr>
          <a:xfrm>
            <a:off x="8229600" y="3191256"/>
            <a:ext cx="1408176" cy="340868"/>
          </a:xfrm>
          <a:prstGeom prst="rect">
            <a:avLst/>
          </a:prstGeom>
          <a:noFill/>
          <a:ln/>
        </p:spPr>
        <p:txBody>
          <a:bodyPr wrap="square" lIns="0" tIns="0" rIns="0" bIns="0" rtlCol="0" anchor="b"/>
          <a:lstStyle/>
          <a:p>
            <a:pPr indent="0" marL="0">
              <a:buNone/>
            </a:pPr>
            <a:r>
              <a:rPr lang="en-US" sz="2200" b="1" dirty="0">
                <a:solidFill>
                  <a:srgbClr val="8FE9DC"/>
                </a:solidFill>
                <a:latin typeface="Arial" pitchFamily="34" charset="0"/>
                <a:ea typeface="Arial" pitchFamily="34" charset="-122"/>
                <a:cs typeface="Arial" pitchFamily="34" charset="-120"/>
              </a:rPr>
              <a:t>518 / 0</a:t>
            </a:r>
            <a:endParaRPr lang="en-US" sz="2200" dirty="0"/>
          </a:p>
        </p:txBody>
      </p:sp>
      <p:sp>
        <p:nvSpPr>
          <p:cNvPr id="47" name="Text 44"/>
          <p:cNvSpPr txBox="1"/>
          <p:nvPr/>
        </p:nvSpPr>
        <p:spPr>
          <a:xfrm>
            <a:off x="8229600" y="3568700"/>
            <a:ext cx="140817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counterfactual identity checks passed / failed</a:t>
            </a:r>
            <a:endParaRPr lang="en-US" sz="1200" dirty="0"/>
          </a:p>
        </p:txBody>
      </p:sp>
      <p:sp>
        <p:nvSpPr>
          <p:cNvPr id="48" name="Shape 45"/>
          <p:cNvSpPr/>
          <p:nvPr/>
        </p:nvSpPr>
        <p:spPr>
          <a:xfrm>
            <a:off x="9912096" y="3063240"/>
            <a:ext cx="1737360" cy="1463040"/>
          </a:xfrm>
          <a:prstGeom prst="roundRect">
            <a:avLst>
              <a:gd name="adj" fmla="val 5000"/>
            </a:avLst>
          </a:prstGeom>
          <a:solidFill>
            <a:srgbClr val="11161E"/>
          </a:solidFill>
          <a:ln w="9525">
            <a:solidFill>
              <a:srgbClr val="272F3B"/>
            </a:solidFill>
            <a:prstDash val="solid"/>
          </a:ln>
        </p:spPr>
      </p:sp>
      <p:sp>
        <p:nvSpPr>
          <p:cNvPr id="49" name="Text 46"/>
          <p:cNvSpPr txBox="1"/>
          <p:nvPr/>
        </p:nvSpPr>
        <p:spPr>
          <a:xfrm>
            <a:off x="10076688" y="3191256"/>
            <a:ext cx="1408176" cy="340868"/>
          </a:xfrm>
          <a:prstGeom prst="rect">
            <a:avLst/>
          </a:prstGeom>
          <a:noFill/>
          <a:ln/>
        </p:spPr>
        <p:txBody>
          <a:bodyPr wrap="square" lIns="0" tIns="0" rIns="0" bIns="0" rtlCol="0" anchor="b"/>
          <a:lstStyle/>
          <a:p>
            <a:pPr indent="0" marL="0">
              <a:buNone/>
            </a:pPr>
            <a:r>
              <a:rPr lang="en-US" sz="2200" b="1" dirty="0">
                <a:solidFill>
                  <a:srgbClr val="8FE9DC"/>
                </a:solidFill>
                <a:latin typeface="Arial" pitchFamily="34" charset="0"/>
                <a:ea typeface="Arial" pitchFamily="34" charset="-122"/>
                <a:cs typeface="Arial" pitchFamily="34" charset="-120"/>
              </a:rPr>
              <a:t>0 of 3,933</a:t>
            </a:r>
            <a:endParaRPr lang="en-US" sz="2200" dirty="0"/>
          </a:p>
        </p:txBody>
      </p:sp>
      <p:sp>
        <p:nvSpPr>
          <p:cNvPr id="50" name="Text 47"/>
          <p:cNvSpPr txBox="1"/>
          <p:nvPr/>
        </p:nvSpPr>
        <p:spPr>
          <a:xfrm>
            <a:off x="10076688" y="3568700"/>
            <a:ext cx="140817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on-screen numbers disagreeing with the lock</a:t>
            </a:r>
            <a:endParaRPr lang="en-US" sz="1200" dirty="0"/>
          </a:p>
        </p:txBody>
      </p:sp>
      <p:sp>
        <p:nvSpPr>
          <p:cNvPr id="51" name="Shape 48"/>
          <p:cNvSpPr/>
          <p:nvPr/>
        </p:nvSpPr>
        <p:spPr>
          <a:xfrm>
            <a:off x="6217920" y="4663440"/>
            <a:ext cx="1737360" cy="1463040"/>
          </a:xfrm>
          <a:prstGeom prst="roundRect">
            <a:avLst>
              <a:gd name="adj" fmla="val 5000"/>
            </a:avLst>
          </a:prstGeom>
          <a:solidFill>
            <a:srgbClr val="11161E"/>
          </a:solidFill>
          <a:ln w="9525">
            <a:solidFill>
              <a:srgbClr val="272F3B"/>
            </a:solidFill>
            <a:prstDash val="solid"/>
          </a:ln>
        </p:spPr>
      </p:sp>
      <p:sp>
        <p:nvSpPr>
          <p:cNvPr id="52" name="Text 49"/>
          <p:cNvSpPr txBox="1"/>
          <p:nvPr/>
        </p:nvSpPr>
        <p:spPr>
          <a:xfrm>
            <a:off x="6382512" y="4791456"/>
            <a:ext cx="1408176" cy="340868"/>
          </a:xfrm>
          <a:prstGeom prst="rect">
            <a:avLst/>
          </a:prstGeom>
          <a:noFill/>
          <a:ln/>
        </p:spPr>
        <p:txBody>
          <a:bodyPr wrap="square" lIns="0" tIns="0" rIns="0" bIns="0" rtlCol="0" anchor="b"/>
          <a:lstStyle/>
          <a:p>
            <a:pPr indent="0" marL="0">
              <a:buNone/>
            </a:pPr>
            <a:r>
              <a:rPr lang="en-US" sz="2200" b="1" dirty="0">
                <a:solidFill>
                  <a:srgbClr val="8FE9DC"/>
                </a:solidFill>
                <a:latin typeface="Arial" pitchFamily="34" charset="0"/>
                <a:ea typeface="Arial" pitchFamily="34" charset="-122"/>
                <a:cs typeface="Arial" pitchFamily="34" charset="-120"/>
              </a:rPr>
              <a:t>326/326</a:t>
            </a:r>
            <a:endParaRPr lang="en-US" sz="2200" dirty="0"/>
          </a:p>
        </p:txBody>
      </p:sp>
      <p:sp>
        <p:nvSpPr>
          <p:cNvPr id="53" name="Text 50"/>
          <p:cNvSpPr txBox="1"/>
          <p:nvPr/>
        </p:nvSpPr>
        <p:spPr>
          <a:xfrm>
            <a:off x="6382512" y="5168900"/>
            <a:ext cx="140817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release gate at C6: offline, routes, timing</a:t>
            </a:r>
            <a:endParaRPr lang="en-US" sz="1200" dirty="0"/>
          </a:p>
        </p:txBody>
      </p:sp>
      <p:sp>
        <p:nvSpPr>
          <p:cNvPr id="54" name="Shape 51"/>
          <p:cNvSpPr/>
          <p:nvPr/>
        </p:nvSpPr>
        <p:spPr>
          <a:xfrm>
            <a:off x="8065008" y="4663440"/>
            <a:ext cx="1737360" cy="1463040"/>
          </a:xfrm>
          <a:prstGeom prst="roundRect">
            <a:avLst>
              <a:gd name="adj" fmla="val 5000"/>
            </a:avLst>
          </a:prstGeom>
          <a:solidFill>
            <a:srgbClr val="11161E"/>
          </a:solidFill>
          <a:ln w="9525">
            <a:solidFill>
              <a:srgbClr val="272F3B"/>
            </a:solidFill>
            <a:prstDash val="solid"/>
          </a:ln>
        </p:spPr>
      </p:sp>
      <p:sp>
        <p:nvSpPr>
          <p:cNvPr id="55" name="Text 52"/>
          <p:cNvSpPr txBox="1"/>
          <p:nvPr/>
        </p:nvSpPr>
        <p:spPr>
          <a:xfrm>
            <a:off x="8229600" y="4791456"/>
            <a:ext cx="1408176" cy="340868"/>
          </a:xfrm>
          <a:prstGeom prst="rect">
            <a:avLst/>
          </a:prstGeom>
          <a:noFill/>
          <a:ln/>
        </p:spPr>
        <p:txBody>
          <a:bodyPr wrap="square" lIns="0" tIns="0" rIns="0" bIns="0" rtlCol="0" anchor="b"/>
          <a:lstStyle/>
          <a:p>
            <a:pPr indent="0" marL="0">
              <a:buNone/>
            </a:pPr>
            <a:r>
              <a:rPr lang="en-US" sz="2200" b="1" dirty="0">
                <a:solidFill>
                  <a:srgbClr val="8FE9DC"/>
                </a:solidFill>
                <a:latin typeface="Arial" pitchFamily="34" charset="0"/>
                <a:ea typeface="Arial" pitchFamily="34" charset="-122"/>
                <a:cs typeface="Arial" pitchFamily="34" charset="-120"/>
              </a:rPr>
              <a:t>582</a:t>
            </a:r>
            <a:endParaRPr lang="en-US" sz="2200" dirty="0"/>
          </a:p>
        </p:txBody>
      </p:sp>
      <p:sp>
        <p:nvSpPr>
          <p:cNvPr id="56" name="Text 53"/>
          <p:cNvSpPr txBox="1"/>
          <p:nvPr/>
        </p:nvSpPr>
        <p:spPr>
          <a:xfrm>
            <a:off x="8229600" y="5168900"/>
            <a:ext cx="140817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tests passed at C6 (1 skipped, 1 xfailed)</a:t>
            </a:r>
            <a:endParaRPr lang="en-US" sz="1200" dirty="0"/>
          </a:p>
        </p:txBody>
      </p:sp>
      <p:sp>
        <p:nvSpPr>
          <p:cNvPr id="57" name="Shape 54"/>
          <p:cNvSpPr/>
          <p:nvPr/>
        </p:nvSpPr>
        <p:spPr>
          <a:xfrm>
            <a:off x="9912096" y="4663440"/>
            <a:ext cx="1737360" cy="1463040"/>
          </a:xfrm>
          <a:prstGeom prst="roundRect">
            <a:avLst>
              <a:gd name="adj" fmla="val 5000"/>
            </a:avLst>
          </a:prstGeom>
          <a:solidFill>
            <a:srgbClr val="11161E"/>
          </a:solidFill>
          <a:ln w="9525">
            <a:solidFill>
              <a:srgbClr val="272F3B"/>
            </a:solidFill>
            <a:prstDash val="solid"/>
          </a:ln>
        </p:spPr>
      </p:sp>
      <p:sp>
        <p:nvSpPr>
          <p:cNvPr id="58" name="Text 55"/>
          <p:cNvSpPr txBox="1"/>
          <p:nvPr/>
        </p:nvSpPr>
        <p:spPr>
          <a:xfrm>
            <a:off x="10076688" y="4791456"/>
            <a:ext cx="1408176" cy="340868"/>
          </a:xfrm>
          <a:prstGeom prst="rect">
            <a:avLst/>
          </a:prstGeom>
          <a:noFill/>
          <a:ln/>
        </p:spPr>
        <p:txBody>
          <a:bodyPr wrap="square" lIns="0" tIns="0" rIns="0" bIns="0" rtlCol="0" anchor="b"/>
          <a:lstStyle/>
          <a:p>
            <a:pPr indent="0" marL="0">
              <a:buNone/>
            </a:pPr>
            <a:r>
              <a:rPr lang="en-US" sz="2200" b="1" dirty="0">
                <a:solidFill>
                  <a:srgbClr val="F0B84B"/>
                </a:solidFill>
                <a:latin typeface="Arial" pitchFamily="34" charset="0"/>
                <a:ea typeface="Arial" pitchFamily="34" charset="-122"/>
                <a:cs typeface="Arial" pitchFamily="34" charset="-120"/>
              </a:rPr>
              <a:t>Frozen</a:t>
            </a:r>
            <a:endParaRPr lang="en-US" sz="2200" dirty="0"/>
          </a:p>
        </p:txBody>
      </p:sp>
      <p:sp>
        <p:nvSpPr>
          <p:cNvPr id="59" name="Text 56"/>
          <p:cNvSpPr txBox="1"/>
          <p:nvPr/>
        </p:nvSpPr>
        <p:spPr>
          <a:xfrm>
            <a:off x="10076688" y="5168900"/>
            <a:ext cx="1408176" cy="566928"/>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Orb v1 rules and Orb TyreFormer each frozen before their sealed runs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UNDER THE HOOD</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Models and methods, by name</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What each component is, and how it is validated</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0972800" cy="914400"/>
        </p:xfrm>
        <a:graphic>
          <a:graphicData uri="http://schemas.openxmlformats.org/drawingml/2006/table">
            <a:tbl>
              <a:tblPr/>
              <a:tblGrid>
                <a:gridCol w="1874520"/>
                <a:gridCol w="5486400"/>
                <a:gridCol w="3611880"/>
              </a:tblGrid>
              <a:tr h="365760">
                <a:tc>
                  <a:txBody>
                    <a:bodyPr/>
                    <a:lstStyle/>
                    <a:p>
                      <a:pPr indent="0" marL="0">
                        <a:buNone/>
                      </a:pPr>
                      <a:r>
                        <a:rPr lang="en-US" sz="1100" b="1" dirty="0">
                          <a:solidFill>
                            <a:srgbClr val="98A3B3"/>
                          </a:solidFill>
                          <a:latin typeface="Arial" pitchFamily="34" charset="0"/>
                          <a:ea typeface="Arial" pitchFamily="34" charset="-122"/>
                          <a:cs typeface="Arial" pitchFamily="34" charset="-120"/>
                        </a:rPr>
                        <a:t>Component</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100" b="1" dirty="0">
                          <a:solidFill>
                            <a:srgbClr val="98A3B3"/>
                          </a:solidFill>
                          <a:latin typeface="Arial" pitchFamily="34" charset="0"/>
                          <a:ea typeface="Arial" pitchFamily="34" charset="-122"/>
                          <a:cs typeface="Arial" pitchFamily="34" charset="-120"/>
                        </a:rPr>
                        <a:t>Model or method</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100" b="1" dirty="0">
                          <a:solidFill>
                            <a:srgbClr val="98A3B3"/>
                          </a:solidFill>
                          <a:latin typeface="Arial" pitchFamily="34" charset="0"/>
                          <a:ea typeface="Arial" pitchFamily="34" charset="-122"/>
                          <a:cs typeface="Arial" pitchFamily="34" charset="-120"/>
                        </a:rPr>
                        <a:t>Validation</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Degradation curve</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Stint fixed-effects regression; fuel prior and track evolution removed (FastF1 public timing, 3.7 Hz traces)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Weekend holdout; sensitivity sweep</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Friday to Sunday</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Per-compound median ratio, weekend left out, agreement rule</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29 cases 2026; 148 across 2023 to 2026; sealed holdout</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Abstention</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Selective prediction with a leave-one-out median fallback</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Risk-coverage scorecard</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Tyre demand index</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Energy per lap from speed, path curvature and speed changes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Feed-quality gates; practice/race scale</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Strategy</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Exact one- and two-stop enumeration; posterior Monte Carlo on the live board</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10 replayed races; regret over 40 weekends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Live estimator</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Kalman filter on intercept and slope; pre-race prior; pit resets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Prefix evaluation: next 1, 3, 5 laps; Brier; alert lead</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Counterfactual</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Iso-context paired replay on the recorded safety-car schedule</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Identity checks; hidden-stop response</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Orb TyreFormer</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Transformer (distribution, cumulative, cliff heads) + gradient-boosted medians; conformal bands; PyTorch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Weekend-grouped CV; every 2026 race; sealed holdout</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Learned transfer</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Robust (Huber) regression on practice features, conformal band</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Leave-one-weekend-out 2023 to 2026; 2026 temporal test</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Neural ablation</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CfC continuous-time cell (Hasani et al.), ncps / PyTorch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Stint-grouped folds; not adopted</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365760">
                <a:tc>
                  <a:txBody>
                    <a:bodyPr/>
                    <a:lstStyle/>
                    <a:p>
                      <a:pPr indent="0" marL="0">
                        <a:buNone/>
                      </a:pPr>
                      <a:r>
                        <a:rPr lang="en-US" sz="1100" dirty="0">
                          <a:solidFill>
                            <a:srgbClr val="F3F6FA"/>
                          </a:solidFill>
                          <a:latin typeface="Arial" pitchFamily="34" charset="0"/>
                          <a:ea typeface="Arial" pitchFamily="34" charset="-122"/>
                          <a:cs typeface="Arial" pitchFamily="34" charset="-120"/>
                        </a:rPr>
                        <a:t>Product</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Streamlit + Plotly; local canvas 3D Race Twin</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Consistency probe; release gate; rehearsal</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REAL-WORLD VIABILITY</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What team data would add, and where it scales</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Public prototype today; a team adapter is where measurements replace assumptions</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2194560"/>
                <a:gridCol w="3657600"/>
              </a:tblGrid>
              <a:tr h="731520">
                <a:tc>
                  <a:txBody>
                    <a:bodyPr/>
                    <a:lstStyle/>
                    <a:p>
                      <a:pPr indent="0" marL="0">
                        <a:buNone/>
                      </a:pPr>
                      <a:r>
                        <a:rPr lang="en-US" sz="1300" b="1" dirty="0">
                          <a:solidFill>
                            <a:srgbClr val="98A3B3"/>
                          </a:solidFill>
                          <a:latin typeface="Arial" pitchFamily="34" charset="0"/>
                          <a:ea typeface="Arial" pitchFamily="34" charset="-122"/>
                          <a:cs typeface="Arial" pitchFamily="34" charset="-120"/>
                        </a:rPr>
                        <a:t>Private data (team only)</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300" b="1" dirty="0">
                          <a:solidFill>
                            <a:srgbClr val="98A3B3"/>
                          </a:solidFill>
                          <a:latin typeface="Arial" pitchFamily="34" charset="0"/>
                          <a:ea typeface="Arial" pitchFamily="34" charset="-122"/>
                          <a:cs typeface="Arial" pitchFamily="34" charset="-120"/>
                        </a:rPr>
                        <a:t>What it would buy</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r>
              <a:tr h="731520">
                <a:tc>
                  <a:txBody>
                    <a:bodyPr/>
                    <a:lstStyle/>
                    <a:p>
                      <a:pPr indent="0" marL="0">
                        <a:buNone/>
                      </a:pPr>
                      <a:r>
                        <a:rPr lang="en-US" sz="1300" dirty="0">
                          <a:solidFill>
                            <a:srgbClr val="F3F6FA"/>
                          </a:solidFill>
                          <a:latin typeface="Arial" pitchFamily="34" charset="0"/>
                          <a:ea typeface="Arial" pitchFamily="34" charset="-122"/>
                          <a:cs typeface="Arial" pitchFamily="34" charset="-120"/>
                        </a:rPr>
                        <a:t>Fuel mass per lap</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retires the largest stated assumption, season by season</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731520">
                <a:tc>
                  <a:txBody>
                    <a:bodyPr/>
                    <a:lstStyle/>
                    <a:p>
                      <a:pPr indent="0" marL="0">
                        <a:buNone/>
                      </a:pPr>
                      <a:r>
                        <a:rPr lang="en-US" sz="1300" dirty="0">
                          <a:solidFill>
                            <a:srgbClr val="F3F6FA"/>
                          </a:solidFill>
                          <a:latin typeface="Arial" pitchFamily="34" charset="0"/>
                          <a:ea typeface="Arial" pitchFamily="34" charset="-122"/>
                          <a:cs typeface="Arial" pitchFamily="34" charset="-120"/>
                        </a:rPr>
                        <a:t>Tyre pressures and temperatures</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separates graining, blistering and the cliff; sharper bands and earlier alerts, to be validated</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731520">
                <a:tc>
                  <a:txBody>
                    <a:bodyPr/>
                    <a:lstStyle/>
                    <a:p>
                      <a:pPr indent="0" marL="0">
                        <a:buNone/>
                      </a:pPr>
                      <a:r>
                        <a:rPr lang="en-US" sz="1300" dirty="0">
                          <a:solidFill>
                            <a:srgbClr val="F3F6FA"/>
                          </a:solidFill>
                          <a:latin typeface="Arial" pitchFamily="34" charset="0"/>
                          <a:ea typeface="Arial" pitchFamily="34" charset="-122"/>
                          <a:cs typeface="Arial" pitchFamily="34" charset="-120"/>
                        </a:rPr>
                        <a:t>Tread depth after runs</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the only route to a physical wear number; public mode never shows tread</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731520">
                <a:tc>
                  <a:txBody>
                    <a:bodyPr/>
                    <a:lstStyle/>
                    <a:p>
                      <a:pPr indent="0" marL="0">
                        <a:buNone/>
                      </a:pPr>
                      <a:r>
                        <a:rPr lang="en-US" sz="1300" dirty="0">
                          <a:solidFill>
                            <a:srgbClr val="F3F6FA"/>
                          </a:solidFill>
                          <a:latin typeface="Arial" pitchFamily="34" charset="0"/>
                          <a:ea typeface="Arial" pitchFamily="34" charset="-122"/>
                          <a:cs typeface="Arial" pitchFamily="34" charset="-120"/>
                        </a:rPr>
                        <a:t>Engine modes, driver instructions</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the push becomes measured instead of inferred</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731520">
                <a:tc>
                  <a:txBody>
                    <a:bodyPr/>
                    <a:lstStyle/>
                    <a:p>
                      <a:pPr indent="0" marL="0">
                        <a:buNone/>
                      </a:pPr>
                      <a:r>
                        <a:rPr lang="en-US" sz="1300" dirty="0">
                          <a:solidFill>
                            <a:srgbClr val="F3F6FA"/>
                          </a:solidFill>
                          <a:latin typeface="Arial" pitchFamily="34" charset="0"/>
                          <a:ea typeface="Arial" pitchFamily="34" charset="-122"/>
                          <a:cs typeface="Arial" pitchFamily="34" charset="-120"/>
                        </a:rPr>
                        <a:t>Wheel speeds, steering, brake temperatures</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300" dirty="0">
                          <a:solidFill>
                            <a:srgbClr val="F3F6FA"/>
                          </a:solidFill>
                          <a:latin typeface="Arial" pitchFamily="34" charset="0"/>
                          <a:ea typeface="Arial" pitchFamily="34" charset="-122"/>
                          <a:cs typeface="Arial" pitchFamily="34" charset="-120"/>
                        </a:rPr>
                        <a:t>actual slip and the thermal path</a:t>
                      </a:r>
                      <a:endParaRPr lang="en-US" sz="13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bl>
          </a:graphicData>
        </a:graphic>
      </p:graphicFrame>
      <p:sp>
        <p:nvSpPr>
          <p:cNvPr id="9" name="Shape 5"/>
          <p:cNvSpPr/>
          <p:nvPr/>
        </p:nvSpPr>
        <p:spPr>
          <a:xfrm>
            <a:off x="6675120" y="1783080"/>
            <a:ext cx="4965192" cy="4434840"/>
          </a:xfrm>
          <a:prstGeom prst="roundRect">
            <a:avLst>
              <a:gd name="adj" fmla="val 1649"/>
            </a:avLst>
          </a:prstGeom>
          <a:solidFill>
            <a:srgbClr val="11161E"/>
          </a:solidFill>
          <a:ln w="9525">
            <a:solidFill>
              <a:srgbClr val="272F3B"/>
            </a:solidFill>
            <a:prstDash val="solid"/>
          </a:ln>
        </p:spPr>
      </p:sp>
      <p:sp>
        <p:nvSpPr>
          <p:cNvPr id="10" name="Text 6"/>
          <p:cNvSpPr txBox="1"/>
          <p:nvPr/>
        </p:nvSpPr>
        <p:spPr>
          <a:xfrm>
            <a:off x="6903720" y="1938528"/>
            <a:ext cx="4572000" cy="219456"/>
          </a:xfrm>
          <a:prstGeom prst="rect">
            <a:avLst/>
          </a:prstGeom>
          <a:noFill/>
          <a:ln/>
        </p:spPr>
        <p:txBody>
          <a:bodyPr wrap="square" lIns="0" tIns="0" rIns="0" bIns="0" rtlCol="0" anchor="t"/>
          <a:lstStyle/>
          <a:p>
            <a:pPr indent="0" marL="0">
              <a:buNone/>
            </a:pPr>
            <a:r>
              <a:rPr lang="en-US" sz="1000" b="1" spc="150" kern="0" dirty="0">
                <a:solidFill>
                  <a:srgbClr val="39D0C3"/>
                </a:solidFill>
                <a:latin typeface="Arial" pitchFamily="34" charset="0"/>
                <a:ea typeface="Arial" pitchFamily="34" charset="-122"/>
                <a:cs typeface="Arial" pitchFamily="34" charset="-120"/>
              </a:rPr>
              <a:t>WHERE IT SCALES</a:t>
            </a:r>
            <a:endParaRPr lang="en-US" sz="1000" dirty="0"/>
          </a:p>
        </p:txBody>
      </p:sp>
      <p:sp>
        <p:nvSpPr>
          <p:cNvPr id="11" name="Shape 7"/>
          <p:cNvSpPr/>
          <p:nvPr/>
        </p:nvSpPr>
        <p:spPr>
          <a:xfrm>
            <a:off x="6903720" y="2313432"/>
            <a:ext cx="310896" cy="310896"/>
          </a:xfrm>
          <a:prstGeom prst="ellipse">
            <a:avLst/>
          </a:prstGeom>
          <a:solidFill>
            <a:srgbClr val="39D0C3"/>
          </a:solidFill>
          <a:ln w="12700">
            <a:solidFill>
              <a:srgbClr val="39D0C3"/>
            </a:solidFill>
            <a:prstDash val="solid"/>
          </a:ln>
        </p:spPr>
      </p:sp>
      <p:sp>
        <p:nvSpPr>
          <p:cNvPr id="12" name="Text 8"/>
          <p:cNvSpPr txBox="1"/>
          <p:nvPr/>
        </p:nvSpPr>
        <p:spPr>
          <a:xfrm>
            <a:off x="6903720" y="2313432"/>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1</a:t>
            </a:r>
            <a:endParaRPr lang="en-US" sz="1200" dirty="0"/>
          </a:p>
        </p:txBody>
      </p:sp>
      <p:sp>
        <p:nvSpPr>
          <p:cNvPr id="13" name="Text 9"/>
          <p:cNvSpPr txBox="1"/>
          <p:nvPr/>
        </p:nvSpPr>
        <p:spPr>
          <a:xfrm>
            <a:off x="7360920" y="2286000"/>
            <a:ext cx="411480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Any Grand Prix, from free data</a:t>
            </a:r>
            <a:endParaRPr lang="en-US" sz="1400" dirty="0"/>
          </a:p>
        </p:txBody>
      </p:sp>
      <p:sp>
        <p:nvSpPr>
          <p:cNvPr id="14" name="Text 10"/>
          <p:cNvSpPr txBox="1"/>
          <p:nvPr/>
        </p:nvSpPr>
        <p:spPr>
          <a:xfrm>
            <a:off x="7360920" y="2578608"/>
            <a:ext cx="4114800" cy="59436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public timing and position traces; one command rebuilds the lock from a fresh clone</a:t>
            </a:r>
            <a:endParaRPr lang="en-US" sz="1200" dirty="0"/>
          </a:p>
        </p:txBody>
      </p:sp>
      <p:sp>
        <p:nvSpPr>
          <p:cNvPr id="15" name="Shape 11"/>
          <p:cNvSpPr/>
          <p:nvPr/>
        </p:nvSpPr>
        <p:spPr>
          <a:xfrm>
            <a:off x="6903720" y="3273552"/>
            <a:ext cx="310896" cy="310896"/>
          </a:xfrm>
          <a:prstGeom prst="ellipse">
            <a:avLst/>
          </a:prstGeom>
          <a:solidFill>
            <a:srgbClr val="39D0C3"/>
          </a:solidFill>
          <a:ln w="12700">
            <a:solidFill>
              <a:srgbClr val="39D0C3"/>
            </a:solidFill>
            <a:prstDash val="solid"/>
          </a:ln>
        </p:spPr>
      </p:sp>
      <p:sp>
        <p:nvSpPr>
          <p:cNvPr id="16" name="Text 12"/>
          <p:cNvSpPr txBox="1"/>
          <p:nvPr/>
        </p:nvSpPr>
        <p:spPr>
          <a:xfrm>
            <a:off x="6903720" y="3273552"/>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2</a:t>
            </a:r>
            <a:endParaRPr lang="en-US" sz="1200" dirty="0"/>
          </a:p>
        </p:txBody>
      </p:sp>
      <p:sp>
        <p:nvSpPr>
          <p:cNvPr id="17" name="Text 13"/>
          <p:cNvSpPr txBox="1"/>
          <p:nvPr/>
        </p:nvSpPr>
        <p:spPr>
          <a:xfrm>
            <a:off x="7360920" y="3246120"/>
            <a:ext cx="411480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Junior series with public timing only</a:t>
            </a:r>
            <a:endParaRPr lang="en-US" sz="1400" dirty="0"/>
          </a:p>
        </p:txBody>
      </p:sp>
      <p:sp>
        <p:nvSpPr>
          <p:cNvPr id="18" name="Text 14"/>
          <p:cNvSpPr txBox="1"/>
          <p:nvPr/>
        </p:nvSpPr>
        <p:spPr>
          <a:xfrm>
            <a:off x="7360920" y="3538728"/>
            <a:ext cx="4114800" cy="59436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lap times, age, compound and flags suffice; more is withheld and bands widen</a:t>
            </a:r>
            <a:endParaRPr lang="en-US" sz="1200" dirty="0"/>
          </a:p>
        </p:txBody>
      </p:sp>
      <p:sp>
        <p:nvSpPr>
          <p:cNvPr id="19" name="Shape 15"/>
          <p:cNvSpPr/>
          <p:nvPr/>
        </p:nvSpPr>
        <p:spPr>
          <a:xfrm>
            <a:off x="6903720" y="4233672"/>
            <a:ext cx="310896" cy="310896"/>
          </a:xfrm>
          <a:prstGeom prst="ellipse">
            <a:avLst/>
          </a:prstGeom>
          <a:solidFill>
            <a:srgbClr val="39D0C3"/>
          </a:solidFill>
          <a:ln w="12700">
            <a:solidFill>
              <a:srgbClr val="39D0C3"/>
            </a:solidFill>
            <a:prstDash val="solid"/>
          </a:ln>
        </p:spPr>
      </p:sp>
      <p:sp>
        <p:nvSpPr>
          <p:cNvPr id="20" name="Text 16"/>
          <p:cNvSpPr txBox="1"/>
          <p:nvPr/>
        </p:nvSpPr>
        <p:spPr>
          <a:xfrm>
            <a:off x="6903720" y="4233672"/>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3</a:t>
            </a:r>
            <a:endParaRPr lang="en-US" sz="1200" dirty="0"/>
          </a:p>
        </p:txBody>
      </p:sp>
      <p:sp>
        <p:nvSpPr>
          <p:cNvPr id="21" name="Text 17"/>
          <p:cNvSpPr txBox="1"/>
          <p:nvPr/>
        </p:nvSpPr>
        <p:spPr>
          <a:xfrm>
            <a:off x="7360920" y="4206240"/>
            <a:ext cx="411480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Race engineers on a laptop</a:t>
            </a:r>
            <a:endParaRPr lang="en-US" sz="1400" dirty="0"/>
          </a:p>
        </p:txBody>
      </p:sp>
      <p:sp>
        <p:nvSpPr>
          <p:cNvPr id="22" name="Text 18"/>
          <p:cNvSpPr txBox="1"/>
          <p:nvPr/>
        </p:nvSpPr>
        <p:spPr>
          <a:xfrm>
            <a:off x="7360920" y="4498848"/>
            <a:ext cx="4114800" cy="59436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runs offline; no cloud, no CDN, a five-minute guided path</a:t>
            </a:r>
            <a:endParaRPr lang="en-US" sz="1200" dirty="0"/>
          </a:p>
        </p:txBody>
      </p:sp>
      <p:sp>
        <p:nvSpPr>
          <p:cNvPr id="23" name="Shape 19"/>
          <p:cNvSpPr/>
          <p:nvPr/>
        </p:nvSpPr>
        <p:spPr>
          <a:xfrm>
            <a:off x="6903720" y="5193792"/>
            <a:ext cx="310896" cy="310896"/>
          </a:xfrm>
          <a:prstGeom prst="ellipse">
            <a:avLst/>
          </a:prstGeom>
          <a:solidFill>
            <a:srgbClr val="39D0C3"/>
          </a:solidFill>
          <a:ln w="12700">
            <a:solidFill>
              <a:srgbClr val="39D0C3"/>
            </a:solidFill>
            <a:prstDash val="solid"/>
          </a:ln>
        </p:spPr>
      </p:sp>
      <p:sp>
        <p:nvSpPr>
          <p:cNvPr id="24" name="Text 20"/>
          <p:cNvSpPr txBox="1"/>
          <p:nvPr/>
        </p:nvSpPr>
        <p:spPr>
          <a:xfrm>
            <a:off x="6903720" y="5193792"/>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4</a:t>
            </a:r>
            <a:endParaRPr lang="en-US" sz="1200" dirty="0"/>
          </a:p>
        </p:txBody>
      </p:sp>
      <p:sp>
        <p:nvSpPr>
          <p:cNvPr id="25" name="Text 21"/>
          <p:cNvSpPr txBox="1"/>
          <p:nvPr/>
        </p:nvSpPr>
        <p:spPr>
          <a:xfrm>
            <a:off x="7360920" y="5166360"/>
            <a:ext cx="411480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Beyond racing: wear from biased samples</a:t>
            </a:r>
            <a:endParaRPr lang="en-US" sz="1400" dirty="0"/>
          </a:p>
        </p:txBody>
      </p:sp>
      <p:sp>
        <p:nvSpPr>
          <p:cNvPr id="26" name="Text 22"/>
          <p:cNvSpPr txBox="1"/>
          <p:nvPr/>
        </p:nvSpPr>
        <p:spPr>
          <a:xfrm>
            <a:off x="7360920" y="5458968"/>
            <a:ext cx="4114800" cy="59436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the pattern (clean the confounders, learn the transfer, refuse weak signal, audit) fits any wear forecast made from noisy early data</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VERSUS THE FIELD</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The public repositories on this brief</a:t>
            </a:r>
            <a:endParaRPr lang="en-US" sz="3000" dirty="0"/>
          </a:p>
        </p:txBody>
      </p:sp>
      <p:sp>
        <p:nvSpPr>
          <p:cNvPr id="4" name="Text 2"/>
          <p:cNvSpPr txBox="1"/>
          <p:nvPr/>
        </p:nvSpPr>
        <p:spPr>
          <a:xfrm>
            <a:off x="548640" y="1188720"/>
            <a:ext cx="11094415" cy="384048"/>
          </a:xfrm>
          <a:prstGeom prst="rect">
            <a:avLst/>
          </a:prstGeom>
          <a:noFill/>
          <a:ln/>
        </p:spPr>
        <p:txBody>
          <a:bodyPr wrap="square" lIns="0" tIns="0" rIns="0" bIns="0" rtlCol="0" anchor="t"/>
          <a:lstStyle/>
          <a:p>
            <a:pPr indent="0" marL="0">
              <a:buNone/>
            </a:pPr>
            <a:r>
              <a:rPr lang="en-US" sz="1500" dirty="0">
                <a:solidFill>
                  <a:srgbClr val="98A3B3"/>
                </a:solidFill>
                <a:latin typeface="Arial" pitchFamily="34" charset="0"/>
                <a:ea typeface="Arial" pitchFamily="34" charset="-122"/>
                <a:cs typeface="Arial" pitchFamily="34" charset="-120"/>
              </a:rPr>
              <a:t>Checked on 12 September 2026</a:t>
            </a:r>
            <a:endParaRPr lang="en-US" sz="1500" dirty="0"/>
          </a:p>
        </p:txBody>
      </p:sp>
      <p:sp>
        <p:nvSpPr>
          <p:cNvPr id="5" name="Text 3"/>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6" name="Text 4"/>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737360"/>
                <a:gridCol w="3749040"/>
                <a:gridCol w="2194560"/>
                <a:gridCol w="3410712"/>
              </a:tblGrid>
              <a:tr h="566928">
                <a:tc>
                  <a:txBody>
                    <a:bodyPr/>
                    <a:lstStyle/>
                    <a:p>
                      <a:pPr indent="0" marL="0">
                        <a:buNone/>
                      </a:pPr>
                      <a:r>
                        <a:rPr lang="en-US" sz="1100" b="1" dirty="0">
                          <a:solidFill>
                            <a:srgbClr val="98A3B3"/>
                          </a:solidFill>
                          <a:latin typeface="Arial" pitchFamily="34" charset="0"/>
                          <a:ea typeface="Arial" pitchFamily="34" charset="-122"/>
                          <a:cs typeface="Arial" pitchFamily="34" charset="-120"/>
                        </a:rPr>
                        <a:t>Entry</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100" b="1" dirty="0">
                          <a:solidFill>
                            <a:srgbClr val="98A3B3"/>
                          </a:solidFill>
                          <a:latin typeface="Arial" pitchFamily="34" charset="0"/>
                          <a:ea typeface="Arial" pitchFamily="34" charset="-122"/>
                          <a:cs typeface="Arial" pitchFamily="34" charset="-120"/>
                        </a:rPr>
                        <a:t>Approach</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100" b="1" dirty="0">
                          <a:solidFill>
                            <a:srgbClr val="98A3B3"/>
                          </a:solidFill>
                          <a:latin typeface="Arial" pitchFamily="34" charset="0"/>
                          <a:ea typeface="Arial" pitchFamily="34" charset="-122"/>
                          <a:cs typeface="Arial" pitchFamily="34" charset="-120"/>
                        </a:rPr>
                        <a:t>Validation</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c>
                  <a:txBody>
                    <a:bodyPr/>
                    <a:lstStyle/>
                    <a:p>
                      <a:pPr indent="0" marL="0">
                        <a:buNone/>
                      </a:pPr>
                      <a:r>
                        <a:rPr lang="en-US" sz="1100" b="1" dirty="0">
                          <a:solidFill>
                            <a:srgbClr val="98A3B3"/>
                          </a:solidFill>
                          <a:latin typeface="Arial" pitchFamily="34" charset="0"/>
                          <a:ea typeface="Arial" pitchFamily="34" charset="-122"/>
                          <a:cs typeface="Arial" pitchFamily="34" charset="-120"/>
                        </a:rPr>
                        <a:t>Where we stand</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71D27"/>
                    </a:solidFill>
                  </a:tcPr>
                </a:tc>
              </a:tr>
              <a:tr h="566928">
                <a:tc>
                  <a:txBody>
                    <a:bodyPr/>
                    <a:lstStyle/>
                    <a:p>
                      <a:pPr indent="0" marL="0">
                        <a:buNone/>
                      </a:pPr>
                      <a:r>
                        <a:rPr lang="en-US" sz="1100" dirty="0">
                          <a:solidFill>
                            <a:srgbClr val="F3F6FA"/>
                          </a:solidFill>
                          <a:latin typeface="Arial" pitchFamily="34" charset="0"/>
                          <a:ea typeface="Arial" pitchFamily="34" charset="-122"/>
                          <a:cs typeface="Arial" pitchFamily="34" charset="-120"/>
                        </a:rPr>
                        <a:t>PITWALL</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Same cleaning idea, 12 events; concluded practice curves do not transfer; predicts the value of a fresh tyre</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Leave-one-event-out on pit-stop deltas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We deliver the curve the brief asks for; transfer holds at compound-weekend level in 2026 (r 0.78); we say where it weakens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566928">
                <a:tc>
                  <a:txBody>
                    <a:bodyPr/>
                    <a:lstStyle/>
                    <a:p>
                      <a:pPr indent="0" marL="0">
                        <a:buNone/>
                      </a:pPr>
                      <a:r>
                        <a:rPr lang="en-US" sz="1100" dirty="0">
                          <a:solidFill>
                            <a:srgbClr val="F3F6FA"/>
                          </a:solidFill>
                          <a:latin typeface="Arial" pitchFamily="34" charset="0"/>
                          <a:ea typeface="Arial" pitchFamily="34" charset="-122"/>
                          <a:cs typeface="Arial" pitchFamily="34" charset="-120"/>
                        </a:rPr>
                        <a:t>GripTrace</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One weekend, 2023 Bahrain, soft only; careful; no fuel model</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Race held out once</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64 weekends, three compounds, a sealed holdout</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566928">
                <a:tc>
                  <a:txBody>
                    <a:bodyPr/>
                    <a:lstStyle/>
                    <a:p>
                      <a:pPr indent="0" marL="0">
                        <a:buNone/>
                      </a:pPr>
                      <a:r>
                        <a:rPr lang="en-US" sz="1100" dirty="0">
                          <a:solidFill>
                            <a:srgbClr val="F3F6FA"/>
                          </a:solidFill>
                          <a:latin typeface="Arial" pitchFamily="34" charset="0"/>
                          <a:ea typeface="Arial" pitchFamily="34" charset="-122"/>
                          <a:cs typeface="Arial" pitchFamily="34" charset="-120"/>
                        </a:rPr>
                        <a:t>TyreIQ</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Gradient boosting on synthetic Bahrain data</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In-sample on synthetic data</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Scored on real races the model never saw</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566928">
                <a:tc>
                  <a:txBody>
                    <a:bodyPr/>
                    <a:lstStyle/>
                    <a:p>
                      <a:pPr indent="0" marL="0">
                        <a:buNone/>
                      </a:pPr>
                      <a:r>
                        <a:rPr lang="en-US" sz="1100" dirty="0">
                          <a:solidFill>
                            <a:srgbClr val="F3F6FA"/>
                          </a:solidFill>
                          <a:latin typeface="Arial" pitchFamily="34" charset="0"/>
                          <a:ea typeface="Arial" pitchFamily="34" charset="-122"/>
                          <a:cs typeface="Arial" pitchFamily="34" charset="-120"/>
                        </a:rPr>
                        <a:t>Dr.Tyre, TrackShift AI</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Pipelines with simulators and a voice engineer; constants or synthetic toggles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None held out</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Every number on our screens traces to the lock, a hashed sidecar or a labelled placeholder</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r h="566928">
                <a:tc>
                  <a:txBody>
                    <a:bodyPr/>
                    <a:lstStyle/>
                    <a:p>
                      <a:pPr indent="0" marL="0">
                        <a:buNone/>
                      </a:pPr>
                      <a:r>
                        <a:rPr lang="en-US" sz="1100" dirty="0">
                          <a:solidFill>
                            <a:srgbClr val="F3F6FA"/>
                          </a:solidFill>
                          <a:latin typeface="Arial" pitchFamily="34" charset="0"/>
                          <a:ea typeface="Arial" pitchFamily="34" charset="-122"/>
                          <a:cs typeface="Arial" pitchFamily="34" charset="-120"/>
                        </a:rPr>
                        <a:t>TIREX, others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Kalman plan (backend only), a negative-result study, skeletons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Planned or none</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c>
                  <a:txBody>
                    <a:bodyPr/>
                    <a:lstStyle/>
                    <a:p>
                      <a:pPr indent="0" marL="0">
                        <a:buNone/>
                      </a:pPr>
                      <a:r>
                        <a:rPr lang="en-US" sz="1100" dirty="0">
                          <a:solidFill>
                            <a:srgbClr val="F3F6FA"/>
                          </a:solidFill>
                          <a:latin typeface="Arial" pitchFamily="34" charset="0"/>
                          <a:ea typeface="Arial" pitchFamily="34" charset="-122"/>
                          <a:cs typeface="Arial" pitchFamily="34" charset="-120"/>
                        </a:rPr>
                        <a:t>Results, freezes and gates</a:t>
                      </a:r>
                      <a:endParaRPr lang="en-US" sz="1100" dirty="0">
                        <a:latin typeface="Arial" charset="0"/>
                        <a:ea typeface="Arial" charset="0"/>
                        <a:cs typeface="Arial" charset="0"/>
                      </a:endParaRPr>
                    </a:p>
                  </a:txBody>
                  <a:tcPr marL="54864" marR="54864" marT="54864" marB="54864" anchor="ctr">
                    <a:lnL w="6350" cap="flat" cmpd="sng" algn="ctr">
                      <a:solidFill>
                        <a:srgbClr val="272F3B"/>
                      </a:solidFill>
                      <a:prstDash val="solid"/>
                      <a:round/>
                      <a:headEnd type="none" w="med" len="med"/>
                      <a:tailEnd type="none" w="med" len="med"/>
                    </a:lnL>
                    <a:lnR w="6350" cap="flat" cmpd="sng" algn="ctr">
                      <a:solidFill>
                        <a:srgbClr val="272F3B"/>
                      </a:solidFill>
                      <a:prstDash val="solid"/>
                      <a:round/>
                      <a:headEnd type="none" w="med" len="med"/>
                      <a:tailEnd type="none" w="med" len="med"/>
                    </a:lnR>
                    <a:lnT w="6350" cap="flat" cmpd="sng" algn="ctr">
                      <a:solidFill>
                        <a:srgbClr val="272F3B"/>
                      </a:solidFill>
                      <a:prstDash val="solid"/>
                      <a:round/>
                      <a:headEnd type="none" w="med" len="med"/>
                      <a:tailEnd type="none" w="med" len="med"/>
                    </a:lnT>
                    <a:lnB w="6350" cap="flat" cmpd="sng" algn="ctr">
                      <a:solidFill>
                        <a:srgbClr val="272F3B"/>
                      </a:solidFill>
                      <a:prstDash val="solid"/>
                      <a:round/>
                      <a:headEnd type="none" w="med" len="med"/>
                      <a:tailEnd type="none" w="med" len="med"/>
                    </a:lnB>
                    <a:solidFill>
                      <a:srgbClr val="11161E"/>
                    </a:solidFill>
                  </a:tcPr>
                </a:tc>
              </a:tr>
            </a:tbl>
          </a:graphicData>
        </a:graphic>
      </p:graphicFrame>
      <p:sp>
        <p:nvSpPr>
          <p:cNvPr id="9" name="Shape 5"/>
          <p:cNvSpPr/>
          <p:nvPr/>
        </p:nvSpPr>
        <p:spPr>
          <a:xfrm>
            <a:off x="548640" y="4709160"/>
            <a:ext cx="11094415" cy="1005840"/>
          </a:xfrm>
          <a:prstGeom prst="roundRect">
            <a:avLst>
              <a:gd name="adj" fmla="val 7273"/>
            </a:avLst>
          </a:prstGeom>
          <a:solidFill>
            <a:srgbClr val="171D27"/>
          </a:solidFill>
          <a:ln w="9525">
            <a:solidFill>
              <a:srgbClr val="272F3B"/>
            </a:solidFill>
            <a:prstDash val="solid"/>
          </a:ln>
        </p:spPr>
      </p:sp>
      <p:sp>
        <p:nvSpPr>
          <p:cNvPr id="10" name="Text 6"/>
          <p:cNvSpPr txBox="1"/>
          <p:nvPr/>
        </p:nvSpPr>
        <p:spPr>
          <a:xfrm>
            <a:off x="777240" y="4846320"/>
            <a:ext cx="10637215" cy="731520"/>
          </a:xfrm>
          <a:prstGeom prst="rect">
            <a:avLst/>
          </a:prstGeom>
          <a:noFill/>
          <a:ln/>
        </p:spPr>
        <p:txBody>
          <a:bodyPr wrap="square" lIns="0" tIns="0" rIns="0" bIns="0" rtlCol="0" anchor="ctr"/>
          <a:lstStyle/>
          <a:p>
            <a:pPr indent="0" marL="0">
              <a:buNone/>
            </a:pPr>
            <a:r>
              <a:rPr lang="en-US" sz="1500" i="1" dirty="0">
                <a:solidFill>
                  <a:srgbClr val="8FE9DC"/>
                </a:solidFill>
                <a:latin typeface="Arial" pitchFamily="34" charset="0"/>
                <a:ea typeface="Arial" pitchFamily="34" charset="-122"/>
                <a:cs typeface="Arial" pitchFamily="34" charset="-120"/>
              </a:rPr>
              <a:t>Among the public repositories we reviewed, we did not find another entry that scores a Friday curve against Sunday across seasons, withholds when it should, removes the driver’s push and forecasts a live weekend.</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QUESTIONS</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2600" b="1" dirty="0">
                <a:solidFill>
                  <a:srgbClr val="F3F6FA"/>
                </a:solidFill>
                <a:latin typeface="Arial" pitchFamily="34" charset="0"/>
                <a:ea typeface="Arial" pitchFamily="34" charset="-122"/>
                <a:cs typeface="Arial" pitchFamily="34" charset="-120"/>
              </a:rPr>
              <a:t>Eight questions we expect, with our one-line answers</a:t>
            </a:r>
            <a:endParaRPr lang="en-US" sz="2600" dirty="0"/>
          </a:p>
        </p:txBody>
      </p:sp>
      <p:sp>
        <p:nvSpPr>
          <p:cNvPr id="4" name="Text 2"/>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5" name="Text 3"/>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23</a:t>
            </a:r>
            <a:endParaRPr lang="en-US" sz="900" dirty="0"/>
          </a:p>
        </p:txBody>
      </p:sp>
      <p:sp>
        <p:nvSpPr>
          <p:cNvPr id="7" name="Shape 4"/>
          <p:cNvSpPr/>
          <p:nvPr/>
        </p:nvSpPr>
        <p:spPr>
          <a:xfrm>
            <a:off x="548640" y="1344168"/>
            <a:ext cx="310896" cy="310896"/>
          </a:xfrm>
          <a:prstGeom prst="ellipse">
            <a:avLst/>
          </a:prstGeom>
          <a:solidFill>
            <a:srgbClr val="F0B84B"/>
          </a:solidFill>
          <a:ln w="12700">
            <a:solidFill>
              <a:srgbClr val="F0B84B"/>
            </a:solidFill>
            <a:prstDash val="solid"/>
          </a:ln>
        </p:spPr>
      </p:sp>
      <p:sp>
        <p:nvSpPr>
          <p:cNvPr id="8" name="Text 5"/>
          <p:cNvSpPr txBox="1"/>
          <p:nvPr/>
        </p:nvSpPr>
        <p:spPr>
          <a:xfrm>
            <a:off x="548640" y="1344168"/>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1</a:t>
            </a:r>
            <a:endParaRPr lang="en-US" sz="1200" dirty="0"/>
          </a:p>
        </p:txBody>
      </p:sp>
      <p:sp>
        <p:nvSpPr>
          <p:cNvPr id="9" name="Text 6"/>
          <p:cNvSpPr txBox="1"/>
          <p:nvPr/>
        </p:nvSpPr>
        <p:spPr>
          <a:xfrm>
            <a:off x="987552" y="1325880"/>
            <a:ext cx="498348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What did you build here?</a:t>
            </a:r>
            <a:endParaRPr lang="en-US" sz="1400" dirty="0"/>
          </a:p>
        </p:txBody>
      </p:sp>
      <p:sp>
        <p:nvSpPr>
          <p:cNvPr id="10" name="Text 7"/>
          <p:cNvSpPr txBox="1"/>
          <p:nvPr/>
        </p:nvSpPr>
        <p:spPr>
          <a:xfrm>
            <a:off x="987552" y="1627632"/>
            <a:ext cx="4983480" cy="86868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Three past seasons and seven more 2026 weekends, the gate, the push diagnostic, the dashboard with its 3D Race Twin and guided demo, the sealed holdout and Orb TyreFormer. The estimator was disclosed pre-work.</a:t>
            </a:r>
            <a:endParaRPr lang="en-US" sz="1200" dirty="0"/>
          </a:p>
        </p:txBody>
      </p:sp>
      <p:sp>
        <p:nvSpPr>
          <p:cNvPr id="11" name="Shape 8"/>
          <p:cNvSpPr/>
          <p:nvPr/>
        </p:nvSpPr>
        <p:spPr>
          <a:xfrm>
            <a:off x="6190488" y="1344168"/>
            <a:ext cx="310896" cy="310896"/>
          </a:xfrm>
          <a:prstGeom prst="ellipse">
            <a:avLst/>
          </a:prstGeom>
          <a:solidFill>
            <a:srgbClr val="39D0C3"/>
          </a:solidFill>
          <a:ln w="12700">
            <a:solidFill>
              <a:srgbClr val="39D0C3"/>
            </a:solidFill>
            <a:prstDash val="solid"/>
          </a:ln>
        </p:spPr>
      </p:sp>
      <p:sp>
        <p:nvSpPr>
          <p:cNvPr id="12" name="Text 9"/>
          <p:cNvSpPr txBox="1"/>
          <p:nvPr/>
        </p:nvSpPr>
        <p:spPr>
          <a:xfrm>
            <a:off x="6190488" y="1344168"/>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2</a:t>
            </a:r>
            <a:endParaRPr lang="en-US" sz="1200" dirty="0"/>
          </a:p>
        </p:txBody>
      </p:sp>
      <p:sp>
        <p:nvSpPr>
          <p:cNvPr id="13" name="Text 10"/>
          <p:cNvSpPr txBox="1"/>
          <p:nvPr/>
        </p:nvSpPr>
        <p:spPr>
          <a:xfrm>
            <a:off x="6629400" y="1325880"/>
            <a:ext cx="498348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Where is the AI?</a:t>
            </a:r>
            <a:endParaRPr lang="en-US" sz="1400" dirty="0"/>
          </a:p>
        </p:txBody>
      </p:sp>
      <p:sp>
        <p:nvSpPr>
          <p:cNvPr id="14" name="Text 11"/>
          <p:cNvSpPr txBox="1"/>
          <p:nvPr/>
        </p:nvSpPr>
        <p:spPr>
          <a:xfrm>
            <a:off x="6629400" y="1627632"/>
            <a:ext cx="4983480" cy="86868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A transfer factor learned across weekends; Orb TyreFormer, a transformer and boosted ensemble beating our live estimator on every 2026 race (12 of 12); a CfC network tested and set aside.</a:t>
            </a:r>
            <a:endParaRPr lang="en-US" sz="1200" dirty="0"/>
          </a:p>
        </p:txBody>
      </p:sp>
      <p:sp>
        <p:nvSpPr>
          <p:cNvPr id="15" name="Shape 12"/>
          <p:cNvSpPr/>
          <p:nvPr/>
        </p:nvSpPr>
        <p:spPr>
          <a:xfrm>
            <a:off x="548640" y="2596896"/>
            <a:ext cx="310896" cy="310896"/>
          </a:xfrm>
          <a:prstGeom prst="ellipse">
            <a:avLst/>
          </a:prstGeom>
          <a:solidFill>
            <a:srgbClr val="F0B84B"/>
          </a:solidFill>
          <a:ln w="12700">
            <a:solidFill>
              <a:srgbClr val="F0B84B"/>
            </a:solidFill>
            <a:prstDash val="solid"/>
          </a:ln>
        </p:spPr>
      </p:sp>
      <p:sp>
        <p:nvSpPr>
          <p:cNvPr id="16" name="Text 13"/>
          <p:cNvSpPr txBox="1"/>
          <p:nvPr/>
        </p:nvSpPr>
        <p:spPr>
          <a:xfrm>
            <a:off x="548640" y="2596896"/>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3</a:t>
            </a:r>
            <a:endParaRPr lang="en-US" sz="1200" dirty="0"/>
          </a:p>
        </p:txBody>
      </p:sp>
      <p:sp>
        <p:nvSpPr>
          <p:cNvPr id="17" name="Text 14"/>
          <p:cNvSpPr txBox="1"/>
          <p:nvPr/>
        </p:nvSpPr>
        <p:spPr>
          <a:xfrm>
            <a:off x="987552" y="2578608"/>
            <a:ext cx="498348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Does the Friday curve really transfer?</a:t>
            </a:r>
            <a:endParaRPr lang="en-US" sz="1400" dirty="0"/>
          </a:p>
        </p:txBody>
      </p:sp>
      <p:sp>
        <p:nvSpPr>
          <p:cNvPr id="18" name="Text 15"/>
          <p:cNvSpPr txBox="1"/>
          <p:nvPr/>
        </p:nvSpPr>
        <p:spPr>
          <a:xfrm>
            <a:off x="987552" y="2880360"/>
            <a:ext cx="4983480" cy="86868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In 2026, yes: r 0.78 over 29 held-out cases. Across 2023 to 2025 it is weaker (r 0.27), so we show that and keep a learned transfer model as a second opinion.</a:t>
            </a:r>
            <a:endParaRPr lang="en-US" sz="1200" dirty="0"/>
          </a:p>
        </p:txBody>
      </p:sp>
      <p:sp>
        <p:nvSpPr>
          <p:cNvPr id="19" name="Shape 16"/>
          <p:cNvSpPr/>
          <p:nvPr/>
        </p:nvSpPr>
        <p:spPr>
          <a:xfrm>
            <a:off x="6190488" y="2596896"/>
            <a:ext cx="310896" cy="310896"/>
          </a:xfrm>
          <a:prstGeom prst="ellipse">
            <a:avLst/>
          </a:prstGeom>
          <a:solidFill>
            <a:srgbClr val="39D0C3"/>
          </a:solidFill>
          <a:ln w="12700">
            <a:solidFill>
              <a:srgbClr val="39D0C3"/>
            </a:solidFill>
            <a:prstDash val="solid"/>
          </a:ln>
        </p:spPr>
      </p:sp>
      <p:sp>
        <p:nvSpPr>
          <p:cNvPr id="20" name="Text 17"/>
          <p:cNvSpPr txBox="1"/>
          <p:nvPr/>
        </p:nvSpPr>
        <p:spPr>
          <a:xfrm>
            <a:off x="6190488" y="2596896"/>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4</a:t>
            </a:r>
            <a:endParaRPr lang="en-US" sz="1200" dirty="0"/>
          </a:p>
        </p:txBody>
      </p:sp>
      <p:sp>
        <p:nvSpPr>
          <p:cNvPr id="21" name="Text 18"/>
          <p:cNvSpPr txBox="1"/>
          <p:nvPr/>
        </p:nvSpPr>
        <p:spPr>
          <a:xfrm>
            <a:off x="6629400" y="2578608"/>
            <a:ext cx="498348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What breaks it?</a:t>
            </a:r>
            <a:endParaRPr lang="en-US" sz="1400" dirty="0"/>
          </a:p>
        </p:txBody>
      </p:sp>
      <p:sp>
        <p:nvSpPr>
          <p:cNvPr id="22" name="Text 19"/>
          <p:cNvSpPr txBox="1"/>
          <p:nvPr/>
        </p:nvSpPr>
        <p:spPr>
          <a:xfrm>
            <a:off x="6629400" y="2880360"/>
            <a:ext cx="4983480" cy="86868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Green tracks and new circuits (the gate withholds, the fallback answers), degraded feeds (refused), wet sessions (excluded), and a new rule era, which needs its own fuel and priors.</a:t>
            </a:r>
            <a:endParaRPr lang="en-US" sz="1200" dirty="0"/>
          </a:p>
        </p:txBody>
      </p:sp>
      <p:sp>
        <p:nvSpPr>
          <p:cNvPr id="23" name="Shape 20"/>
          <p:cNvSpPr/>
          <p:nvPr/>
        </p:nvSpPr>
        <p:spPr>
          <a:xfrm>
            <a:off x="548640" y="3849624"/>
            <a:ext cx="310896" cy="310896"/>
          </a:xfrm>
          <a:prstGeom prst="ellipse">
            <a:avLst/>
          </a:prstGeom>
          <a:solidFill>
            <a:srgbClr val="F0B84B"/>
          </a:solidFill>
          <a:ln w="12700">
            <a:solidFill>
              <a:srgbClr val="F0B84B"/>
            </a:solidFill>
            <a:prstDash val="solid"/>
          </a:ln>
        </p:spPr>
      </p:sp>
      <p:sp>
        <p:nvSpPr>
          <p:cNvPr id="24" name="Text 21"/>
          <p:cNvSpPr txBox="1"/>
          <p:nvPr/>
        </p:nvSpPr>
        <p:spPr>
          <a:xfrm>
            <a:off x="548640" y="3849624"/>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5</a:t>
            </a:r>
            <a:endParaRPr lang="en-US" sz="1200" dirty="0"/>
          </a:p>
        </p:txBody>
      </p:sp>
      <p:sp>
        <p:nvSpPr>
          <p:cNvPr id="25" name="Text 22"/>
          <p:cNvSpPr txBox="1"/>
          <p:nvPr/>
        </p:nvSpPr>
        <p:spPr>
          <a:xfrm>
            <a:off x="987552" y="3831336"/>
            <a:ext cx="498348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Where could the race leak into the forecast?</a:t>
            </a:r>
            <a:endParaRPr lang="en-US" sz="1400" dirty="0"/>
          </a:p>
        </p:txBody>
      </p:sp>
      <p:sp>
        <p:nvSpPr>
          <p:cNvPr id="26" name="Text 23"/>
          <p:cNvSpPr txBox="1"/>
          <p:nvPr/>
        </p:nvSpPr>
        <p:spPr>
          <a:xfrm>
            <a:off x="987552" y="4133088"/>
            <a:ext cx="4983480" cy="86868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Nowhere we left open: factors and fallback come from other weekends, the live path reads only laps already run (audited), and only the scorecard sees the race.</a:t>
            </a:r>
            <a:endParaRPr lang="en-US" sz="1200" dirty="0"/>
          </a:p>
        </p:txBody>
      </p:sp>
      <p:sp>
        <p:nvSpPr>
          <p:cNvPr id="27" name="Shape 24"/>
          <p:cNvSpPr/>
          <p:nvPr/>
        </p:nvSpPr>
        <p:spPr>
          <a:xfrm>
            <a:off x="6190488" y="3849624"/>
            <a:ext cx="310896" cy="310896"/>
          </a:xfrm>
          <a:prstGeom prst="ellipse">
            <a:avLst/>
          </a:prstGeom>
          <a:solidFill>
            <a:srgbClr val="39D0C3"/>
          </a:solidFill>
          <a:ln w="12700">
            <a:solidFill>
              <a:srgbClr val="39D0C3"/>
            </a:solidFill>
            <a:prstDash val="solid"/>
          </a:ln>
        </p:spPr>
      </p:sp>
      <p:sp>
        <p:nvSpPr>
          <p:cNvPr id="28" name="Text 25"/>
          <p:cNvSpPr txBox="1"/>
          <p:nvPr/>
        </p:nvSpPr>
        <p:spPr>
          <a:xfrm>
            <a:off x="6190488" y="3849624"/>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6</a:t>
            </a:r>
            <a:endParaRPr lang="en-US" sz="1200" dirty="0"/>
          </a:p>
        </p:txBody>
      </p:sp>
      <p:sp>
        <p:nvSpPr>
          <p:cNvPr id="29" name="Text 26"/>
          <p:cNvSpPr txBox="1"/>
          <p:nvPr/>
        </p:nvSpPr>
        <p:spPr>
          <a:xfrm>
            <a:off x="6629400" y="3831336"/>
            <a:ext cx="498348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Madrid races after we close. What do you show?</a:t>
            </a:r>
            <a:endParaRPr lang="en-US" sz="1400" dirty="0"/>
          </a:p>
        </p:txBody>
      </p:sp>
      <p:sp>
        <p:nvSpPr>
          <p:cNvPr id="30" name="Text 27"/>
          <p:cNvSpPr txBox="1"/>
          <p:nvPr/>
        </p:nvSpPr>
        <p:spPr>
          <a:xfrm>
            <a:off x="6629400" y="4133088"/>
            <a:ext cx="4983480" cy="86868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Recorded races replayed lap by lap, and a Madrid forecast hashed before the race (sha256 8e5489d5824a, 21:33 IST), verifiable after it.</a:t>
            </a:r>
            <a:endParaRPr lang="en-US" sz="1200" dirty="0"/>
          </a:p>
        </p:txBody>
      </p:sp>
      <p:sp>
        <p:nvSpPr>
          <p:cNvPr id="31" name="Shape 28"/>
          <p:cNvSpPr/>
          <p:nvPr/>
        </p:nvSpPr>
        <p:spPr>
          <a:xfrm>
            <a:off x="548640" y="5102352"/>
            <a:ext cx="310896" cy="310896"/>
          </a:xfrm>
          <a:prstGeom prst="ellipse">
            <a:avLst/>
          </a:prstGeom>
          <a:solidFill>
            <a:srgbClr val="F0B84B"/>
          </a:solidFill>
          <a:ln w="12700">
            <a:solidFill>
              <a:srgbClr val="F0B84B"/>
            </a:solidFill>
            <a:prstDash val="solid"/>
          </a:ln>
        </p:spPr>
      </p:sp>
      <p:sp>
        <p:nvSpPr>
          <p:cNvPr id="32" name="Text 29"/>
          <p:cNvSpPr txBox="1"/>
          <p:nvPr/>
        </p:nvSpPr>
        <p:spPr>
          <a:xfrm>
            <a:off x="548640" y="5102352"/>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7</a:t>
            </a:r>
            <a:endParaRPr lang="en-US" sz="1200" dirty="0"/>
          </a:p>
        </p:txBody>
      </p:sp>
      <p:sp>
        <p:nvSpPr>
          <p:cNvPr id="33" name="Text 30"/>
          <p:cNvSpPr txBox="1"/>
          <p:nvPr/>
        </p:nvSpPr>
        <p:spPr>
          <a:xfrm>
            <a:off x="987552" y="5084064"/>
            <a:ext cx="498348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Did the 2026 rules change degradation?</a:t>
            </a:r>
            <a:endParaRPr lang="en-US" sz="1400" dirty="0"/>
          </a:p>
        </p:txBody>
      </p:sp>
      <p:sp>
        <p:nvSpPr>
          <p:cNvPr id="34" name="Text 31"/>
          <p:cNvSpPr txBox="1"/>
          <p:nvPr/>
        </p:nvSpPr>
        <p:spPr>
          <a:xfrm>
            <a:off x="987552" y="5385816"/>
            <a:ext cx="4983480" cy="86868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Both ways at once: lighter 2026 cars load the tyre less, but a lighter start hides less wear in lap times. On the same circuits, 50% to 90% of the raw rise from 2025 is that fuel effect (3 to 4 circuits per compound).</a:t>
            </a:r>
            <a:endParaRPr lang="en-US" sz="1200" dirty="0"/>
          </a:p>
        </p:txBody>
      </p:sp>
      <p:sp>
        <p:nvSpPr>
          <p:cNvPr id="35" name="Shape 32"/>
          <p:cNvSpPr/>
          <p:nvPr/>
        </p:nvSpPr>
        <p:spPr>
          <a:xfrm>
            <a:off x="6190488" y="5102352"/>
            <a:ext cx="310896" cy="310896"/>
          </a:xfrm>
          <a:prstGeom prst="ellipse">
            <a:avLst/>
          </a:prstGeom>
          <a:solidFill>
            <a:srgbClr val="39D0C3"/>
          </a:solidFill>
          <a:ln w="12700">
            <a:solidFill>
              <a:srgbClr val="39D0C3"/>
            </a:solidFill>
            <a:prstDash val="solid"/>
          </a:ln>
        </p:spPr>
      </p:sp>
      <p:sp>
        <p:nvSpPr>
          <p:cNvPr id="36" name="Text 33"/>
          <p:cNvSpPr txBox="1"/>
          <p:nvPr/>
        </p:nvSpPr>
        <p:spPr>
          <a:xfrm>
            <a:off x="6190488" y="5102352"/>
            <a:ext cx="310896" cy="310896"/>
          </a:xfrm>
          <a:prstGeom prst="rect">
            <a:avLst/>
          </a:prstGeom>
          <a:noFill/>
          <a:ln/>
        </p:spPr>
        <p:txBody>
          <a:bodyPr wrap="square" lIns="0" tIns="0" rIns="0" bIns="0" rtlCol="0" anchor="ctr"/>
          <a:lstStyle/>
          <a:p>
            <a:pPr algn="ctr" indent="0" marL="0">
              <a:buNone/>
            </a:pPr>
            <a:r>
              <a:rPr lang="en-US" sz="1200" b="1" dirty="0">
                <a:solidFill>
                  <a:srgbClr val="090C11"/>
                </a:solidFill>
                <a:latin typeface="Arial" pitchFamily="34" charset="0"/>
                <a:ea typeface="Arial" pitchFamily="34" charset="-122"/>
                <a:cs typeface="Arial" pitchFamily="34" charset="-120"/>
              </a:rPr>
              <a:t>8</a:t>
            </a:r>
            <a:endParaRPr lang="en-US" sz="1200" dirty="0"/>
          </a:p>
        </p:txBody>
      </p:sp>
      <p:sp>
        <p:nvSpPr>
          <p:cNvPr id="37" name="Text 34"/>
          <p:cNvSpPr txBox="1"/>
          <p:nvPr/>
        </p:nvSpPr>
        <p:spPr>
          <a:xfrm>
            <a:off x="6629400" y="5084064"/>
            <a:ext cx="4983480" cy="274320"/>
          </a:xfrm>
          <a:prstGeom prst="rect">
            <a:avLst/>
          </a:prstGeom>
          <a:noFill/>
          <a:ln/>
        </p:spPr>
        <p:txBody>
          <a:bodyPr wrap="square" lIns="0" tIns="0" rIns="0" bIns="0" rtlCol="0" anchor="t"/>
          <a:lstStyle/>
          <a:p>
            <a:pPr indent="0" marL="0">
              <a:buNone/>
            </a:pPr>
            <a:r>
              <a:rPr lang="en-US" sz="1400" b="1" dirty="0">
                <a:solidFill>
                  <a:srgbClr val="F3F6FA"/>
                </a:solidFill>
                <a:latin typeface="Arial" pitchFamily="34" charset="0"/>
                <a:ea typeface="Arial" pitchFamily="34" charset="-122"/>
                <a:cs typeface="Arial" pitchFamily="34" charset="-120"/>
              </a:rPr>
              <a:t>Would this work in Formula 2, without telemetry?</a:t>
            </a:r>
            <a:endParaRPr lang="en-US" sz="1400" dirty="0"/>
          </a:p>
        </p:txBody>
      </p:sp>
      <p:sp>
        <p:nvSpPr>
          <p:cNvPr id="38" name="Text 35"/>
          <p:cNvSpPr txBox="1"/>
          <p:nvPr/>
        </p:nvSpPr>
        <p:spPr>
          <a:xfrm>
            <a:off x="6629400" y="5385816"/>
            <a:ext cx="4983480" cy="86868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Yes, in a degraded mode: lap times, age, compound and flags drive the estimator; more is withheld and bands widen. Accuracy there requires validation.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90C11"/>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t"/>
          <a:lstStyle/>
          <a:p>
            <a:pPr indent="0" marL="0">
              <a:buNone/>
            </a:pPr>
            <a:r>
              <a:rPr lang="en-US" sz="1100" b="1" spc="200" kern="0" dirty="0">
                <a:solidFill>
                  <a:srgbClr val="39D0C3"/>
                </a:solidFill>
                <a:latin typeface="Arial" pitchFamily="34" charset="0"/>
                <a:ea typeface="Arial" pitchFamily="34" charset="-122"/>
                <a:cs typeface="Arial" pitchFamily="34" charset="-120"/>
              </a:rPr>
              <a:t>DISCLOSURE AND NEXT STEPS</a:t>
            </a:r>
            <a:endParaRPr lang="en-US" sz="1100" dirty="0"/>
          </a:p>
        </p:txBody>
      </p:sp>
      <p:sp>
        <p:nvSpPr>
          <p:cNvPr id="3" name="Text 1"/>
          <p:cNvSpPr txBox="1"/>
          <p:nvPr/>
        </p:nvSpPr>
        <p:spPr>
          <a:xfrm>
            <a:off x="548640" y="640080"/>
            <a:ext cx="11094415" cy="548640"/>
          </a:xfrm>
          <a:prstGeom prst="rect">
            <a:avLst/>
          </a:prstGeom>
          <a:noFill/>
          <a:ln/>
        </p:spPr>
        <p:txBody>
          <a:bodyPr wrap="square" lIns="0" tIns="0" rIns="0" bIns="0" rtlCol="0" anchor="t"/>
          <a:lstStyle/>
          <a:p>
            <a:pPr indent="0" marL="0">
              <a:buNone/>
            </a:pPr>
            <a:r>
              <a:rPr lang="en-US" sz="3000" b="1" dirty="0">
                <a:solidFill>
                  <a:srgbClr val="F3F6FA"/>
                </a:solidFill>
                <a:latin typeface="Arial" pitchFamily="34" charset="0"/>
                <a:ea typeface="Arial" pitchFamily="34" charset="-122"/>
                <a:cs typeface="Arial" pitchFamily="34" charset="-120"/>
              </a:rPr>
              <a:t>What was built when, and what comes next</a:t>
            </a:r>
            <a:endParaRPr lang="en-US" sz="3000" dirty="0"/>
          </a:p>
        </p:txBody>
      </p:sp>
      <p:sp>
        <p:nvSpPr>
          <p:cNvPr id="4" name="Text 2"/>
          <p:cNvSpPr txBox="1"/>
          <p:nvPr/>
        </p:nvSpPr>
        <p:spPr>
          <a:xfrm>
            <a:off x="548640" y="6446520"/>
            <a:ext cx="7315200" cy="201168"/>
          </a:xfrm>
          <a:prstGeom prst="rect">
            <a:avLst/>
          </a:prstGeom>
          <a:noFill/>
          <a:ln/>
        </p:spPr>
        <p:txBody>
          <a:bodyPr wrap="square" lIns="0" tIns="0" rIns="0" bIns="0" rtlCol="0" anchor="t"/>
          <a:lstStyle/>
          <a:p>
            <a:pPr indent="0" marL="0">
              <a:buNone/>
            </a:pPr>
            <a:r>
              <a:rPr lang="en-US" sz="900" dirty="0">
                <a:solidFill>
                  <a:srgbClr val="6B7585"/>
                </a:solidFill>
                <a:latin typeface="Arial" pitchFamily="34" charset="0"/>
                <a:ea typeface="Arial" pitchFamily="34" charset="-122"/>
                <a:cs typeface="Arial" pitchFamily="34" charset="-120"/>
              </a:rPr>
              <a:t>ORB V1  ·  TrackShift 2026  ·  Tyre Degradation Intelligence</a:t>
            </a:r>
            <a:endParaRPr lang="en-US" sz="900" dirty="0"/>
          </a:p>
        </p:txBody>
      </p:sp>
      <p:sp>
        <p:nvSpPr>
          <p:cNvPr id="5" name="Text 3"/>
          <p:cNvSpPr txBox="1"/>
          <p:nvPr/>
        </p:nvSpPr>
        <p:spPr>
          <a:xfrm>
            <a:off x="10728655" y="6446520"/>
            <a:ext cx="914400" cy="201168"/>
          </a:xfrm>
          <a:prstGeom prst="rect">
            <a:avLst/>
          </a:prstGeom>
          <a:noFill/>
          <a:ln/>
        </p:spPr>
        <p:txBody>
          <a:bodyPr wrap="square" lIns="0" tIns="0" rIns="0" bIns="0" rtlCol="0" anchor="t"/>
          <a:lstStyle/>
          <a:p>
            <a:pPr algn="r" indent="0" marL="0">
              <a:buNone/>
            </a:pPr>
            <a:r>
              <a:rPr lang="en-US" sz="900" dirty="0">
                <a:solidFill>
                  <a:srgbClr val="6B7585"/>
                </a:solidFill>
                <a:latin typeface="Arial" pitchFamily="34" charset="0"/>
                <a:ea typeface="Arial" pitchFamily="34" charset="-122"/>
                <a:cs typeface="Arial" pitchFamily="34" charset="-120"/>
              </a:rPr>
              <a:t>24</a:t>
            </a:r>
            <a:endParaRPr lang="en-US" sz="900" dirty="0"/>
          </a:p>
        </p:txBody>
      </p:sp>
      <p:sp>
        <p:nvSpPr>
          <p:cNvPr id="7" name="Shape 4"/>
          <p:cNvSpPr/>
          <p:nvPr/>
        </p:nvSpPr>
        <p:spPr>
          <a:xfrm>
            <a:off x="548640" y="1371600"/>
            <a:ext cx="3575304" cy="4160520"/>
          </a:xfrm>
          <a:prstGeom prst="roundRect">
            <a:avLst>
              <a:gd name="adj" fmla="val 2046"/>
            </a:avLst>
          </a:prstGeom>
          <a:solidFill>
            <a:srgbClr val="11161E"/>
          </a:solidFill>
          <a:ln w="9525">
            <a:solidFill>
              <a:srgbClr val="272F3B"/>
            </a:solidFill>
            <a:prstDash val="solid"/>
          </a:ln>
        </p:spPr>
      </p:sp>
      <p:sp>
        <p:nvSpPr>
          <p:cNvPr id="8" name="Text 5"/>
          <p:cNvSpPr txBox="1"/>
          <p:nvPr/>
        </p:nvSpPr>
        <p:spPr>
          <a:xfrm>
            <a:off x="777240" y="1536192"/>
            <a:ext cx="3108960" cy="365760"/>
          </a:xfrm>
          <a:prstGeom prst="rect">
            <a:avLst/>
          </a:prstGeom>
          <a:noFill/>
          <a:ln/>
        </p:spPr>
        <p:txBody>
          <a:bodyPr wrap="square" lIns="0" tIns="0" rIns="0" bIns="0" rtlCol="0" anchor="t"/>
          <a:lstStyle/>
          <a:p>
            <a:pPr indent="0" marL="0">
              <a:buNone/>
            </a:pPr>
            <a:r>
              <a:rPr lang="en-US" sz="2000" b="1" dirty="0">
                <a:solidFill>
                  <a:srgbClr val="98A3B3"/>
                </a:solidFill>
                <a:latin typeface="Arial" pitchFamily="34" charset="0"/>
                <a:ea typeface="Arial" pitchFamily="34" charset="-122"/>
                <a:cs typeface="Arial" pitchFamily="34" charset="-120"/>
              </a:rPr>
              <a:t>Disclosed pre-work</a:t>
            </a:r>
            <a:endParaRPr lang="en-US" sz="2000" dirty="0"/>
          </a:p>
        </p:txBody>
      </p:sp>
      <p:sp>
        <p:nvSpPr>
          <p:cNvPr id="9" name="Text 6"/>
          <p:cNvSpPr txBox="1"/>
          <p:nvPr/>
        </p:nvSpPr>
        <p:spPr>
          <a:xfrm>
            <a:off x="777240" y="1920240"/>
            <a:ext cx="3108960" cy="2743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4 to 5 September</a:t>
            </a:r>
            <a:endParaRPr lang="en-US" sz="1200" dirty="0"/>
          </a:p>
        </p:txBody>
      </p:sp>
      <p:sp>
        <p:nvSpPr>
          <p:cNvPr id="10" name="Shape 7"/>
          <p:cNvSpPr/>
          <p:nvPr/>
        </p:nvSpPr>
        <p:spPr>
          <a:xfrm>
            <a:off x="795528" y="2444496"/>
            <a:ext cx="64008" cy="64008"/>
          </a:xfrm>
          <a:prstGeom prst="ellipse">
            <a:avLst/>
          </a:prstGeom>
          <a:solidFill>
            <a:srgbClr val="98A3B3"/>
          </a:solidFill>
          <a:ln w="12700">
            <a:solidFill>
              <a:srgbClr val="98A3B3"/>
            </a:solidFill>
            <a:prstDash val="solid"/>
          </a:ln>
        </p:spPr>
      </p:sp>
      <p:sp>
        <p:nvSpPr>
          <p:cNvPr id="11" name="Text 8"/>
          <p:cNvSpPr txBox="1"/>
          <p:nvPr/>
        </p:nvSpPr>
        <p:spPr>
          <a:xfrm>
            <a:off x="996696" y="237744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Stint fixed-effects estimator with the fuel prior and evolution</a:t>
            </a:r>
            <a:endParaRPr lang="en-US" sz="1300" dirty="0"/>
          </a:p>
        </p:txBody>
      </p:sp>
      <p:sp>
        <p:nvSpPr>
          <p:cNvPr id="12" name="Shape 9"/>
          <p:cNvSpPr/>
          <p:nvPr/>
        </p:nvSpPr>
        <p:spPr>
          <a:xfrm>
            <a:off x="795528" y="2942336"/>
            <a:ext cx="64008" cy="64008"/>
          </a:xfrm>
          <a:prstGeom prst="ellipse">
            <a:avLst/>
          </a:prstGeom>
          <a:solidFill>
            <a:srgbClr val="98A3B3"/>
          </a:solidFill>
          <a:ln w="12700">
            <a:solidFill>
              <a:srgbClr val="98A3B3"/>
            </a:solidFill>
            <a:prstDash val="solid"/>
          </a:ln>
        </p:spPr>
      </p:sp>
      <p:sp>
        <p:nvSpPr>
          <p:cNvPr id="13" name="Text 10"/>
          <p:cNvSpPr txBox="1"/>
          <p:nvPr/>
        </p:nvSpPr>
        <p:spPr>
          <a:xfrm>
            <a:off x="996696" y="287528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Six-weekend validation and the first transfer factors</a:t>
            </a:r>
            <a:endParaRPr lang="en-US" sz="1300" dirty="0"/>
          </a:p>
        </p:txBody>
      </p:sp>
      <p:sp>
        <p:nvSpPr>
          <p:cNvPr id="14" name="Shape 11"/>
          <p:cNvSpPr/>
          <p:nvPr/>
        </p:nvSpPr>
        <p:spPr>
          <a:xfrm>
            <a:off x="795528" y="3440176"/>
            <a:ext cx="64008" cy="64008"/>
          </a:xfrm>
          <a:prstGeom prst="ellipse">
            <a:avLst/>
          </a:prstGeom>
          <a:solidFill>
            <a:srgbClr val="98A3B3"/>
          </a:solidFill>
          <a:ln w="12700">
            <a:solidFill>
              <a:srgbClr val="98A3B3"/>
            </a:solidFill>
            <a:prstDash val="solid"/>
          </a:ln>
        </p:spPr>
      </p:sp>
      <p:sp>
        <p:nvSpPr>
          <p:cNvPr id="15" name="Text 12"/>
          <p:cNvSpPr txBox="1"/>
          <p:nvPr/>
        </p:nvSpPr>
        <p:spPr>
          <a:xfrm>
            <a:off x="996696" y="3373120"/>
            <a:ext cx="2935224" cy="21640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Hungary and Austria strategy replay</a:t>
            </a:r>
            <a:endParaRPr lang="en-US" sz="1300" dirty="0"/>
          </a:p>
        </p:txBody>
      </p:sp>
      <p:sp>
        <p:nvSpPr>
          <p:cNvPr id="16" name="Shape 13"/>
          <p:cNvSpPr/>
          <p:nvPr/>
        </p:nvSpPr>
        <p:spPr>
          <a:xfrm>
            <a:off x="4306824" y="1371600"/>
            <a:ext cx="3575304" cy="4160520"/>
          </a:xfrm>
          <a:prstGeom prst="roundRect">
            <a:avLst>
              <a:gd name="adj" fmla="val 2046"/>
            </a:avLst>
          </a:prstGeom>
          <a:solidFill>
            <a:srgbClr val="11161E"/>
          </a:solidFill>
          <a:ln w="9525">
            <a:solidFill>
              <a:srgbClr val="272F3B"/>
            </a:solidFill>
            <a:prstDash val="solid"/>
          </a:ln>
        </p:spPr>
      </p:sp>
      <p:sp>
        <p:nvSpPr>
          <p:cNvPr id="17" name="Text 14"/>
          <p:cNvSpPr txBox="1"/>
          <p:nvPr/>
        </p:nvSpPr>
        <p:spPr>
          <a:xfrm>
            <a:off x="4535424" y="1536192"/>
            <a:ext cx="3108960" cy="365760"/>
          </a:xfrm>
          <a:prstGeom prst="rect">
            <a:avLst/>
          </a:prstGeom>
          <a:noFill/>
          <a:ln/>
        </p:spPr>
        <p:txBody>
          <a:bodyPr wrap="square" lIns="0" tIns="0" rIns="0" bIns="0" rtlCol="0" anchor="t"/>
          <a:lstStyle/>
          <a:p>
            <a:pPr indent="0" marL="0">
              <a:buNone/>
            </a:pPr>
            <a:r>
              <a:rPr lang="en-US" sz="2000" b="1" dirty="0">
                <a:solidFill>
                  <a:srgbClr val="39D0C3"/>
                </a:solidFill>
                <a:latin typeface="Arial" pitchFamily="34" charset="0"/>
                <a:ea typeface="Arial" pitchFamily="34" charset="-122"/>
                <a:cs typeface="Arial" pitchFamily="34" charset="-120"/>
              </a:rPr>
              <a:t>Built at Plaksha</a:t>
            </a:r>
            <a:endParaRPr lang="en-US" sz="2000" dirty="0"/>
          </a:p>
        </p:txBody>
      </p:sp>
      <p:sp>
        <p:nvSpPr>
          <p:cNvPr id="18" name="Text 15"/>
          <p:cNvSpPr txBox="1"/>
          <p:nvPr/>
        </p:nvSpPr>
        <p:spPr>
          <a:xfrm>
            <a:off x="4535424" y="1920240"/>
            <a:ext cx="3108960" cy="2743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12 to 13 September</a:t>
            </a:r>
            <a:endParaRPr lang="en-US" sz="1200" dirty="0"/>
          </a:p>
        </p:txBody>
      </p:sp>
      <p:sp>
        <p:nvSpPr>
          <p:cNvPr id="19" name="Shape 16"/>
          <p:cNvSpPr/>
          <p:nvPr/>
        </p:nvSpPr>
        <p:spPr>
          <a:xfrm>
            <a:off x="4553712" y="2444496"/>
            <a:ext cx="64008" cy="64008"/>
          </a:xfrm>
          <a:prstGeom prst="ellipse">
            <a:avLst/>
          </a:prstGeom>
          <a:solidFill>
            <a:srgbClr val="39D0C3"/>
          </a:solidFill>
          <a:ln w="12700">
            <a:solidFill>
              <a:srgbClr val="39D0C3"/>
            </a:solidFill>
            <a:prstDash val="solid"/>
          </a:ln>
        </p:spPr>
      </p:sp>
      <p:sp>
        <p:nvSpPr>
          <p:cNvPr id="20" name="Text 17"/>
          <p:cNvSpPr txBox="1"/>
          <p:nvPr/>
        </p:nvSpPr>
        <p:spPr>
          <a:xfrm>
            <a:off x="4754880" y="237744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Seven more 2026 weekends and three past seasons</a:t>
            </a:r>
            <a:endParaRPr lang="en-US" sz="1300" dirty="0"/>
          </a:p>
        </p:txBody>
      </p:sp>
      <p:sp>
        <p:nvSpPr>
          <p:cNvPr id="21" name="Shape 18"/>
          <p:cNvSpPr/>
          <p:nvPr/>
        </p:nvSpPr>
        <p:spPr>
          <a:xfrm>
            <a:off x="4553712" y="2942336"/>
            <a:ext cx="64008" cy="64008"/>
          </a:xfrm>
          <a:prstGeom prst="ellipse">
            <a:avLst/>
          </a:prstGeom>
          <a:solidFill>
            <a:srgbClr val="39D0C3"/>
          </a:solidFill>
          <a:ln w="12700">
            <a:solidFill>
              <a:srgbClr val="39D0C3"/>
            </a:solidFill>
            <a:prstDash val="solid"/>
          </a:ln>
        </p:spPr>
      </p:sp>
      <p:sp>
        <p:nvSpPr>
          <p:cNvPr id="22" name="Text 19"/>
          <p:cNvSpPr txBox="1"/>
          <p:nvPr/>
        </p:nvSpPr>
        <p:spPr>
          <a:xfrm>
            <a:off x="4754880" y="287528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Gate, fallback, push diagnostic, replay scoring</a:t>
            </a:r>
            <a:endParaRPr lang="en-US" sz="1300" dirty="0"/>
          </a:p>
        </p:txBody>
      </p:sp>
      <p:sp>
        <p:nvSpPr>
          <p:cNvPr id="23" name="Shape 20"/>
          <p:cNvSpPr/>
          <p:nvPr/>
        </p:nvSpPr>
        <p:spPr>
          <a:xfrm>
            <a:off x="4553712" y="3440176"/>
            <a:ext cx="64008" cy="64008"/>
          </a:xfrm>
          <a:prstGeom prst="ellipse">
            <a:avLst/>
          </a:prstGeom>
          <a:solidFill>
            <a:srgbClr val="39D0C3"/>
          </a:solidFill>
          <a:ln w="12700">
            <a:solidFill>
              <a:srgbClr val="39D0C3"/>
            </a:solidFill>
            <a:prstDash val="solid"/>
          </a:ln>
        </p:spPr>
      </p:sp>
      <p:sp>
        <p:nvSpPr>
          <p:cNvPr id="24" name="Text 21"/>
          <p:cNvSpPr txBox="1"/>
          <p:nvPr/>
        </p:nvSpPr>
        <p:spPr>
          <a:xfrm>
            <a:off x="4754880" y="337312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Lock contract, sealed holdout, checkpoints C0 to C6</a:t>
            </a:r>
            <a:endParaRPr lang="en-US" sz="1300" dirty="0"/>
          </a:p>
        </p:txBody>
      </p:sp>
      <p:sp>
        <p:nvSpPr>
          <p:cNvPr id="25" name="Shape 22"/>
          <p:cNvSpPr/>
          <p:nvPr/>
        </p:nvSpPr>
        <p:spPr>
          <a:xfrm>
            <a:off x="4553712" y="3938016"/>
            <a:ext cx="64008" cy="64008"/>
          </a:xfrm>
          <a:prstGeom prst="ellipse">
            <a:avLst/>
          </a:prstGeom>
          <a:solidFill>
            <a:srgbClr val="39D0C3"/>
          </a:solidFill>
          <a:ln w="12700">
            <a:solidFill>
              <a:srgbClr val="39D0C3"/>
            </a:solidFill>
            <a:prstDash val="solid"/>
          </a:ln>
        </p:spPr>
      </p:sp>
      <p:sp>
        <p:nvSpPr>
          <p:cNvPr id="26" name="Text 23"/>
          <p:cNvSpPr txBox="1"/>
          <p:nvPr/>
        </p:nvSpPr>
        <p:spPr>
          <a:xfrm>
            <a:off x="4754880" y="387096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Live Predictor, Ghost Strategy, 3D Race Twin, guided demo</a:t>
            </a:r>
            <a:endParaRPr lang="en-US" sz="1300" dirty="0"/>
          </a:p>
        </p:txBody>
      </p:sp>
      <p:sp>
        <p:nvSpPr>
          <p:cNvPr id="27" name="Shape 24"/>
          <p:cNvSpPr/>
          <p:nvPr/>
        </p:nvSpPr>
        <p:spPr>
          <a:xfrm>
            <a:off x="4553712" y="4435856"/>
            <a:ext cx="64008" cy="64008"/>
          </a:xfrm>
          <a:prstGeom prst="ellipse">
            <a:avLst/>
          </a:prstGeom>
          <a:solidFill>
            <a:srgbClr val="39D0C3"/>
          </a:solidFill>
          <a:ln w="12700">
            <a:solidFill>
              <a:srgbClr val="39D0C3"/>
            </a:solidFill>
            <a:prstDash val="solid"/>
          </a:ln>
        </p:spPr>
      </p:sp>
      <p:sp>
        <p:nvSpPr>
          <p:cNvPr id="28" name="Text 25"/>
          <p:cNvSpPr txBox="1"/>
          <p:nvPr/>
        </p:nvSpPr>
        <p:spPr>
          <a:xfrm>
            <a:off x="4754880" y="436880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Orb TyreFormer and the learned transfer model</a:t>
            </a:r>
            <a:endParaRPr lang="en-US" sz="1300" dirty="0"/>
          </a:p>
        </p:txBody>
      </p:sp>
      <p:sp>
        <p:nvSpPr>
          <p:cNvPr id="29" name="Shape 26"/>
          <p:cNvSpPr/>
          <p:nvPr/>
        </p:nvSpPr>
        <p:spPr>
          <a:xfrm>
            <a:off x="4553712" y="4933696"/>
            <a:ext cx="64008" cy="64008"/>
          </a:xfrm>
          <a:prstGeom prst="ellipse">
            <a:avLst/>
          </a:prstGeom>
          <a:solidFill>
            <a:srgbClr val="39D0C3"/>
          </a:solidFill>
          <a:ln w="12700">
            <a:solidFill>
              <a:srgbClr val="39D0C3"/>
            </a:solidFill>
            <a:prstDash val="solid"/>
          </a:ln>
        </p:spPr>
      </p:sp>
      <p:sp>
        <p:nvSpPr>
          <p:cNvPr id="30" name="Text 27"/>
          <p:cNvSpPr txBox="1"/>
          <p:nvPr/>
        </p:nvSpPr>
        <p:spPr>
          <a:xfrm>
            <a:off x="4754880" y="4866640"/>
            <a:ext cx="2935224" cy="21640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Rule-era analysis, 2022 to 2026</a:t>
            </a:r>
            <a:endParaRPr lang="en-US" sz="1300" dirty="0"/>
          </a:p>
        </p:txBody>
      </p:sp>
      <p:sp>
        <p:nvSpPr>
          <p:cNvPr id="31" name="Shape 28"/>
          <p:cNvSpPr/>
          <p:nvPr/>
        </p:nvSpPr>
        <p:spPr>
          <a:xfrm>
            <a:off x="8065008" y="1371600"/>
            <a:ext cx="3575304" cy="4160520"/>
          </a:xfrm>
          <a:prstGeom prst="roundRect">
            <a:avLst>
              <a:gd name="adj" fmla="val 2046"/>
            </a:avLst>
          </a:prstGeom>
          <a:solidFill>
            <a:srgbClr val="11161E"/>
          </a:solidFill>
          <a:ln w="9525">
            <a:solidFill>
              <a:srgbClr val="272F3B"/>
            </a:solidFill>
            <a:prstDash val="solid"/>
          </a:ln>
        </p:spPr>
      </p:sp>
      <p:sp>
        <p:nvSpPr>
          <p:cNvPr id="32" name="Text 29"/>
          <p:cNvSpPr txBox="1"/>
          <p:nvPr/>
        </p:nvSpPr>
        <p:spPr>
          <a:xfrm>
            <a:off x="8293608" y="1536192"/>
            <a:ext cx="3108960" cy="365760"/>
          </a:xfrm>
          <a:prstGeom prst="rect">
            <a:avLst/>
          </a:prstGeom>
          <a:noFill/>
          <a:ln/>
        </p:spPr>
        <p:txBody>
          <a:bodyPr wrap="square" lIns="0" tIns="0" rIns="0" bIns="0" rtlCol="0" anchor="t"/>
          <a:lstStyle/>
          <a:p>
            <a:pPr indent="0" marL="0">
              <a:buNone/>
            </a:pPr>
            <a:r>
              <a:rPr lang="en-US" sz="2000" b="1" dirty="0">
                <a:solidFill>
                  <a:srgbClr val="F0B84B"/>
                </a:solidFill>
                <a:latin typeface="Arial" pitchFamily="34" charset="0"/>
                <a:ea typeface="Arial" pitchFamily="34" charset="-122"/>
                <a:cs typeface="Arial" pitchFamily="34" charset="-120"/>
              </a:rPr>
              <a:t>Next</a:t>
            </a:r>
            <a:endParaRPr lang="en-US" sz="2000" dirty="0"/>
          </a:p>
        </p:txBody>
      </p:sp>
      <p:sp>
        <p:nvSpPr>
          <p:cNvPr id="33" name="Text 30"/>
          <p:cNvSpPr txBox="1"/>
          <p:nvPr/>
        </p:nvSpPr>
        <p:spPr>
          <a:xfrm>
            <a:off x="8293608" y="1920240"/>
            <a:ext cx="3108960" cy="274320"/>
          </a:xfrm>
          <a:prstGeom prst="rect">
            <a:avLst/>
          </a:prstGeom>
          <a:noFill/>
          <a:ln/>
        </p:spPr>
        <p:txBody>
          <a:bodyPr wrap="square" lIns="0" tIns="0" rIns="0" bIns="0" rtlCol="0" anchor="t"/>
          <a:lstStyle/>
          <a:p>
            <a:pPr indent="0" marL="0">
              <a:buNone/>
            </a:pPr>
            <a:r>
              <a:rPr lang="en-US" sz="1200" dirty="0">
                <a:solidFill>
                  <a:srgbClr val="98A3B3"/>
                </a:solidFill>
                <a:latin typeface="Arial" pitchFamily="34" charset="0"/>
                <a:ea typeface="Arial" pitchFamily="34" charset="-122"/>
                <a:cs typeface="Arial" pitchFamily="34" charset="-120"/>
              </a:rPr>
              <a:t>after the event</a:t>
            </a:r>
            <a:endParaRPr lang="en-US" sz="1200" dirty="0"/>
          </a:p>
        </p:txBody>
      </p:sp>
      <p:sp>
        <p:nvSpPr>
          <p:cNvPr id="34" name="Shape 31"/>
          <p:cNvSpPr/>
          <p:nvPr/>
        </p:nvSpPr>
        <p:spPr>
          <a:xfrm>
            <a:off x="8311896" y="2444496"/>
            <a:ext cx="64008" cy="64008"/>
          </a:xfrm>
          <a:prstGeom prst="ellipse">
            <a:avLst/>
          </a:prstGeom>
          <a:solidFill>
            <a:srgbClr val="F0B84B"/>
          </a:solidFill>
          <a:ln w="12700">
            <a:solidFill>
              <a:srgbClr val="F0B84B"/>
            </a:solidFill>
            <a:prstDash val="solid"/>
          </a:ln>
        </p:spPr>
      </p:sp>
      <p:sp>
        <p:nvSpPr>
          <p:cNvPr id="35" name="Text 32"/>
          <p:cNvSpPr txBox="1"/>
          <p:nvPr/>
        </p:nvSpPr>
        <p:spPr>
          <a:xfrm>
            <a:off x="8513064" y="237744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TyreFormer on the Live Predictor as a labelled second opinion</a:t>
            </a:r>
            <a:endParaRPr lang="en-US" sz="1300" dirty="0"/>
          </a:p>
        </p:txBody>
      </p:sp>
      <p:sp>
        <p:nvSpPr>
          <p:cNvPr id="36" name="Shape 33"/>
          <p:cNvSpPr/>
          <p:nvPr/>
        </p:nvSpPr>
        <p:spPr>
          <a:xfrm>
            <a:off x="8311896" y="2942336"/>
            <a:ext cx="64008" cy="64008"/>
          </a:xfrm>
          <a:prstGeom prst="ellipse">
            <a:avLst/>
          </a:prstGeom>
          <a:solidFill>
            <a:srgbClr val="F0B84B"/>
          </a:solidFill>
          <a:ln w="12700">
            <a:solidFill>
              <a:srgbClr val="F0B84B"/>
            </a:solidFill>
            <a:prstDash val="solid"/>
          </a:ln>
        </p:spPr>
      </p:sp>
      <p:sp>
        <p:nvSpPr>
          <p:cNvPr id="37" name="Text 34"/>
          <p:cNvSpPr txBox="1"/>
          <p:nvPr/>
        </p:nvSpPr>
        <p:spPr>
          <a:xfrm>
            <a:off x="8513064" y="287528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Score the Madrid forecast against the race</a:t>
            </a:r>
            <a:endParaRPr lang="en-US" sz="1300" dirty="0"/>
          </a:p>
        </p:txBody>
      </p:sp>
      <p:sp>
        <p:nvSpPr>
          <p:cNvPr id="38" name="Shape 35"/>
          <p:cNvSpPr/>
          <p:nvPr/>
        </p:nvSpPr>
        <p:spPr>
          <a:xfrm>
            <a:off x="8311896" y="3440176"/>
            <a:ext cx="64008" cy="64008"/>
          </a:xfrm>
          <a:prstGeom prst="ellipse">
            <a:avLst/>
          </a:prstGeom>
          <a:solidFill>
            <a:srgbClr val="F0B84B"/>
          </a:solidFill>
          <a:ln w="12700">
            <a:solidFill>
              <a:srgbClr val="F0B84B"/>
            </a:solidFill>
            <a:prstDash val="solid"/>
          </a:ln>
        </p:spPr>
      </p:sp>
      <p:sp>
        <p:nvSpPr>
          <p:cNvPr id="39" name="Text 36"/>
          <p:cNvSpPr txBox="1"/>
          <p:nvPr/>
        </p:nvSpPr>
        <p:spPr>
          <a:xfrm>
            <a:off x="8513064" y="337312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Season-specific fuel load in the race reference</a:t>
            </a:r>
            <a:endParaRPr lang="en-US" sz="1300" dirty="0"/>
          </a:p>
        </p:txBody>
      </p:sp>
      <p:sp>
        <p:nvSpPr>
          <p:cNvPr id="40" name="Shape 37"/>
          <p:cNvSpPr/>
          <p:nvPr/>
        </p:nvSpPr>
        <p:spPr>
          <a:xfrm>
            <a:off x="8311896" y="3938016"/>
            <a:ext cx="64008" cy="64008"/>
          </a:xfrm>
          <a:prstGeom prst="ellipse">
            <a:avLst/>
          </a:prstGeom>
          <a:solidFill>
            <a:srgbClr val="F0B84B"/>
          </a:solidFill>
          <a:ln w="12700">
            <a:solidFill>
              <a:srgbClr val="F0B84B"/>
            </a:solidFill>
            <a:prstDash val="solid"/>
          </a:ln>
        </p:spPr>
      </p:sp>
      <p:sp>
        <p:nvSpPr>
          <p:cNvPr id="41" name="Text 38"/>
          <p:cNvSpPr txBox="1"/>
          <p:nvPr/>
        </p:nvSpPr>
        <p:spPr>
          <a:xfrm>
            <a:off x="8513064" y="387096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A learned, calibrated abstention gate</a:t>
            </a:r>
            <a:endParaRPr lang="en-US" sz="1300" dirty="0"/>
          </a:p>
        </p:txBody>
      </p:sp>
      <p:sp>
        <p:nvSpPr>
          <p:cNvPr id="42" name="Shape 39"/>
          <p:cNvSpPr/>
          <p:nvPr/>
        </p:nvSpPr>
        <p:spPr>
          <a:xfrm>
            <a:off x="8311896" y="4435856"/>
            <a:ext cx="64008" cy="64008"/>
          </a:xfrm>
          <a:prstGeom prst="ellipse">
            <a:avLst/>
          </a:prstGeom>
          <a:solidFill>
            <a:srgbClr val="F0B84B"/>
          </a:solidFill>
          <a:ln w="12700">
            <a:solidFill>
              <a:srgbClr val="F0B84B"/>
            </a:solidFill>
            <a:prstDash val="solid"/>
          </a:ln>
        </p:spPr>
      </p:sp>
      <p:sp>
        <p:nvSpPr>
          <p:cNvPr id="43" name="Text 40"/>
          <p:cNvSpPr txBox="1"/>
          <p:nvPr/>
        </p:nvSpPr>
        <p:spPr>
          <a:xfrm>
            <a:off x="8513064" y="4368800"/>
            <a:ext cx="2935224" cy="414528"/>
          </a:xfrm>
          <a:prstGeom prst="rect">
            <a:avLst/>
          </a:prstGeom>
          <a:noFill/>
          <a:ln/>
        </p:spPr>
        <p:txBody>
          <a:bodyPr wrap="square" lIns="0" tIns="0" rIns="0" bIns="0" rtlCol="0" anchor="t"/>
          <a:lstStyle/>
          <a:p>
            <a:pPr indent="0" marL="0">
              <a:buNone/>
            </a:pPr>
            <a:r>
              <a:rPr lang="en-US" sz="1300" dirty="0">
                <a:solidFill>
                  <a:srgbClr val="F3F6FA"/>
                </a:solidFill>
                <a:latin typeface="Arial" pitchFamily="34" charset="0"/>
                <a:ea typeface="Arial" pitchFamily="34" charset="-122"/>
                <a:cs typeface="Arial" pitchFamily="34" charset="-120"/>
              </a:rPr>
              <a:t>Team-data adapter: fuel, pressures, temperatures</a:t>
            </a:r>
            <a:endParaRPr lang="en-US" sz="1300" dirty="0"/>
          </a:p>
        </p:txBody>
      </p:sp>
      <p:sp>
        <p:nvSpPr>
          <p:cNvPr id="44" name="Text 41"/>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700" i="1" dirty="0">
                <a:solidFill>
                  <a:srgbClr val="8FE9DC"/>
                </a:solidFill>
                <a:latin typeface="Arial" pitchFamily="34" charset="0"/>
                <a:ea typeface="Arial" pitchFamily="34" charset="-122"/>
                <a:cs typeface="Arial" pitchFamily="34" charset="-120"/>
              </a:rPr>
              <a:t>Friday lies twice. Orb v1 corrects one lie, learns the other, and says so when it cannot tell.</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TrackShift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 v1: live tyre intelligence</dc:title>
  <dc:subject>PptxGenJS Presentation</dc:subject>
  <dc:creator>Team Orb v1</dc:creator>
  <cp:lastModifiedBy>Team Orb v1</cp:lastModifiedBy>
  <cp:revision>1</cp:revision>
  <dcterms:created xsi:type="dcterms:W3CDTF">2026-09-13T05:46:04Z</dcterms:created>
  <dcterms:modified xsi:type="dcterms:W3CDTF">2026-09-13T05:46:04Z</dcterms:modified>
</cp:coreProperties>
</file>